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  <p:sldMasterId id="2147483648" r:id="rId2"/>
    <p:sldMasterId id="2147483757" r:id="rId3"/>
    <p:sldMasterId id="2147484006" r:id="rId4"/>
  </p:sldMasterIdLst>
  <p:notesMasterIdLst>
    <p:notesMasterId r:id="rId90"/>
  </p:notesMasterIdLst>
  <p:handoutMasterIdLst>
    <p:handoutMasterId r:id="rId91"/>
  </p:handoutMasterIdLst>
  <p:sldIdLst>
    <p:sldId id="270" r:id="rId5"/>
    <p:sldId id="273" r:id="rId6"/>
    <p:sldId id="275" r:id="rId7"/>
    <p:sldId id="277" r:id="rId8"/>
    <p:sldId id="278" r:id="rId9"/>
    <p:sldId id="402" r:id="rId10"/>
    <p:sldId id="409" r:id="rId11"/>
    <p:sldId id="331" r:id="rId12"/>
    <p:sldId id="376" r:id="rId13"/>
    <p:sldId id="451" r:id="rId14"/>
    <p:sldId id="333" r:id="rId15"/>
    <p:sldId id="370" r:id="rId16"/>
    <p:sldId id="371" r:id="rId17"/>
    <p:sldId id="372" r:id="rId18"/>
    <p:sldId id="373" r:id="rId19"/>
    <p:sldId id="392" r:id="rId20"/>
    <p:sldId id="375" r:id="rId21"/>
    <p:sldId id="335" r:id="rId22"/>
    <p:sldId id="378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27" r:id="rId33"/>
    <p:sldId id="279" r:id="rId34"/>
    <p:sldId id="280" r:id="rId35"/>
    <p:sldId id="281" r:id="rId36"/>
    <p:sldId id="282" r:id="rId37"/>
    <p:sldId id="283" r:id="rId38"/>
    <p:sldId id="421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349" r:id="rId51"/>
    <p:sldId id="350" r:id="rId52"/>
    <p:sldId id="351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433" r:id="rId62"/>
    <p:sldId id="434" r:id="rId63"/>
    <p:sldId id="432" r:id="rId64"/>
    <p:sldId id="393" r:id="rId65"/>
    <p:sldId id="401" r:id="rId66"/>
    <p:sldId id="394" r:id="rId67"/>
    <p:sldId id="410" r:id="rId68"/>
    <p:sldId id="411" r:id="rId69"/>
    <p:sldId id="412" r:id="rId70"/>
    <p:sldId id="427" r:id="rId71"/>
    <p:sldId id="303" r:id="rId72"/>
    <p:sldId id="304" r:id="rId73"/>
    <p:sldId id="305" r:id="rId74"/>
    <p:sldId id="306" r:id="rId75"/>
    <p:sldId id="307" r:id="rId76"/>
    <p:sldId id="308" r:id="rId77"/>
    <p:sldId id="309" r:id="rId78"/>
    <p:sldId id="310" r:id="rId79"/>
    <p:sldId id="311" r:id="rId80"/>
    <p:sldId id="312" r:id="rId81"/>
    <p:sldId id="313" r:id="rId82"/>
    <p:sldId id="314" r:id="rId83"/>
    <p:sldId id="315" r:id="rId84"/>
    <p:sldId id="316" r:id="rId85"/>
    <p:sldId id="317" r:id="rId86"/>
    <p:sldId id="318" r:id="rId87"/>
    <p:sldId id="319" r:id="rId88"/>
    <p:sldId id="320" r:id="rId89"/>
  </p:sldIdLst>
  <p:sldSz cx="9144000" cy="6858000" type="screen4x3"/>
  <p:notesSz cx="6797675" cy="992663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rrion Benjamin" initials="VB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A1EDA5"/>
    <a:srgbClr val="D3E6A8"/>
    <a:srgbClr val="FEC2C2"/>
    <a:srgbClr val="F4788D"/>
    <a:srgbClr val="D4A6F0"/>
    <a:srgbClr val="F0A2D0"/>
    <a:srgbClr val="966F60"/>
    <a:srgbClr val="C1B6A7"/>
    <a:srgbClr val="AED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45" autoAdjust="0"/>
    <p:restoredTop sz="50000" autoAdjust="0"/>
  </p:normalViewPr>
  <p:slideViewPr>
    <p:cSldViewPr snapToGrid="0" snapToObjects="1">
      <p:cViewPr varScale="1">
        <p:scale>
          <a:sx n="131" d="100"/>
          <a:sy n="131" d="100"/>
        </p:scale>
        <p:origin x="182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1" d="100"/>
          <a:sy n="91" d="100"/>
        </p:scale>
        <p:origin x="3264" y="20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90" Type="http://schemas.openxmlformats.org/officeDocument/2006/relationships/notesMaster" Target="notesMasters/notesMaster1.xml"/><Relationship Id="rId91" Type="http://schemas.openxmlformats.org/officeDocument/2006/relationships/handoutMaster" Target="handoutMasters/handoutMaster1.xml"/><Relationship Id="rId92" Type="http://schemas.openxmlformats.org/officeDocument/2006/relationships/commentAuthors" Target="commentAuthors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777" tIns="31889" rIns="63777" bIns="31889" numCol="1" anchor="t" anchorCtr="0" compatLnSpc="1">
            <a:prstTxWarp prst="textNoShape">
              <a:avLst/>
            </a:prstTxWarp>
          </a:bodyPr>
          <a:lstStyle>
            <a:lvl1pPr defTabSz="637479" eaLnBrk="0" hangingPunct="0">
              <a:defRPr sz="800">
                <a:cs typeface="+mn-cs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777" tIns="31889" rIns="63777" bIns="31889" numCol="1" anchor="t" anchorCtr="0" compatLnSpc="1">
            <a:prstTxWarp prst="textNoShape">
              <a:avLst/>
            </a:prstTxWarp>
          </a:bodyPr>
          <a:lstStyle>
            <a:lvl1pPr algn="r" defTabSz="637479" eaLnBrk="0" hangingPunct="0">
              <a:defRPr sz="800">
                <a:cs typeface="+mn-cs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81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777" tIns="31889" rIns="63777" bIns="31889" numCol="1" anchor="b" anchorCtr="0" compatLnSpc="1">
            <a:prstTxWarp prst="textNoShape">
              <a:avLst/>
            </a:prstTxWarp>
          </a:bodyPr>
          <a:lstStyle>
            <a:lvl1pPr defTabSz="637479" eaLnBrk="0" hangingPunct="0">
              <a:defRPr sz="800">
                <a:cs typeface="+mn-cs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81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777" tIns="31889" rIns="63777" bIns="31889" numCol="1" anchor="b" anchorCtr="0" compatLnSpc="1">
            <a:prstTxWarp prst="textNoShape">
              <a:avLst/>
            </a:prstTxWarp>
          </a:bodyPr>
          <a:lstStyle>
            <a:lvl1pPr algn="r" defTabSz="637479" eaLnBrk="0" hangingPunct="0">
              <a:defRPr sz="800">
                <a:cs typeface="+mn-cs"/>
              </a:defRPr>
            </a:lvl1pPr>
          </a:lstStyle>
          <a:p>
            <a:pPr>
              <a:defRPr/>
            </a:pPr>
            <a:fld id="{20AE7223-35FE-40B4-9748-DC62A6AEA19B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48266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5" tIns="45782" rIns="91565" bIns="4578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5" tIns="45782" rIns="91565" bIns="4578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5" tIns="45782" rIns="91565" bIns="457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/>
              <a:t>Cliquez pour modifier les styles du texte du masque</a:t>
            </a:r>
          </a:p>
          <a:p>
            <a:pPr lvl="1"/>
            <a:r>
              <a:rPr lang="fr-FR" altLang="fr-FR" noProof="0"/>
              <a:t>Deuxième niveau</a:t>
            </a:r>
          </a:p>
          <a:p>
            <a:pPr lvl="2"/>
            <a:r>
              <a:rPr lang="fr-FR" altLang="fr-FR" noProof="0"/>
              <a:t>Troisième niveau</a:t>
            </a:r>
          </a:p>
          <a:p>
            <a:pPr lvl="3"/>
            <a:r>
              <a:rPr lang="fr-FR" altLang="fr-FR" noProof="0"/>
              <a:t>Quatrième niveau</a:t>
            </a:r>
          </a:p>
          <a:p>
            <a:pPr lvl="4"/>
            <a:r>
              <a:rPr lang="fr-FR" alt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5" tIns="45782" rIns="91565" bIns="45782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65" tIns="45782" rIns="91565" bIns="45782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45137FB1-00B3-4A5C-987B-E19D0F6A1156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880754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gray">
          <a:xfrm>
            <a:off x="395288" y="319088"/>
            <a:ext cx="5400675" cy="7651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0" hangingPunct="0">
              <a:defRPr/>
            </a:pPr>
            <a:endParaRPr lang="fr-FR" altLang="fr-FR">
              <a:cs typeface="+mn-cs"/>
            </a:endParaRPr>
          </a:p>
        </p:txBody>
      </p:sp>
      <p:pic>
        <p:nvPicPr>
          <p:cNvPr id="5" name="Picture 7" descr="RVB_NATIXIS_10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937250" y="319088"/>
            <a:ext cx="266700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1677988" y="5064125"/>
            <a:ext cx="698500" cy="136525"/>
            <a:chOff x="1152" y="3216"/>
            <a:chExt cx="440" cy="86"/>
          </a:xfrm>
        </p:grpSpPr>
        <p:sp>
          <p:nvSpPr>
            <p:cNvPr id="7" name="Freeform 43"/>
            <p:cNvSpPr>
              <a:spLocks/>
            </p:cNvSpPr>
            <p:nvPr userDrawn="1"/>
          </p:nvSpPr>
          <p:spPr bwMode="gray">
            <a:xfrm>
              <a:off x="1222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44"/>
            <p:cNvSpPr>
              <a:spLocks/>
            </p:cNvSpPr>
            <p:nvPr userDrawn="1"/>
          </p:nvSpPr>
          <p:spPr bwMode="gray">
            <a:xfrm>
              <a:off x="1244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45"/>
            <p:cNvSpPr>
              <a:spLocks/>
            </p:cNvSpPr>
            <p:nvPr userDrawn="1"/>
          </p:nvSpPr>
          <p:spPr bwMode="gray">
            <a:xfrm>
              <a:off x="1178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46"/>
            <p:cNvSpPr>
              <a:spLocks/>
            </p:cNvSpPr>
            <p:nvPr userDrawn="1"/>
          </p:nvSpPr>
          <p:spPr bwMode="gray">
            <a:xfrm>
              <a:off x="1152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47"/>
            <p:cNvSpPr>
              <a:spLocks/>
            </p:cNvSpPr>
            <p:nvPr userDrawn="1"/>
          </p:nvSpPr>
          <p:spPr bwMode="gray">
            <a:xfrm>
              <a:off x="1200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48"/>
            <p:cNvSpPr>
              <a:spLocks/>
            </p:cNvSpPr>
            <p:nvPr userDrawn="1"/>
          </p:nvSpPr>
          <p:spPr bwMode="gray">
            <a:xfrm>
              <a:off x="1265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49"/>
            <p:cNvSpPr>
              <a:spLocks/>
            </p:cNvSpPr>
            <p:nvPr userDrawn="1"/>
          </p:nvSpPr>
          <p:spPr bwMode="gray">
            <a:xfrm>
              <a:off x="1287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0"/>
            <p:cNvSpPr>
              <a:spLocks/>
            </p:cNvSpPr>
            <p:nvPr userDrawn="1"/>
          </p:nvSpPr>
          <p:spPr bwMode="gray">
            <a:xfrm>
              <a:off x="1309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1"/>
            <p:cNvSpPr>
              <a:spLocks/>
            </p:cNvSpPr>
            <p:nvPr userDrawn="1"/>
          </p:nvSpPr>
          <p:spPr bwMode="gray">
            <a:xfrm>
              <a:off x="1331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2"/>
            <p:cNvSpPr>
              <a:spLocks/>
            </p:cNvSpPr>
            <p:nvPr userDrawn="1"/>
          </p:nvSpPr>
          <p:spPr bwMode="gray">
            <a:xfrm>
              <a:off x="1353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3"/>
            <p:cNvSpPr>
              <a:spLocks/>
            </p:cNvSpPr>
            <p:nvPr userDrawn="1"/>
          </p:nvSpPr>
          <p:spPr bwMode="gray">
            <a:xfrm>
              <a:off x="1375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4"/>
            <p:cNvSpPr>
              <a:spLocks/>
            </p:cNvSpPr>
            <p:nvPr userDrawn="1"/>
          </p:nvSpPr>
          <p:spPr bwMode="gray">
            <a:xfrm>
              <a:off x="1397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5"/>
            <p:cNvSpPr>
              <a:spLocks/>
            </p:cNvSpPr>
            <p:nvPr userDrawn="1"/>
          </p:nvSpPr>
          <p:spPr bwMode="gray">
            <a:xfrm>
              <a:off x="1419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6"/>
            <p:cNvSpPr>
              <a:spLocks/>
            </p:cNvSpPr>
            <p:nvPr userDrawn="1"/>
          </p:nvSpPr>
          <p:spPr bwMode="gray">
            <a:xfrm>
              <a:off x="1441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57"/>
            <p:cNvSpPr>
              <a:spLocks/>
            </p:cNvSpPr>
            <p:nvPr userDrawn="1"/>
          </p:nvSpPr>
          <p:spPr bwMode="gray">
            <a:xfrm>
              <a:off x="1463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58"/>
            <p:cNvSpPr>
              <a:spLocks/>
            </p:cNvSpPr>
            <p:nvPr userDrawn="1"/>
          </p:nvSpPr>
          <p:spPr bwMode="gray">
            <a:xfrm>
              <a:off x="1484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3" name="Picture 59" descr="16239247R_B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069975"/>
            <a:ext cx="8353425" cy="236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3429000"/>
            <a:ext cx="8064500" cy="1512888"/>
          </a:xfrm>
          <a:extLst>
            <a:ext uri="{909E8E84-426E-40DD-AFC4-6F175D3DCCD1}">
              <a14:hiddenFill xmlns:a14="http://schemas.microsoft.com/office/drawing/2010/main">
                <a:solidFill>
                  <a:srgbClr val="8CBD48"/>
                </a:solidFill>
              </a14:hiddenFill>
            </a:ext>
          </a:extLst>
        </p:spPr>
        <p:txBody>
          <a:bodyPr anchor="b"/>
          <a:lstStyle>
            <a:lvl1pPr>
              <a:defRPr sz="3200" b="0"/>
            </a:lvl1pPr>
          </a:lstStyle>
          <a:p>
            <a:pPr lvl="0"/>
            <a:r>
              <a:rPr lang="fr-FR" altLang="fr-FR" noProof="0"/>
              <a:t>Cliquez et modifiez le titre</a:t>
            </a:r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9750" y="5026025"/>
            <a:ext cx="8064500" cy="1066800"/>
          </a:xfrm>
          <a:extLst>
            <a:ext uri="{909E8E84-426E-40DD-AFC4-6F175D3DCCD1}">
              <a14:hiddenFill xmlns:a14="http://schemas.microsoft.com/office/drawing/2010/main">
                <a:solidFill>
                  <a:srgbClr val="8CBD48"/>
                </a:solidFill>
              </a14:hiddenFill>
            </a:ext>
          </a:extLst>
        </p:spPr>
        <p:txBody>
          <a:bodyPr/>
          <a:lstStyle>
            <a:lvl1pPr>
              <a:defRPr sz="1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altLang="fr-FR" noProof="0"/>
              <a:t>07/12/2009</a:t>
            </a:r>
          </a:p>
        </p:txBody>
      </p:sp>
      <p:sp>
        <p:nvSpPr>
          <p:cNvPr id="24" name="Rectangle 5"/>
          <p:cNvSpPr>
            <a:spLocks noGrp="1" noChangeArrowheads="1"/>
          </p:cNvSpPr>
          <p:nvPr>
            <p:ph type="ftr" sz="quarter" idx="10"/>
          </p:nvPr>
        </p:nvSpPr>
        <p:spPr bwMode="gray">
          <a:xfrm>
            <a:off x="539750" y="6092825"/>
            <a:ext cx="8064500" cy="3222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8CBD4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solidFill>
                  <a:schemeClr val="accent1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fr-FR" altLang="fr-FR"/>
              <a:t>NOM DE L'EMETTEUR</a:t>
            </a:r>
          </a:p>
        </p:txBody>
      </p:sp>
    </p:spTree>
    <p:extLst>
      <p:ext uri="{BB962C8B-B14F-4D97-AF65-F5344CB8AC3E}">
        <p14:creationId xmlns:p14="http://schemas.microsoft.com/office/powerpoint/2010/main" val="1617845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4865E-B9CA-4A3B-A83C-DA702D5C3417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B87A55-3E48-4BFD-BEC3-9698C6810382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45218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43C0B-6939-40F6-92C2-44F392BD2596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BDA12-BE28-44D7-BCCA-E517B9676517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93740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169988"/>
            <a:ext cx="3956050" cy="4851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69988"/>
            <a:ext cx="3956050" cy="4851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21638-C0C7-4E67-A52F-CBA1104154B0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77D86-C536-45E4-89C4-A850FB93057A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1403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DA1756-552D-4458-BC3C-65CD50F713FE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E0C14C-FB2C-42DF-B688-A0488428ECBE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8917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6308A-6782-4E35-9E12-A19CBAF0C533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D94F4-8213-4E43-BFC8-66C57BC20475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56331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1A4D6-99A2-48EB-97D8-26BCADB6965C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EF226-D365-4DBF-8B2E-7D94B4D6D3BF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5235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E5E96-EF37-414B-9017-87567B00B087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A36F5-4ACA-4834-B439-A4EF4D9314EC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95051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297DC-491E-4245-9192-67D919FE11FB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5299B-A6C5-4002-B804-C1C48DE9AA40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534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3FD89-812A-404E-AFE4-88F92F1B60F8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72759-C212-4A68-BBD7-1545FB95F765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9796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8125" y="404813"/>
            <a:ext cx="2016125" cy="5616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404813"/>
            <a:ext cx="5895975" cy="5616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F80D1-1CE4-4F98-BAE2-D74D02BAFAB6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CDC992-2B50-41D6-8D05-0B1FD53DD618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99767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957354-3FC9-45B9-94A1-21533503E0D2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1353D-35E0-4355-84F5-180047AA3BA0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82798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48B9F-C6B6-4AB7-92CC-91DE4F195BC9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35546-18DC-4BFF-9EE2-4F6B28535A0C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99353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F1DF8-53E2-4C4D-A4A2-8980282AE0D6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4FEED1-AD00-4D97-9E7F-E06C26156106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42279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557338"/>
            <a:ext cx="3956050" cy="4464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57338"/>
            <a:ext cx="3956050" cy="4464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D025F-7758-42BB-8048-BB41744C127B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D35864-E902-41F2-B9F5-662F79500D2F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423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D2CCC-4FD9-4E86-943D-87A82AA34A29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31B8F-0FFB-4A93-B8B5-A031AD868CE7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17899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36F07-2B86-4BD7-AB33-8ABD2AF1FD56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B24B3-BB32-42B2-9590-4898260CDA3B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738882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628BB-1C1B-448A-BDB2-27CE7DD30ADE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EEB1A-CA09-4A5C-88CA-57DDB780D531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282333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A3B2E-4B4B-46C5-BBC0-D175C601D4C8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44DE8-85FE-4738-B65E-FD8CC8FE8427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200283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8B522-9932-40D6-AEF6-661FDADC5C44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E52A0-9673-4DA6-8E2C-D7D81D7050B6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1244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22BB8-44B7-4E8D-BAC8-15CDF565A550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AB34A-B990-4D47-BA24-263F97EAEA3E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176328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8125" y="404813"/>
            <a:ext cx="2016125" cy="5616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404813"/>
            <a:ext cx="5895975" cy="5616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A4C2A-C374-4C81-A6D0-1583AF5DA19C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0170-CF77-4D84-88B1-44F41E1E4304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49444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gray">
          <a:xfrm>
            <a:off x="395288" y="319088"/>
            <a:ext cx="5400675" cy="7651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0" hangingPunct="0">
              <a:defRPr/>
            </a:pPr>
            <a:endParaRPr lang="fr-FR" altLang="fr-FR">
              <a:solidFill>
                <a:srgbClr val="571E74"/>
              </a:solidFill>
              <a:cs typeface="+mn-cs"/>
            </a:endParaRPr>
          </a:p>
        </p:txBody>
      </p:sp>
      <p:pic>
        <p:nvPicPr>
          <p:cNvPr id="5" name="Picture 7" descr="RVB_NATIXIS_10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937250" y="319088"/>
            <a:ext cx="266700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1677988" y="5064125"/>
            <a:ext cx="698500" cy="136525"/>
            <a:chOff x="1152" y="3216"/>
            <a:chExt cx="440" cy="86"/>
          </a:xfrm>
        </p:grpSpPr>
        <p:sp>
          <p:nvSpPr>
            <p:cNvPr id="7" name="Freeform 43"/>
            <p:cNvSpPr>
              <a:spLocks/>
            </p:cNvSpPr>
            <p:nvPr userDrawn="1"/>
          </p:nvSpPr>
          <p:spPr bwMode="gray">
            <a:xfrm>
              <a:off x="1222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44"/>
            <p:cNvSpPr>
              <a:spLocks/>
            </p:cNvSpPr>
            <p:nvPr userDrawn="1"/>
          </p:nvSpPr>
          <p:spPr bwMode="gray">
            <a:xfrm>
              <a:off x="1244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45"/>
            <p:cNvSpPr>
              <a:spLocks/>
            </p:cNvSpPr>
            <p:nvPr userDrawn="1"/>
          </p:nvSpPr>
          <p:spPr bwMode="gray">
            <a:xfrm>
              <a:off x="1178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46"/>
            <p:cNvSpPr>
              <a:spLocks/>
            </p:cNvSpPr>
            <p:nvPr userDrawn="1"/>
          </p:nvSpPr>
          <p:spPr bwMode="gray">
            <a:xfrm>
              <a:off x="1152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47"/>
            <p:cNvSpPr>
              <a:spLocks/>
            </p:cNvSpPr>
            <p:nvPr userDrawn="1"/>
          </p:nvSpPr>
          <p:spPr bwMode="gray">
            <a:xfrm>
              <a:off x="1200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48"/>
            <p:cNvSpPr>
              <a:spLocks/>
            </p:cNvSpPr>
            <p:nvPr userDrawn="1"/>
          </p:nvSpPr>
          <p:spPr bwMode="gray">
            <a:xfrm>
              <a:off x="1265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49"/>
            <p:cNvSpPr>
              <a:spLocks/>
            </p:cNvSpPr>
            <p:nvPr userDrawn="1"/>
          </p:nvSpPr>
          <p:spPr bwMode="gray">
            <a:xfrm>
              <a:off x="1287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0"/>
            <p:cNvSpPr>
              <a:spLocks/>
            </p:cNvSpPr>
            <p:nvPr userDrawn="1"/>
          </p:nvSpPr>
          <p:spPr bwMode="gray">
            <a:xfrm>
              <a:off x="1309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1"/>
            <p:cNvSpPr>
              <a:spLocks/>
            </p:cNvSpPr>
            <p:nvPr userDrawn="1"/>
          </p:nvSpPr>
          <p:spPr bwMode="gray">
            <a:xfrm>
              <a:off x="1331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2"/>
            <p:cNvSpPr>
              <a:spLocks/>
            </p:cNvSpPr>
            <p:nvPr userDrawn="1"/>
          </p:nvSpPr>
          <p:spPr bwMode="gray">
            <a:xfrm>
              <a:off x="1353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3"/>
            <p:cNvSpPr>
              <a:spLocks/>
            </p:cNvSpPr>
            <p:nvPr userDrawn="1"/>
          </p:nvSpPr>
          <p:spPr bwMode="gray">
            <a:xfrm>
              <a:off x="1375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4"/>
            <p:cNvSpPr>
              <a:spLocks/>
            </p:cNvSpPr>
            <p:nvPr userDrawn="1"/>
          </p:nvSpPr>
          <p:spPr bwMode="gray">
            <a:xfrm>
              <a:off x="1397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5"/>
            <p:cNvSpPr>
              <a:spLocks/>
            </p:cNvSpPr>
            <p:nvPr userDrawn="1"/>
          </p:nvSpPr>
          <p:spPr bwMode="gray">
            <a:xfrm>
              <a:off x="1419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6"/>
            <p:cNvSpPr>
              <a:spLocks/>
            </p:cNvSpPr>
            <p:nvPr userDrawn="1"/>
          </p:nvSpPr>
          <p:spPr bwMode="gray">
            <a:xfrm>
              <a:off x="1441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57"/>
            <p:cNvSpPr>
              <a:spLocks/>
            </p:cNvSpPr>
            <p:nvPr userDrawn="1"/>
          </p:nvSpPr>
          <p:spPr bwMode="gray">
            <a:xfrm>
              <a:off x="1463" y="3216"/>
              <a:ext cx="107" cy="86"/>
            </a:xfrm>
            <a:custGeom>
              <a:avLst/>
              <a:gdLst>
                <a:gd name="T0" fmla="*/ 2 w 107"/>
                <a:gd name="T1" fmla="*/ 86 h 86"/>
                <a:gd name="T2" fmla="*/ 0 w 107"/>
                <a:gd name="T3" fmla="*/ 86 h 86"/>
                <a:gd name="T4" fmla="*/ 105 w 107"/>
                <a:gd name="T5" fmla="*/ 0 h 86"/>
                <a:gd name="T6" fmla="*/ 107 w 107"/>
                <a:gd name="T7" fmla="*/ 0 h 86"/>
                <a:gd name="T8" fmla="*/ 2 w 107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6">
                  <a:moveTo>
                    <a:pt x="2" y="86"/>
                  </a:moveTo>
                  <a:lnTo>
                    <a:pt x="0" y="86"/>
                  </a:lnTo>
                  <a:lnTo>
                    <a:pt x="105" y="0"/>
                  </a:lnTo>
                  <a:lnTo>
                    <a:pt x="107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58"/>
            <p:cNvSpPr>
              <a:spLocks/>
            </p:cNvSpPr>
            <p:nvPr userDrawn="1"/>
          </p:nvSpPr>
          <p:spPr bwMode="gray">
            <a:xfrm>
              <a:off x="1484" y="3216"/>
              <a:ext cx="108" cy="86"/>
            </a:xfrm>
            <a:custGeom>
              <a:avLst/>
              <a:gdLst>
                <a:gd name="T0" fmla="*/ 2 w 108"/>
                <a:gd name="T1" fmla="*/ 86 h 86"/>
                <a:gd name="T2" fmla="*/ 0 w 108"/>
                <a:gd name="T3" fmla="*/ 86 h 86"/>
                <a:gd name="T4" fmla="*/ 106 w 108"/>
                <a:gd name="T5" fmla="*/ 0 h 86"/>
                <a:gd name="T6" fmla="*/ 108 w 108"/>
                <a:gd name="T7" fmla="*/ 0 h 86"/>
                <a:gd name="T8" fmla="*/ 2 w 108"/>
                <a:gd name="T9" fmla="*/ 8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6">
                  <a:moveTo>
                    <a:pt x="2" y="86"/>
                  </a:moveTo>
                  <a:lnTo>
                    <a:pt x="0" y="86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FFFFFF"/>
            </a:solidFill>
            <a:ln w="127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3" name="Picture 59" descr="16239247R_B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069975"/>
            <a:ext cx="8353425" cy="236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3429000"/>
            <a:ext cx="8064500" cy="1512888"/>
          </a:xfrm>
          <a:extLst>
            <a:ext uri="{909E8E84-426E-40DD-AFC4-6F175D3DCCD1}">
              <a14:hiddenFill xmlns:a14="http://schemas.microsoft.com/office/drawing/2010/main">
                <a:solidFill>
                  <a:srgbClr val="8CBD48"/>
                </a:solidFill>
              </a14:hiddenFill>
            </a:ext>
          </a:extLst>
        </p:spPr>
        <p:txBody>
          <a:bodyPr anchor="b"/>
          <a:lstStyle>
            <a:lvl1pPr>
              <a:defRPr sz="3200" b="0"/>
            </a:lvl1pPr>
          </a:lstStyle>
          <a:p>
            <a:pPr lvl="0"/>
            <a:r>
              <a:rPr lang="fr-FR" altLang="fr-FR" noProof="0"/>
              <a:t>Cliquez et modifiez le titre</a:t>
            </a:r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9750" y="5026025"/>
            <a:ext cx="8064500" cy="1066800"/>
          </a:xfrm>
          <a:extLst>
            <a:ext uri="{909E8E84-426E-40DD-AFC4-6F175D3DCCD1}">
              <a14:hiddenFill xmlns:a14="http://schemas.microsoft.com/office/drawing/2010/main">
                <a:solidFill>
                  <a:srgbClr val="8CBD48"/>
                </a:solidFill>
              </a14:hiddenFill>
            </a:ext>
          </a:extLst>
        </p:spPr>
        <p:txBody>
          <a:bodyPr/>
          <a:lstStyle>
            <a:lvl1pPr>
              <a:defRPr sz="1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altLang="fr-FR" noProof="0"/>
              <a:t>07/12/2009</a:t>
            </a:r>
          </a:p>
        </p:txBody>
      </p:sp>
      <p:sp>
        <p:nvSpPr>
          <p:cNvPr id="24" name="Rectangle 5"/>
          <p:cNvSpPr>
            <a:spLocks noGrp="1" noChangeArrowheads="1"/>
          </p:cNvSpPr>
          <p:nvPr>
            <p:ph type="ftr" sz="quarter" idx="10"/>
          </p:nvPr>
        </p:nvSpPr>
        <p:spPr bwMode="gray">
          <a:xfrm>
            <a:off x="539750" y="6092825"/>
            <a:ext cx="8064500" cy="3222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8CBD4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solidFill>
                  <a:srgbClr val="956F60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fr-FR" altLang="fr-FR"/>
              <a:t>NOM DE L'EMETTEUR</a:t>
            </a:r>
          </a:p>
        </p:txBody>
      </p:sp>
    </p:spTree>
    <p:extLst>
      <p:ext uri="{BB962C8B-B14F-4D97-AF65-F5344CB8AC3E}">
        <p14:creationId xmlns:p14="http://schemas.microsoft.com/office/powerpoint/2010/main" val="31449721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ECCE3-D335-4658-B7A6-9FBD098D4142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AE0775-F826-4EE5-BBCD-6665D98E0126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59074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8B114-183B-4DEE-8EC3-6762D42CE930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9D40FC-A02A-46A0-BA07-684F559A3482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675641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169988"/>
            <a:ext cx="3956050" cy="4851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69988"/>
            <a:ext cx="3956050" cy="4851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E0C09-CCF5-42BF-A3AD-4E8971677EF0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2C90D-6F1E-4372-8971-8A99BF96D4D8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240689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81B69-2371-498F-AD3B-8720518E1CE7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C5D05-C4A5-4317-B6FA-97BB45037C79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36661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3F555-4C3A-4914-ADF4-24F702C70AFB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9401A-78C2-4299-8A3A-2A9C45484BB2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17756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A3110-4A06-40B1-AE31-F866AC896F8C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6EA9B6-6E98-4091-9287-0CE9D6A32F61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600167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0864D8-C2CA-4D2E-B211-5F14F831DCC1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720CC1-B929-4263-9382-22F2C68B14F9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51044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17865-F139-42D5-A75C-FC1BE97B36F8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4922F-3069-40B2-B572-161E4C9247A2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087386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78243-7D89-41BD-8EF3-125D968B237D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91E2C-CB43-4EF4-A879-3A2DD6BF74C9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517269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8125" y="404813"/>
            <a:ext cx="2016125" cy="5616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404813"/>
            <a:ext cx="5895975" cy="5616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6E5C0-46D3-4D3D-A6B4-994649314B5F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3D951-8F7F-480A-9EA4-2661DA24220B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717758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</p:cSld>
  <p:clrMapOvr>
    <a:masterClrMapping/>
  </p:clrMapOvr>
  <p:hf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9C380-2E6A-4FDF-A9B4-471B01917F9A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F4971E-E68D-4D46-9D5D-67EEEBD6817C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9C380-2E6A-4FDF-A9B4-471B01917F9A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F4971E-E68D-4D46-9D5D-67EEEBD6817C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D0C184-3AB2-4FD6-ADAC-21FC7DB3F50D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6B6F8-7817-4970-8D11-A2DF432C41AF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0.xml"/><Relationship Id="rId18" Type="http://schemas.openxmlformats.org/officeDocument/2006/relationships/theme" Target="../theme/theme4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gray">
          <a:xfrm>
            <a:off x="395288" y="6092825"/>
            <a:ext cx="7056437" cy="3603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0" hangingPunct="0">
              <a:defRPr/>
            </a:pPr>
            <a:endParaRPr lang="fr-FR" altLang="fr-FR">
              <a:cs typeface="+mn-cs"/>
            </a:endParaRP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827088" y="6092825"/>
            <a:ext cx="3313112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8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fld id="{3599C380-2E6A-4FDF-A9B4-471B01917F9A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95288" y="6092825"/>
            <a:ext cx="288925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fld id="{65F4971E-E68D-4D46-9D5D-67EEEBD6817C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  <p:pic>
        <p:nvPicPr>
          <p:cNvPr id="1029" name="Picture 6" descr="RVB_NATIXIS_10CM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596188" y="6092825"/>
            <a:ext cx="1335087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7"/>
          <p:cNvSpPr>
            <a:spLocks noChangeShapeType="1"/>
          </p:cNvSpPr>
          <p:nvPr/>
        </p:nvSpPr>
        <p:spPr bwMode="gray">
          <a:xfrm flipV="1">
            <a:off x="742950" y="6203950"/>
            <a:ext cx="0" cy="1365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8"/>
          <p:cNvSpPr>
            <a:spLocks noGrp="1" noChangeArrowheads="1"/>
          </p:cNvSpPr>
          <p:nvPr>
            <p:ph type="title"/>
          </p:nvPr>
        </p:nvSpPr>
        <p:spPr bwMode="gray">
          <a:xfrm>
            <a:off x="539750" y="404813"/>
            <a:ext cx="80645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et modifiez le titre</a:t>
            </a:r>
          </a:p>
        </p:txBody>
      </p:sp>
      <p:sp>
        <p:nvSpPr>
          <p:cNvPr id="1032" name="Rectangle 9"/>
          <p:cNvSpPr>
            <a:spLocks noGrp="1" noChangeArrowheads="1"/>
          </p:cNvSpPr>
          <p:nvPr>
            <p:ph type="body" idx="1"/>
          </p:nvPr>
        </p:nvSpPr>
        <p:spPr bwMode="gray">
          <a:xfrm>
            <a:off x="539750" y="1169988"/>
            <a:ext cx="8064500" cy="485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</p:txBody>
      </p:sp>
      <p:sp>
        <p:nvSpPr>
          <p:cNvPr id="1033" name="Line 12"/>
          <p:cNvSpPr>
            <a:spLocks noChangeShapeType="1"/>
          </p:cNvSpPr>
          <p:nvPr/>
        </p:nvSpPr>
        <p:spPr bwMode="gray">
          <a:xfrm>
            <a:off x="395288" y="898525"/>
            <a:ext cx="8347075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9pPr>
    </p:titleStyle>
    <p:bodyStyle>
      <a:lvl1pPr algn="l" defTabSz="723900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6700" algn="l" defTabSz="7239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b="1">
          <a:solidFill>
            <a:schemeClr val="accent1"/>
          </a:solidFill>
          <a:latin typeface="+mn-lt"/>
        </a:defRPr>
      </a:lvl2pPr>
      <a:lvl3pPr marL="723900" indent="-274638" algn="l" defTabSz="72390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20000"/>
        <a:buFont typeface="Verdana" pitchFamily="34" charset="0"/>
        <a:buChar char="–"/>
        <a:defRPr sz="1600">
          <a:solidFill>
            <a:schemeClr val="tx2"/>
          </a:solidFill>
          <a:latin typeface="+mn-lt"/>
        </a:defRPr>
      </a:lvl3pPr>
      <a:lvl4pPr marL="903288" algn="l" defTabSz="7239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sz="12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"/>
          <p:cNvSpPr>
            <a:spLocks noChangeArrowheads="1"/>
          </p:cNvSpPr>
          <p:nvPr/>
        </p:nvSpPr>
        <p:spPr bwMode="gray">
          <a:xfrm>
            <a:off x="395288" y="6092825"/>
            <a:ext cx="7056437" cy="3603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0" hangingPunct="0">
              <a:defRPr/>
            </a:pPr>
            <a:endParaRPr lang="fr-FR" altLang="fr-FR"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539750" y="1557338"/>
            <a:ext cx="8064500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827088" y="6092825"/>
            <a:ext cx="3313112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8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fld id="{0A9C68D5-7454-46DA-9713-1E3F6CBD058F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95288" y="6092825"/>
            <a:ext cx="288925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fld id="{A1DF1D10-EF36-485D-A042-089FE1A7283F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  <p:pic>
        <p:nvPicPr>
          <p:cNvPr id="2054" name="Picture 11" descr="RVB_NATIXIS_10CM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596188" y="6092825"/>
            <a:ext cx="1335087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5" name="Line 12"/>
          <p:cNvSpPr>
            <a:spLocks noChangeShapeType="1"/>
          </p:cNvSpPr>
          <p:nvPr/>
        </p:nvSpPr>
        <p:spPr bwMode="gray">
          <a:xfrm flipV="1">
            <a:off x="742950" y="6203950"/>
            <a:ext cx="0" cy="1365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" name="Rectangle 13"/>
          <p:cNvSpPr>
            <a:spLocks noGrp="1" noChangeArrowheads="1"/>
          </p:cNvSpPr>
          <p:nvPr>
            <p:ph type="title"/>
          </p:nvPr>
        </p:nvSpPr>
        <p:spPr bwMode="gray">
          <a:xfrm>
            <a:off x="539750" y="404813"/>
            <a:ext cx="80645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et modifiez le titre</a:t>
            </a:r>
          </a:p>
        </p:txBody>
      </p:sp>
      <p:sp>
        <p:nvSpPr>
          <p:cNvPr id="2057" name="Line 15"/>
          <p:cNvSpPr>
            <a:spLocks noChangeShapeType="1"/>
          </p:cNvSpPr>
          <p:nvPr/>
        </p:nvSpPr>
        <p:spPr bwMode="gray">
          <a:xfrm>
            <a:off x="395288" y="898525"/>
            <a:ext cx="8347075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9pPr>
    </p:titleStyle>
    <p:bodyStyle>
      <a:lvl1pPr marL="450850" indent="-450850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accent1"/>
        </a:buClr>
        <a:buAutoNum type="arabicPeriod"/>
        <a:defRPr sz="2200" b="1">
          <a:solidFill>
            <a:schemeClr val="tx1"/>
          </a:solidFill>
          <a:latin typeface="+mn-lt"/>
          <a:ea typeface="+mn-ea"/>
          <a:cs typeface="+mn-cs"/>
        </a:defRPr>
      </a:lvl1pPr>
      <a:lvl2pPr marL="989013" indent="-266700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bg2"/>
        </a:buClr>
        <a:buChar char="•"/>
        <a:defRPr sz="1400">
          <a:solidFill>
            <a:schemeClr val="hlink"/>
          </a:solidFill>
          <a:latin typeface="+mn-lt"/>
        </a:defRPr>
      </a:lvl2pPr>
      <a:lvl3pPr marL="1397000" indent="-228600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hlink"/>
        </a:buClr>
        <a:buFont typeface="Verdana" pitchFamily="34" charset="0"/>
        <a:buChar char="–"/>
        <a:defRPr sz="1200">
          <a:solidFill>
            <a:schemeClr val="tx2"/>
          </a:solidFill>
          <a:latin typeface="+mn-lt"/>
        </a:defRPr>
      </a:lvl3pPr>
      <a:lvl4pPr marL="1785938" indent="-209550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buChar char="–"/>
        <a:defRPr sz="1100">
          <a:solidFill>
            <a:schemeClr val="tx2"/>
          </a:solidFill>
          <a:latin typeface="+mn-lt"/>
        </a:defRPr>
      </a:lvl4pPr>
      <a:lvl5pPr marL="1965325" indent="3175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1000">
          <a:solidFill>
            <a:schemeClr val="tx2"/>
          </a:solidFill>
          <a:latin typeface="+mn-lt"/>
        </a:defRPr>
      </a:lvl5pPr>
      <a:lvl6pPr marL="2422525" indent="3175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1000">
          <a:solidFill>
            <a:schemeClr val="tx2"/>
          </a:solidFill>
          <a:latin typeface="+mn-lt"/>
        </a:defRPr>
      </a:lvl6pPr>
      <a:lvl7pPr marL="2879725" indent="3175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1000">
          <a:solidFill>
            <a:schemeClr val="tx2"/>
          </a:solidFill>
          <a:latin typeface="+mn-lt"/>
        </a:defRPr>
      </a:lvl7pPr>
      <a:lvl8pPr marL="3336925" indent="3175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1000">
          <a:solidFill>
            <a:schemeClr val="tx2"/>
          </a:solidFill>
          <a:latin typeface="+mn-lt"/>
        </a:defRPr>
      </a:lvl8pPr>
      <a:lvl9pPr marL="3794125" indent="3175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1000">
          <a:solidFill>
            <a:schemeClr val="tx2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gray">
          <a:xfrm>
            <a:off x="395288" y="6092825"/>
            <a:ext cx="7056437" cy="3603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0" hangingPunct="0">
              <a:defRPr/>
            </a:pPr>
            <a:endParaRPr lang="fr-FR" altLang="fr-FR">
              <a:solidFill>
                <a:srgbClr val="571E74"/>
              </a:solidFill>
              <a:cs typeface="+mn-cs"/>
            </a:endParaRP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827088" y="6092825"/>
            <a:ext cx="3313112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800">
                <a:solidFill>
                  <a:srgbClr val="FFFFFF"/>
                </a:solidFill>
                <a:cs typeface="+mn-cs"/>
              </a:defRPr>
            </a:lvl1pPr>
          </a:lstStyle>
          <a:p>
            <a:pPr>
              <a:defRPr/>
            </a:pPr>
            <a:fld id="{79D0C184-3AB2-4FD6-ADAC-21FC7DB3F50D}" type="datetime4">
              <a:rPr lang="fr-FR" altLang="fr-FR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95288" y="6092825"/>
            <a:ext cx="288925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rgbClr val="FFFFFF"/>
                </a:solidFill>
                <a:cs typeface="+mn-cs"/>
              </a:defRPr>
            </a:lvl1pPr>
          </a:lstStyle>
          <a:p>
            <a:pPr>
              <a:defRPr/>
            </a:pPr>
            <a:fld id="{2A16B6F8-7817-4970-8D11-A2DF432C41AF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  <p:pic>
        <p:nvPicPr>
          <p:cNvPr id="3077" name="Picture 6" descr="RVB_NATIXIS_10CM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596188" y="6092825"/>
            <a:ext cx="1335087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Line 7"/>
          <p:cNvSpPr>
            <a:spLocks noChangeShapeType="1"/>
          </p:cNvSpPr>
          <p:nvPr/>
        </p:nvSpPr>
        <p:spPr bwMode="gray">
          <a:xfrm flipV="1">
            <a:off x="742950" y="6203950"/>
            <a:ext cx="0" cy="1365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" name="Rectangle 8"/>
          <p:cNvSpPr>
            <a:spLocks noGrp="1" noChangeArrowheads="1"/>
          </p:cNvSpPr>
          <p:nvPr>
            <p:ph type="title"/>
          </p:nvPr>
        </p:nvSpPr>
        <p:spPr bwMode="gray">
          <a:xfrm>
            <a:off x="539750" y="404813"/>
            <a:ext cx="80645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et modifiez le titre</a:t>
            </a:r>
          </a:p>
        </p:txBody>
      </p:sp>
      <p:sp>
        <p:nvSpPr>
          <p:cNvPr id="3080" name="Rectangle 9"/>
          <p:cNvSpPr>
            <a:spLocks noGrp="1" noChangeArrowheads="1"/>
          </p:cNvSpPr>
          <p:nvPr>
            <p:ph type="body" idx="1"/>
          </p:nvPr>
        </p:nvSpPr>
        <p:spPr bwMode="gray">
          <a:xfrm>
            <a:off x="539750" y="1169988"/>
            <a:ext cx="8064500" cy="485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</p:txBody>
      </p:sp>
      <p:sp>
        <p:nvSpPr>
          <p:cNvPr id="3081" name="Line 12"/>
          <p:cNvSpPr>
            <a:spLocks noChangeShapeType="1"/>
          </p:cNvSpPr>
          <p:nvPr/>
        </p:nvSpPr>
        <p:spPr bwMode="gray">
          <a:xfrm>
            <a:off x="395288" y="898525"/>
            <a:ext cx="8347075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76" r:id="rId2"/>
    <p:sldLayoutId id="2147483977" r:id="rId3"/>
    <p:sldLayoutId id="2147483978" r:id="rId4"/>
    <p:sldLayoutId id="2147483979" r:id="rId5"/>
    <p:sldLayoutId id="2147483980" r:id="rId6"/>
    <p:sldLayoutId id="2147483981" r:id="rId7"/>
    <p:sldLayoutId id="2147483982" r:id="rId8"/>
    <p:sldLayoutId id="2147483983" r:id="rId9"/>
    <p:sldLayoutId id="2147483984" r:id="rId10"/>
    <p:sldLayoutId id="2147483985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Verdana" pitchFamily="34" charset="0"/>
        </a:defRPr>
      </a:lvl9pPr>
    </p:titleStyle>
    <p:bodyStyle>
      <a:lvl1pPr algn="l" defTabSz="723900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6700" algn="l" defTabSz="7239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b="1">
          <a:solidFill>
            <a:schemeClr val="accent1"/>
          </a:solidFill>
          <a:latin typeface="+mn-lt"/>
        </a:defRPr>
      </a:lvl2pPr>
      <a:lvl3pPr marL="723900" indent="-274638" algn="l" defTabSz="72390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20000"/>
        <a:buFont typeface="Verdana" pitchFamily="34" charset="0"/>
        <a:buChar char="–"/>
        <a:defRPr sz="1600">
          <a:solidFill>
            <a:schemeClr val="tx2"/>
          </a:solidFill>
          <a:latin typeface="+mn-lt"/>
        </a:defRPr>
      </a:lvl3pPr>
      <a:lvl4pPr marL="903288" algn="l" defTabSz="7239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sz="12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Arial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3599C380-2E6A-4FDF-A9B4-471B01917F9A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65F4971E-E68D-4D46-9D5D-67EEEBD6817C}" type="slidenum">
              <a:rPr lang="fr-FR" altLang="fr-FR" smtClean="0"/>
              <a:pPr>
                <a:defRPr/>
              </a:pPr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6900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8.jpeg"/><Relationship Id="rId3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3.png"/><Relationship Id="rId3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.png"/><Relationship Id="rId3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jpe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4" Type="http://schemas.openxmlformats.org/officeDocument/2006/relationships/image" Target="../media/image25.gif"/><Relationship Id="rId5" Type="http://schemas.openxmlformats.org/officeDocument/2006/relationships/image" Target="../media/image26.jpeg"/><Relationship Id="rId6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4" Type="http://schemas.openxmlformats.org/officeDocument/2006/relationships/image" Target="../media/image33.jpeg"/><Relationship Id="rId5" Type="http://schemas.openxmlformats.org/officeDocument/2006/relationships/image" Target="../media/image34.jpeg"/><Relationship Id="rId6" Type="http://schemas.openxmlformats.org/officeDocument/2006/relationships/image" Target="../media/image35.png"/><Relationship Id="rId7" Type="http://schemas.openxmlformats.org/officeDocument/2006/relationships/image" Target="../media/image36.jpeg"/><Relationship Id="rId8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39.jpeg"/><Relationship Id="rId5" Type="http://schemas.openxmlformats.org/officeDocument/2006/relationships/image" Target="../media/image40.jpeg"/><Relationship Id="rId6" Type="http://schemas.openxmlformats.org/officeDocument/2006/relationships/image" Target="../media/image41.jpeg"/><Relationship Id="rId7" Type="http://schemas.openxmlformats.org/officeDocument/2006/relationships/image" Target="../media/image42.png"/><Relationship Id="rId8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4" Type="http://schemas.openxmlformats.org/officeDocument/2006/relationships/image" Target="../media/image49.jpeg"/><Relationship Id="rId5" Type="http://schemas.openxmlformats.org/officeDocument/2006/relationships/image" Target="../media/image50.jpeg"/><Relationship Id="rId6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4" Type="http://schemas.openxmlformats.org/officeDocument/2006/relationships/image" Target="../media/image59.gif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0.png"/><Relationship Id="rId3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1.png"/><Relationship Id="rId3" Type="http://schemas.openxmlformats.org/officeDocument/2006/relationships/image" Target="../media/image7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2.png"/><Relationship Id="rId3" Type="http://schemas.openxmlformats.org/officeDocument/2006/relationships/image" Target="../media/image7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4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0.png"/><Relationship Id="rId4" Type="http://schemas.openxmlformats.org/officeDocument/2006/relationships/image" Target="../media/image138.png"/><Relationship Id="rId5" Type="http://schemas.openxmlformats.org/officeDocument/2006/relationships/image" Target="../media/image140.png"/><Relationship Id="rId6" Type="http://schemas.openxmlformats.org/officeDocument/2006/relationships/image" Target="../media/image158.png"/><Relationship Id="rId7" Type="http://schemas.openxmlformats.org/officeDocument/2006/relationships/image" Target="../media/image1610.png"/><Relationship Id="rId8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710.png"/><Relationship Id="rId3" Type="http://schemas.openxmlformats.org/officeDocument/2006/relationships/image" Target="../media/image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4" Type="http://schemas.openxmlformats.org/officeDocument/2006/relationships/image" Target="../media/image2010.png"/><Relationship Id="rId5" Type="http://schemas.openxmlformats.org/officeDocument/2006/relationships/image" Target="../media/image2110.png"/><Relationship Id="rId6" Type="http://schemas.openxmlformats.org/officeDocument/2006/relationships/image" Target="../media/image223.png"/><Relationship Id="rId7" Type="http://schemas.openxmlformats.org/officeDocument/2006/relationships/image" Target="../media/image232.png"/><Relationship Id="rId8" Type="http://schemas.openxmlformats.org/officeDocument/2006/relationships/image" Target="../media/image245.png"/><Relationship Id="rId9" Type="http://schemas.openxmlformats.org/officeDocument/2006/relationships/image" Target="../media/image561.png"/><Relationship Id="rId10" Type="http://schemas.openxmlformats.org/officeDocument/2006/relationships/image" Target="../media/image260.png"/><Relationship Id="rId11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4" Type="http://schemas.openxmlformats.org/officeDocument/2006/relationships/hyperlink" Target="https://en.wikipedia.org/wiki/Claude_Shannon" TargetMode="External"/><Relationship Id="rId5" Type="http://schemas.openxmlformats.org/officeDocument/2006/relationships/image" Target="../media/image591.png"/><Relationship Id="rId6" Type="http://schemas.openxmlformats.org/officeDocument/2006/relationships/image" Target="../media/image601.pn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4" Type="http://schemas.openxmlformats.org/officeDocument/2006/relationships/image" Target="../media/image290.png"/><Relationship Id="rId5" Type="http://schemas.openxmlformats.org/officeDocument/2006/relationships/image" Target="../media/image300.png"/><Relationship Id="rId6" Type="http://schemas.openxmlformats.org/officeDocument/2006/relationships/image" Target="../media/image310.png"/><Relationship Id="rId7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2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4" Type="http://schemas.openxmlformats.org/officeDocument/2006/relationships/image" Target="../media/image340.png"/><Relationship Id="rId5" Type="http://schemas.openxmlformats.org/officeDocument/2006/relationships/image" Target="../media/image350.png"/><Relationship Id="rId6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4" Type="http://schemas.openxmlformats.org/officeDocument/2006/relationships/image" Target="../media/image380.png"/><Relationship Id="rId5" Type="http://schemas.openxmlformats.org/officeDocument/2006/relationships/image" Target="../media/image390.png"/><Relationship Id="rId6" Type="http://schemas.openxmlformats.org/officeDocument/2006/relationships/image" Target="../media/image400.png"/><Relationship Id="rId7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4" Type="http://schemas.openxmlformats.org/officeDocument/2006/relationships/image" Target="../media/image420.png"/><Relationship Id="rId5" Type="http://schemas.openxmlformats.org/officeDocument/2006/relationships/image" Target="../media/image430.png"/><Relationship Id="rId6" Type="http://schemas.openxmlformats.org/officeDocument/2006/relationships/image" Target="../media/image440.png"/><Relationship Id="rId7" Type="http://schemas.openxmlformats.org/officeDocument/2006/relationships/image" Target="../media/image450.png"/><Relationship Id="rId8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60.png"/><Relationship Id="rId12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70.png"/><Relationship Id="rId3" Type="http://schemas.openxmlformats.org/officeDocument/2006/relationships/image" Target="../media/image480.png"/><Relationship Id="rId4" Type="http://schemas.openxmlformats.org/officeDocument/2006/relationships/image" Target="../media/image490.png"/><Relationship Id="rId5" Type="http://schemas.openxmlformats.org/officeDocument/2006/relationships/image" Target="../media/image500.png"/><Relationship Id="rId6" Type="http://schemas.openxmlformats.org/officeDocument/2006/relationships/image" Target="../media/image510.png"/><Relationship Id="rId7" Type="http://schemas.openxmlformats.org/officeDocument/2006/relationships/image" Target="../media/image520.png"/><Relationship Id="rId8" Type="http://schemas.openxmlformats.org/officeDocument/2006/relationships/image" Target="../media/image530.png"/><Relationship Id="rId9" Type="http://schemas.openxmlformats.org/officeDocument/2006/relationships/image" Target="../media/image540.png"/><Relationship Id="rId10" Type="http://schemas.openxmlformats.org/officeDocument/2006/relationships/image" Target="../media/image550.png"/></Relationships>
</file>

<file path=ppt/slides/_rels/slide4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66.png"/><Relationship Id="rId12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570.png"/><Relationship Id="rId3" Type="http://schemas.openxmlformats.org/officeDocument/2006/relationships/image" Target="../media/image580.png"/><Relationship Id="rId4" Type="http://schemas.openxmlformats.org/officeDocument/2006/relationships/image" Target="../media/image590.png"/><Relationship Id="rId5" Type="http://schemas.openxmlformats.org/officeDocument/2006/relationships/image" Target="../media/image600.png"/><Relationship Id="rId6" Type="http://schemas.openxmlformats.org/officeDocument/2006/relationships/image" Target="../media/image611.png"/><Relationship Id="rId7" Type="http://schemas.openxmlformats.org/officeDocument/2006/relationships/image" Target="../media/image620.png"/><Relationship Id="rId8" Type="http://schemas.openxmlformats.org/officeDocument/2006/relationships/image" Target="../media/image630.png"/><Relationship Id="rId9" Type="http://schemas.openxmlformats.org/officeDocument/2006/relationships/image" Target="../media/image640.png"/><Relationship Id="rId10" Type="http://schemas.openxmlformats.org/officeDocument/2006/relationships/image" Target="../media/image65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4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81.png"/><Relationship Id="rId17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7.png"/><Relationship Id="rId3" Type="http://schemas.openxmlformats.org/officeDocument/2006/relationships/image" Target="../media/image680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91.png"/><Relationship Id="rId12" Type="http://schemas.openxmlformats.org/officeDocument/2006/relationships/image" Target="../media/image710.png"/><Relationship Id="rId13" Type="http://schemas.openxmlformats.org/officeDocument/2006/relationships/image" Target="../media/image93.png"/><Relationship Id="rId14" Type="http://schemas.openxmlformats.org/officeDocument/2006/relationships/image" Target="../media/image94.png"/><Relationship Id="rId1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9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92.png"/><Relationship Id="rId3" Type="http://schemas.openxmlformats.org/officeDocument/2006/relationships/image" Target="../media/image7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9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02.jpeg"/><Relationship Id="rId3" Type="http://schemas.openxmlformats.org/officeDocument/2006/relationships/image" Target="../media/image7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4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03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0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4" Type="http://schemas.openxmlformats.org/officeDocument/2006/relationships/image" Target="../media/image109.png"/><Relationship Id="rId5" Type="http://schemas.openxmlformats.org/officeDocument/2006/relationships/image" Target="../media/image1070.png"/><Relationship Id="rId6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0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0.png"/><Relationship Id="rId4" Type="http://schemas.openxmlformats.org/officeDocument/2006/relationships/image" Target="../media/image1100.png"/><Relationship Id="rId5" Type="http://schemas.openxmlformats.org/officeDocument/2006/relationships/image" Target="../media/image1110.png"/><Relationship Id="rId6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0.png"/><Relationship Id="rId4" Type="http://schemas.openxmlformats.org/officeDocument/2006/relationships/image" Target="../media/image1140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4" Type="http://schemas.openxmlformats.org/officeDocument/2006/relationships/image" Target="../media/image114.jpeg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2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4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0.jpeg"/><Relationship Id="rId3" Type="http://schemas.openxmlformats.org/officeDocument/2006/relationships/image" Target="../media/image7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4" Type="http://schemas.openxmlformats.org/officeDocument/2006/relationships/image" Target="../media/image128.png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1.png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9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4" Type="http://schemas.openxmlformats.org/officeDocument/2006/relationships/hyperlink" Target="http://dx.doi.org/10.1007/s12559-010-9041-8" TargetMode="External"/><Relationship Id="rId5" Type="http://schemas.openxmlformats.org/officeDocument/2006/relationships/hyperlink" Target="http://bibtexknoll.informatik.tu-muenchen.de/bibtex.php?id=776" TargetMode="External"/><Relationship Id="rId6" Type="http://schemas.openxmlformats.org/officeDocument/2006/relationships/hyperlink" Target="http://www6.in.tum.de/Main/Publications/woellmer2010b.pdf" TargetMode="External"/><Relationship Id="rId7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3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eg"/><Relationship Id="rId4" Type="http://schemas.openxmlformats.org/officeDocument/2006/relationships/image" Target="../media/image7.jpeg"/><Relationship Id="rId5" Type="http://schemas.openxmlformats.org/officeDocument/2006/relationships/image" Target="../media/image134.pn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32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4" Type="http://schemas.openxmlformats.org/officeDocument/2006/relationships/image" Target="../media/image137.jpeg"/><Relationship Id="rId5" Type="http://schemas.openxmlformats.org/officeDocument/2006/relationships/image" Target="../media/image138.jpeg"/><Relationship Id="rId6" Type="http://schemas.openxmlformats.org/officeDocument/2006/relationships/image" Target="../media/image7.jpeg"/><Relationship Id="rId7" Type="http://schemas.openxmlformats.org/officeDocument/2006/relationships/image" Target="../media/image139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3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scholar.org/author/Alex-Graves/2710229" TargetMode="External"/><Relationship Id="rId4" Type="http://schemas.openxmlformats.org/officeDocument/2006/relationships/hyperlink" Target="https://www.semanticscholar.org/author/Navdeep-Jaitly/3111912" TargetMode="External"/><Relationship Id="rId5" Type="http://schemas.openxmlformats.org/officeDocument/2006/relationships/hyperlink" Target="https://www.semanticscholar.org/author/Abdel-rahman-Mohamed/3214958" TargetMode="External"/><Relationship Id="rId6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4" Type="http://schemas.openxmlformats.org/officeDocument/2006/relationships/image" Target="../media/image144.jpeg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4" Type="http://schemas.openxmlformats.org/officeDocument/2006/relationships/image" Target="../media/image1290.png"/><Relationship Id="rId5" Type="http://schemas.openxmlformats.org/officeDocument/2006/relationships/image" Target="../media/image1300.png"/><Relationship Id="rId6" Type="http://schemas.openxmlformats.org/officeDocument/2006/relationships/image" Target="../media/image1310.png"/><Relationship Id="rId7" Type="http://schemas.openxmlformats.org/officeDocument/2006/relationships/image" Target="../media/image1320.png"/><Relationship Id="rId8" Type="http://schemas.openxmlformats.org/officeDocument/2006/relationships/image" Target="../media/image1330.png"/><Relationship Id="rId9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7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5.jpeg"/><Relationship Id="rId3" Type="http://schemas.openxmlformats.org/officeDocument/2006/relationships/image" Target="../media/image7.jpe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Relationship Id="rId3" Type="http://schemas.openxmlformats.org/officeDocument/2006/relationships/image" Target="../media/image14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4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36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eg"/><Relationship Id="rId4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0.png"/><Relationship Id="rId4" Type="http://schemas.openxmlformats.org/officeDocument/2006/relationships/image" Target="../media/image151.jpg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5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4" Type="http://schemas.openxmlformats.org/officeDocument/2006/relationships/image" Target="../media/image1450.png"/><Relationship Id="rId5" Type="http://schemas.openxmlformats.org/officeDocument/2006/relationships/image" Target="../media/image1460.png"/><Relationship Id="rId6" Type="http://schemas.openxmlformats.org/officeDocument/2006/relationships/image" Target="../media/image1470.png"/><Relationship Id="rId7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5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4" Type="http://schemas.openxmlformats.org/officeDocument/2006/relationships/image" Target="../media/image1500.png"/><Relationship Id="rId5" Type="http://schemas.openxmlformats.org/officeDocument/2006/relationships/image" Target="../media/image1510.png"/><Relationship Id="rId6" Type="http://schemas.openxmlformats.org/officeDocument/2006/relationships/image" Target="../media/image1520.png"/><Relationship Id="rId7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80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54.gif"/><Relationship Id="rId3" Type="http://schemas.openxmlformats.org/officeDocument/2006/relationships/image" Target="../media/image7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55.gif"/><Relationship Id="rId3" Type="http://schemas.openxmlformats.org/officeDocument/2006/relationships/image" Target="../media/image7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g"/><Relationship Id="rId4" Type="http://schemas.openxmlformats.org/officeDocument/2006/relationships/image" Target="../media/image157.jpeg"/><Relationship Id="rId5" Type="http://schemas.openxmlformats.org/officeDocument/2006/relationships/image" Target="../media/image159.pn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e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60.png"/><Relationship Id="rId3" Type="http://schemas.openxmlformats.org/officeDocument/2006/relationships/image" Target="../media/image7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Relationship Id="rId8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59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4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6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67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4" Type="http://schemas.openxmlformats.org/officeDocument/2006/relationships/image" Target="../media/image176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74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82.png"/><Relationship Id="rId3" Type="http://schemas.openxmlformats.org/officeDocument/2006/relationships/image" Target="../media/image7.jpe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83.jpg"/><Relationship Id="rId3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altLang="fr-FR" dirty="0">
                <a:solidFill>
                  <a:srgbClr val="966F60"/>
                </a:solidFill>
              </a:rPr>
              <a:t>AGI et Finance : l’opportunité des réseaux neuronaux avancés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28/03/2017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092825"/>
            <a:ext cx="8064500" cy="322263"/>
          </a:xfrm>
          <a:prstGeom prst="rect">
            <a:avLst/>
          </a:prstGeom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1200" b="0" dirty="0">
                <a:solidFill>
                  <a:schemeClr val="accent1"/>
                </a:solidFill>
                <a:cs typeface="Arial" charset="0"/>
              </a:rPr>
              <a:t>Olivier Croissant</a:t>
            </a:r>
          </a:p>
        </p:txBody>
      </p:sp>
      <p:pic>
        <p:nvPicPr>
          <p:cNvPr id="1026" name="Picture 2" descr="Le futur de l'homme avec une IA forte ? Un animal de compagnie ou de la chair à pâté, s'inquiètent les alarmist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966" y="4991136"/>
            <a:ext cx="2851842" cy="160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ésultat de recherche d'images pour &quot;elon musk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296" y="5028419"/>
            <a:ext cx="3243136" cy="161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/>
              <a:t>Plan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031358"/>
            <a:ext cx="8497887" cy="4933507"/>
          </a:xfrm>
        </p:spPr>
        <p:txBody>
          <a:bodyPr>
            <a:normAutofit fontScale="62500" lnSpcReduction="20000"/>
          </a:bodyPr>
          <a:lstStyle/>
          <a:p>
            <a:r>
              <a:rPr lang="fr-FR" altLang="fr-FR" dirty="0"/>
              <a:t>Introduction</a:t>
            </a:r>
          </a:p>
          <a:p>
            <a:r>
              <a:rPr lang="fr-FR" altLang="fr-FR" dirty="0"/>
              <a:t>Concepts de base </a:t>
            </a:r>
          </a:p>
          <a:p>
            <a:r>
              <a:rPr lang="fr-FR" altLang="fr-FR" dirty="0"/>
              <a:t>Inférence variationnelle</a:t>
            </a:r>
          </a:p>
          <a:p>
            <a:r>
              <a:rPr lang="fr-FR" altLang="fr-FR" dirty="0"/>
              <a:t>HMM , RBM , Autoencodeur</a:t>
            </a:r>
          </a:p>
          <a:p>
            <a:r>
              <a:rPr lang="fr-FR" altLang="fr-FR" dirty="0"/>
              <a:t>Autoencodeur variationnel</a:t>
            </a:r>
          </a:p>
          <a:p>
            <a:r>
              <a:rPr lang="fr-FR" altLang="fr-FR" dirty="0"/>
              <a:t>LSTM et la mémoire longue</a:t>
            </a:r>
          </a:p>
          <a:p>
            <a:r>
              <a:rPr lang="fr-FR" altLang="fr-FR" dirty="0"/>
              <a:t>DRAW et le génératif attentionnel</a:t>
            </a:r>
          </a:p>
          <a:p>
            <a:r>
              <a:rPr lang="fr-FR" altLang="fr-FR" dirty="0"/>
              <a:t>DNC et le CPU différentiel</a:t>
            </a:r>
          </a:p>
          <a:p>
            <a:r>
              <a:rPr lang="fr-FR" altLang="fr-FR" dirty="0"/>
              <a:t>GTMM ou l’apex neuronal</a:t>
            </a:r>
          </a:p>
          <a:p>
            <a:r>
              <a:rPr lang="fr-FR" altLang="fr-FR" dirty="0"/>
              <a:t>DNI et les gradients </a:t>
            </a:r>
            <a:r>
              <a:rPr lang="fr-FR" altLang="fr-FR" dirty="0" smtClean="0"/>
              <a:t>synthétiques</a:t>
            </a:r>
          </a:p>
          <a:p>
            <a:r>
              <a:rPr lang="fr-FR" altLang="fr-FR" dirty="0" smtClean="0"/>
              <a:t>Le classificateur à sous-variété tangente</a:t>
            </a:r>
          </a:p>
          <a:p>
            <a:r>
              <a:rPr lang="fr-FR" altLang="fr-FR" dirty="0" smtClean="0"/>
              <a:t>Application a la prédiction financière </a:t>
            </a:r>
          </a:p>
          <a:p>
            <a:r>
              <a:rPr lang="fr-FR" altLang="fr-FR" dirty="0" smtClean="0"/>
              <a:t>Projet cible</a:t>
            </a:r>
            <a:endParaRPr lang="fr-FR" altLang="fr-FR" dirty="0"/>
          </a:p>
          <a:p>
            <a:r>
              <a:rPr lang="fr-FR" altLang="fr-FR" dirty="0" smtClean="0"/>
              <a:t>Conclusion</a:t>
            </a:r>
          </a:p>
          <a:p>
            <a:r>
              <a:rPr lang="fr-FR" altLang="fr-FR" dirty="0" smtClean="0"/>
              <a:t>Annexes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fld id="{6F53D33A-EC35-4FAD-94F1-CF991AD3FF0A}" type="datetime4">
              <a:rPr lang="fr-FR" altLang="fr-FR" sz="800" smtClean="0">
                <a:solidFill>
                  <a:schemeClr val="bg1"/>
                </a:solidFill>
              </a:rPr>
              <a:pPr>
                <a:defRPr/>
              </a:pPr>
              <a:t>28 septembre 2017</a:t>
            </a:fld>
            <a:endParaRPr lang="fr-FR" altLang="fr-FR" sz="800">
              <a:solidFill>
                <a:schemeClr val="bg1"/>
              </a:solidFill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fld id="{A827E123-726A-4F72-A2DA-69A24F75931C}" type="slidenum">
              <a:rPr lang="fr-FR" altLang="fr-FR" sz="800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fr-FR" altLang="fr-FR" sz="80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sp>
        <p:nvSpPr>
          <p:cNvPr id="2" name="Right Brace 1"/>
          <p:cNvSpPr/>
          <p:nvPr/>
        </p:nvSpPr>
        <p:spPr bwMode="auto">
          <a:xfrm>
            <a:off x="5865962" y="2091905"/>
            <a:ext cx="422695" cy="526212"/>
          </a:xfrm>
          <a:prstGeom prst="rightBrace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8657" y="2202731"/>
            <a:ext cx="16161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Monocouche</a:t>
            </a:r>
          </a:p>
        </p:txBody>
      </p:sp>
      <p:sp>
        <p:nvSpPr>
          <p:cNvPr id="10" name="Right Brace 9"/>
          <p:cNvSpPr/>
          <p:nvPr/>
        </p:nvSpPr>
        <p:spPr bwMode="auto">
          <a:xfrm>
            <a:off x="6674036" y="2717491"/>
            <a:ext cx="422695" cy="1121179"/>
          </a:xfrm>
          <a:prstGeom prst="rightBrace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8094" y="3108803"/>
            <a:ext cx="1568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Multicouche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Concepts de base</a:t>
            </a:r>
            <a:endParaRPr lang="fr-FR" alt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3"/>
              <p:cNvSpPr>
                <a:spLocks noGrp="1"/>
              </p:cNvSpPr>
              <p:nvPr>
                <p:ph idx="1"/>
              </p:nvPr>
            </p:nvSpPr>
            <p:spPr>
              <a:xfrm>
                <a:off x="1997533" y="3666500"/>
                <a:ext cx="4248472" cy="96019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  <m:r>
                            <a:rPr lang="fr-FR" sz="2800" b="0" i="1" smtClean="0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fr-FR" sz="28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fr-FR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fr-FR" sz="28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fr-FR" sz="2800" b="0" i="1" smtClean="0">
                                  <a:latin typeface="Cambria Math"/>
                                </a:rPr>
                                <m:t>|</m:t>
                              </m:r>
                              <m:r>
                                <a:rPr lang="fr-FR" sz="2800" b="0" i="1" smtClean="0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</m:d>
                          <m:r>
                            <a:rPr lang="fr-FR" sz="2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fr-FR" sz="28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fr-FR" sz="2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fr-FR" sz="28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5" name="Content Placeholder 2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97533" y="3666500"/>
                <a:ext cx="4248472" cy="960199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339317" y="3099155"/>
            <a:ext cx="1224136" cy="51993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rot="0" vert="horz" wrap="none" lIns="91440" tIns="45720" rIns="91440" bIns="45720" anchor="t" anchorCtr="0">
            <a:noAutofit/>
          </a:bodyPr>
          <a:lstStyle/>
          <a:p>
            <a:pPr>
              <a:spcAft>
                <a:spcPts val="0"/>
              </a:spcAft>
            </a:pPr>
            <a:r>
              <a:rPr lang="fr-FR" sz="2400" dirty="0" err="1">
                <a:latin typeface="Times New Roman"/>
                <a:ea typeface="Calibri"/>
              </a:rPr>
              <a:t>P</a:t>
            </a:r>
            <a:r>
              <a:rPr lang="fr-FR" sz="2400" dirty="0" err="1">
                <a:effectLst/>
                <a:latin typeface="Times New Roman"/>
                <a:ea typeface="Calibri"/>
              </a:rPr>
              <a:t>osterior</a:t>
            </a:r>
            <a:endParaRPr lang="fr-FR" sz="2400" dirty="0">
              <a:effectLst/>
              <a:latin typeface="Times New Roman"/>
              <a:ea typeface="Calibri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725725" y="2612255"/>
            <a:ext cx="1385973" cy="43460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rot="0" vert="horz" wrap="none" lIns="91440" tIns="45720" rIns="91440" bIns="45720" anchor="t" anchorCtr="0">
            <a:noAutofit/>
          </a:bodyPr>
          <a:lstStyle/>
          <a:p>
            <a:pPr>
              <a:spcAft>
                <a:spcPts val="0"/>
              </a:spcAft>
            </a:pPr>
            <a:r>
              <a:rPr lang="fr-FR" sz="2400" dirty="0" err="1">
                <a:latin typeface="Times New Roman"/>
                <a:ea typeface="Calibri"/>
              </a:rPr>
              <a:t>Likelihood</a:t>
            </a:r>
            <a:endParaRPr lang="fr-FR" sz="2400" dirty="0">
              <a:latin typeface="Times New Roman"/>
              <a:ea typeface="Calibri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111698" y="2999081"/>
            <a:ext cx="864096" cy="55323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rot="0" vert="horz" wrap="none" lIns="91440" tIns="45720" rIns="91440" bIns="45720" anchor="t" anchorCtr="0">
            <a:noAutofit/>
          </a:bodyPr>
          <a:lstStyle/>
          <a:p>
            <a:pPr>
              <a:spcAft>
                <a:spcPts val="0"/>
              </a:spcAft>
            </a:pPr>
            <a:r>
              <a:rPr lang="fr-FR" sz="2400" dirty="0">
                <a:latin typeface="Times New Roman"/>
                <a:ea typeface="Calibri"/>
              </a:rPr>
              <a:t>Prior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157773" y="5128275"/>
            <a:ext cx="1512168" cy="576064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rot="0" vert="horz" wrap="none" lIns="91440" tIns="45720" rIns="91440" bIns="45720" anchor="t" anchorCtr="0">
            <a:noAutofit/>
          </a:bodyPr>
          <a:lstStyle/>
          <a:p>
            <a:pPr>
              <a:spcAft>
                <a:spcPts val="0"/>
              </a:spcAft>
            </a:pPr>
            <a:r>
              <a:rPr lang="fr-FR" sz="2400" dirty="0">
                <a:latin typeface="Times New Roman"/>
                <a:ea typeface="Calibri"/>
              </a:rPr>
              <a:t>Evidence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951385" y="3475073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625317" y="2999081"/>
            <a:ext cx="0" cy="6560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471738" y="337230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4796193" y="4696227"/>
            <a:ext cx="0" cy="5735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23528" y="1700808"/>
                <a:ext cx="842493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𝑚𝑜𝑑𝑒𝑙</m:t>
                          </m:r>
                          <m:r>
                            <a:rPr lang="fr-FR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fr-FR" i="1">
                          <a:latin typeface="Cambria Math"/>
                        </a:rPr>
                        <m:t>𝑜𝑏𝑠𝑒𝑟𝑣𝑎𝑡𝑖𝑜𝑛𝑠</m:t>
                      </m:r>
                      <m:r>
                        <a:rPr lang="fr-FR" i="1">
                          <a:latin typeface="Cambria Math"/>
                        </a:rPr>
                        <m:t>) </m:t>
                      </m:r>
                      <m:r>
                        <a:rPr lang="fr-FR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 </m:t>
                          </m:r>
                          <m:r>
                            <a:rPr lang="fr-FR" i="1">
                              <a:latin typeface="Cambria Math"/>
                            </a:rPr>
                            <m:t>𝑜𝑏𝑠𝑒𝑟𝑣𝑎𝑡𝑖𝑜𝑛𝑠</m:t>
                          </m:r>
                        </m:e>
                      </m:d>
                      <m:r>
                        <a:rPr lang="fr-FR" i="1">
                          <a:latin typeface="Cambria Math"/>
                        </a:rPr>
                        <m:t>=</m:t>
                      </m:r>
                      <m:r>
                        <a:rPr lang="fr-FR" i="1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𝑜𝑏𝑠𝑒𝑟𝑣𝑎𝑡𝑖𝑜𝑛𝑠</m:t>
                          </m:r>
                          <m:r>
                            <a:rPr lang="fr-FR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fr-FR" i="1">
                          <a:latin typeface="Cambria Math"/>
                        </a:rPr>
                        <m:t> </m:t>
                      </m:r>
                      <m:r>
                        <a:rPr lang="fr-FR" i="1">
                          <a:latin typeface="Cambria Math"/>
                        </a:rPr>
                        <m:t>𝑚𝑜𝑑𝑒𝑙</m:t>
                      </m:r>
                      <m:r>
                        <a:rPr lang="fr-FR" i="1">
                          <a:latin typeface="Cambria Math"/>
                        </a:rPr>
                        <m:t> ) </m:t>
                      </m:r>
                      <m:r>
                        <a:rPr lang="fr-FR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 </m:t>
                          </m:r>
                          <m:r>
                            <a:rPr lang="fr-FR" i="1">
                              <a:latin typeface="Cambria Math"/>
                            </a:rPr>
                            <m:t>𝑚𝑜𝑑𝑒𝑙</m:t>
                          </m:r>
                          <m:r>
                            <a:rPr lang="fr-FR" i="1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00808"/>
                <a:ext cx="8424936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459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4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6" name="Picture 2" descr="http://i.stack.imgur.com/64Pe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181" y="1130630"/>
            <a:ext cx="661035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813693" y="4937762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Démarche Scientifique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1565" y="5595126"/>
            <a:ext cx="120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 err="1"/>
              <a:t>Zenitude</a:t>
            </a:r>
            <a:endParaRPr lang="fr-FR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3437429" y="491767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Dogmatisme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999" y="5595126"/>
            <a:ext cx="1862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Regard factuel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1205" y="4896873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Illusion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849367" y="4688540"/>
            <a:ext cx="73950" cy="23246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3224752" y="5307094"/>
            <a:ext cx="0" cy="28803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048665" y="4780638"/>
            <a:ext cx="0" cy="2324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151906" y="5367957"/>
            <a:ext cx="0" cy="23246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6317749" y="4664406"/>
            <a:ext cx="501211" cy="3487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Modèle Probabiliste Graphique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5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63888" y="1052736"/>
            <a:ext cx="936104" cy="576064"/>
          </a:xfrm>
          <a:prstGeom prst="rect">
            <a:avLst/>
          </a:prstGeom>
          <a:solidFill>
            <a:srgbClr val="966F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5776" y="1988840"/>
            <a:ext cx="936104" cy="576064"/>
          </a:xfrm>
          <a:prstGeom prst="rect">
            <a:avLst/>
          </a:prstGeom>
          <a:solidFill>
            <a:srgbClr val="966F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9451" y="1988840"/>
            <a:ext cx="936104" cy="576064"/>
          </a:xfrm>
          <a:prstGeom prst="rect">
            <a:avLst/>
          </a:prstGeom>
          <a:solidFill>
            <a:srgbClr val="966F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8184" y="1988840"/>
            <a:ext cx="936104" cy="576064"/>
          </a:xfrm>
          <a:prstGeom prst="rect">
            <a:avLst/>
          </a:prstGeom>
          <a:solidFill>
            <a:srgbClr val="966F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6636" y="3284984"/>
            <a:ext cx="936104" cy="576064"/>
          </a:xfrm>
          <a:prstGeom prst="rect">
            <a:avLst/>
          </a:prstGeom>
          <a:solidFill>
            <a:srgbClr val="966F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13517" y="3284984"/>
            <a:ext cx="936104" cy="576064"/>
          </a:xfrm>
          <a:prstGeom prst="rect">
            <a:avLst/>
          </a:prstGeom>
          <a:solidFill>
            <a:srgbClr val="966F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F</a:t>
            </a:r>
          </a:p>
        </p:txBody>
      </p:sp>
      <p:cxnSp>
        <p:nvCxnSpPr>
          <p:cNvPr id="12" name="Straight Arrow Connector 11"/>
          <p:cNvCxnSpPr>
            <a:stCxn id="6" idx="2"/>
            <a:endCxn id="7" idx="0"/>
          </p:cNvCxnSpPr>
          <p:nvPr/>
        </p:nvCxnSpPr>
        <p:spPr>
          <a:xfrm flipH="1">
            <a:off x="3023828" y="1628800"/>
            <a:ext cx="1008112" cy="360040"/>
          </a:xfrm>
          <a:prstGeom prst="straightConnector1">
            <a:avLst/>
          </a:prstGeom>
          <a:ln w="28575">
            <a:solidFill>
              <a:schemeClr val="tx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8" idx="0"/>
          </p:cNvCxnSpPr>
          <p:nvPr/>
        </p:nvCxnSpPr>
        <p:spPr>
          <a:xfrm>
            <a:off x="4031940" y="1628800"/>
            <a:ext cx="925563" cy="36004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2"/>
          </p:cNvCxnSpPr>
          <p:nvPr/>
        </p:nvCxnSpPr>
        <p:spPr>
          <a:xfrm>
            <a:off x="4031940" y="1628800"/>
            <a:ext cx="2772308" cy="36004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10" idx="0"/>
          </p:cNvCxnSpPr>
          <p:nvPr/>
        </p:nvCxnSpPr>
        <p:spPr>
          <a:xfrm flipH="1">
            <a:off x="4174688" y="2564904"/>
            <a:ext cx="818819" cy="72008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2"/>
          </p:cNvCxnSpPr>
          <p:nvPr/>
        </p:nvCxnSpPr>
        <p:spPr>
          <a:xfrm>
            <a:off x="4957503" y="2564904"/>
            <a:ext cx="918933" cy="72008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18780" y="4085860"/>
                <a:ext cx="76986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;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;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;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;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𝐸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;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𝐹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fr-FR" b="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80" y="4085860"/>
                <a:ext cx="7698633" cy="461665"/>
              </a:xfrm>
              <a:prstGeom prst="rect">
                <a:avLst/>
              </a:prstGeom>
              <a:blipFill rotWithShape="1"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9" idx="2"/>
            <a:endCxn id="11" idx="0"/>
          </p:cNvCxnSpPr>
          <p:nvPr/>
        </p:nvCxnSpPr>
        <p:spPr>
          <a:xfrm flipH="1">
            <a:off x="5781569" y="2564904"/>
            <a:ext cx="914667" cy="72008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57503" y="5378522"/>
            <a:ext cx="3280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Produit de facteurs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308255" y="4547525"/>
                <a:ext cx="588975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𝑎</m:t>
                          </m:r>
                          <m:r>
                            <a:rPr lang="fr-FR" i="1">
                              <a:latin typeface="Cambria Math"/>
                            </a:rPr>
                            <m:t>,</m:t>
                          </m:r>
                          <m:r>
                            <a:rPr lang="fr-FR" i="1">
                              <a:latin typeface="Cambria Math"/>
                            </a:rPr>
                            <m:t>𝑏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𝑎</m:t>
                          </m:r>
                          <m:r>
                            <a:rPr lang="fr-FR" i="1">
                              <a:latin typeface="Cambria Math"/>
                            </a:rPr>
                            <m:t>,</m:t>
                          </m:r>
                          <m:r>
                            <a:rPr lang="fr-FR" i="1">
                              <a:latin typeface="Cambria Math"/>
                            </a:rPr>
                            <m:t>𝑐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𝑎</m:t>
                          </m:r>
                          <m:r>
                            <a:rPr lang="fr-FR" i="1">
                              <a:latin typeface="Cambria Math"/>
                            </a:rPr>
                            <m:t>,</m:t>
                          </m:r>
                          <m:r>
                            <a:rPr lang="fr-FR" i="1">
                              <a:latin typeface="Cambria Math"/>
                            </a:rPr>
                            <m:t>𝑑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𝑐</m:t>
                          </m:r>
                          <m:r>
                            <a:rPr lang="fr-FR" i="1">
                              <a:latin typeface="Cambria Math"/>
                            </a:rPr>
                            <m:t>,</m:t>
                          </m:r>
                          <m:r>
                            <a:rPr lang="fr-FR" i="1">
                              <a:latin typeface="Cambria Math"/>
                            </a:rPr>
                            <m:t>𝑒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𝑐</m:t>
                          </m:r>
                          <m:r>
                            <a:rPr lang="fr-FR" i="1">
                              <a:latin typeface="Cambria Math"/>
                            </a:rPr>
                            <m:t>,</m:t>
                          </m:r>
                          <m:r>
                            <a:rPr lang="fr-FR" i="1">
                              <a:latin typeface="Cambria Math"/>
                            </a:rPr>
                            <m:t>𝑑</m:t>
                          </m:r>
                          <m:r>
                            <a:rPr lang="fr-FR" i="1">
                              <a:latin typeface="Cambria Math"/>
                            </a:rPr>
                            <m:t>,</m:t>
                          </m:r>
                          <m:r>
                            <a:rPr lang="fr-FR" i="1">
                              <a:latin typeface="Cambria Math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255" y="4547525"/>
                <a:ext cx="5889754" cy="83099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33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04813"/>
            <a:ext cx="7920037" cy="4953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La backpropagation dans un réseau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9750" y="1169988"/>
                <a:ext cx="6983680" cy="477743"/>
              </a:xfrm>
            </p:spPr>
            <p:txBody>
              <a:bodyPr>
                <a:normAutofit fontScale="92500"/>
              </a:bodyPr>
              <a:lstStyle/>
              <a:p>
                <a:r>
                  <a:rPr lang="fr-FR" dirty="0" smtClean="0"/>
                  <a:t>Trouver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/>
                        <a:ea typeface="Cambria Math"/>
                      </a:rPr>
                      <m:t>𝜽</m:t>
                    </m:r>
                    <m:r>
                      <a:rPr lang="fr-FR" b="1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fr-FR" dirty="0" smtClean="0"/>
                  <a:t>tel que  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/>
                      </a:rPr>
                      <m:t>𝒅𝒊𝒔𝒕𝒂𝒏𝒄𝒆</m:t>
                    </m:r>
                    <m:d>
                      <m:dPr>
                        <m:ctrlPr>
                          <a:rPr lang="fr-FR" b="1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b="1" i="1" smtClean="0">
                            <a:latin typeface="Cambria Math"/>
                          </a:rPr>
                          <m:t>𝑭</m:t>
                        </m:r>
                        <m:d>
                          <m:dPr>
                            <m:ctrlPr>
                              <a:rPr lang="fr-FR" b="1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/>
                                <a:ea typeface="Cambria Math"/>
                              </a:rPr>
                              <m:t>𝜽</m:t>
                            </m:r>
                          </m:e>
                        </m:d>
                        <m:r>
                          <a:rPr lang="fr-FR" b="1" i="1" smtClean="0">
                            <a:latin typeface="Cambria Math"/>
                          </a:rPr>
                          <m:t> , </m:t>
                        </m:r>
                        <m:r>
                          <a:rPr lang="fr-FR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fr-FR" dirty="0" smtClean="0"/>
                  <a:t> soit minimale</a:t>
                </a:r>
                <a:endParaRPr lang="fr-F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750" y="1169988"/>
                <a:ext cx="6983680" cy="477743"/>
              </a:xfrm>
              <a:blipFill rotWithShape="0">
                <a:blip r:embed="rId2"/>
                <a:stretch>
                  <a:fillRect l="-2009" t="-88462" b="-1115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6</a:t>
            </a:fld>
            <a:endParaRPr lang="fr-FR" alt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 bwMode="gray">
              <a:xfrm>
                <a:off x="769512" y="1548725"/>
                <a:ext cx="7834737" cy="370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algn="l" defTabSz="7239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9875" indent="-266700" algn="l" defTabSz="7239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b="1">
                    <a:solidFill>
                      <a:schemeClr val="accent1"/>
                    </a:solidFill>
                    <a:latin typeface="+mn-lt"/>
                  </a:defRPr>
                </a:lvl2pPr>
                <a:lvl3pPr marL="723900" indent="-274638" algn="l" defTabSz="7239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120000"/>
                  <a:buFont typeface="Verdana" pitchFamily="34" charset="0"/>
                  <a:buChar char="–"/>
                  <a:defRPr sz="1600">
                    <a:solidFill>
                      <a:schemeClr val="tx2"/>
                    </a:solidFill>
                    <a:latin typeface="+mn-lt"/>
                  </a:defRPr>
                </a:lvl3pPr>
                <a:lvl4pPr marL="903288" algn="l" defTabSz="7239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 sz="1200">
                    <a:solidFill>
                      <a:schemeClr val="tx2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itchFamily="34" charset="0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itchFamily="34" charset="0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itchFamily="34" charset="0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itchFamily="34" charset="0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fr-FR" b="1" i="1" kern="0" smtClean="0">
                        <a:latin typeface="Cambria Math"/>
                      </a:rPr>
                      <m:t>𝒅𝒊𝒎</m:t>
                    </m:r>
                    <m:d>
                      <m:dPr>
                        <m:ctrlPr>
                          <a:rPr lang="fr-FR" b="1" i="1" kern="0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i="1" kern="0">
                            <a:latin typeface="Cambria Math"/>
                            <a:ea typeface="Cambria Math"/>
                          </a:rPr>
                          <m:t>𝜽</m:t>
                        </m:r>
                      </m:e>
                    </m:d>
                    <m:r>
                      <a:rPr lang="fr-FR" b="1" i="1" kern="0" smtClean="0">
                        <a:latin typeface="Cambria Math"/>
                      </a:rPr>
                      <m:t>=</m:t>
                    </m:r>
                  </m:oMath>
                </a14:m>
                <a:r>
                  <a:rPr lang="fr-FR" kern="0" dirty="0" smtClean="0"/>
                  <a:t> jusqu’à un milliard de paramètres</a:t>
                </a:r>
                <a:endParaRPr lang="fr-FR" kern="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9512" y="1548725"/>
                <a:ext cx="7834737" cy="370610"/>
              </a:xfrm>
              <a:prstGeom prst="rect">
                <a:avLst/>
              </a:prstGeom>
              <a:blipFill rotWithShape="1">
                <a:blip r:embed="rId3"/>
                <a:stretch>
                  <a:fillRect l="-1167" t="-19672" b="-245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31057" y="2580236"/>
            <a:ext cx="7188506" cy="1323439"/>
          </a:xfrm>
          <a:prstGeom prst="rect">
            <a:avLst/>
          </a:prstGeom>
          <a:solidFill>
            <a:srgbClr val="A1EDA5"/>
          </a:solidFill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 smtClean="0"/>
              <a:t>Backpropagation = </a:t>
            </a:r>
          </a:p>
          <a:p>
            <a:r>
              <a:rPr lang="fr-FR" sz="2000" dirty="0"/>
              <a:t>	</a:t>
            </a:r>
            <a:r>
              <a:rPr lang="fr-FR" sz="2000" dirty="0" smtClean="0"/>
              <a:t>   Newton </a:t>
            </a:r>
          </a:p>
          <a:p>
            <a:r>
              <a:rPr lang="fr-FR" sz="2000" dirty="0"/>
              <a:t>	</a:t>
            </a:r>
            <a:r>
              <a:rPr lang="fr-FR" sz="2000" dirty="0" smtClean="0"/>
              <a:t>+ AD inverse</a:t>
            </a:r>
          </a:p>
          <a:p>
            <a:r>
              <a:rPr lang="fr-FR" sz="2000" dirty="0"/>
              <a:t>	</a:t>
            </a:r>
            <a:r>
              <a:rPr lang="fr-FR" sz="2000" dirty="0" smtClean="0"/>
              <a:t>+ Hypothèse d’</a:t>
            </a:r>
            <a:r>
              <a:rPr lang="fr-FR" sz="2000" dirty="0"/>
              <a:t>é</a:t>
            </a:r>
            <a:r>
              <a:rPr lang="fr-FR" sz="2000" dirty="0" smtClean="0"/>
              <a:t>quipollence sur les paramètres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9512" y="1919335"/>
                <a:ext cx="39485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kern="0" smtClean="0">
                        <a:latin typeface="Cambria Math"/>
                        <a:cs typeface="+mn-cs"/>
                      </a:rPr>
                      <m:t>𝒙</m:t>
                    </m:r>
                  </m:oMath>
                </a14:m>
                <a:r>
                  <a:rPr lang="fr-FR" sz="2000" b="1" kern="0" dirty="0" smtClean="0">
                    <a:latin typeface="+mn-lt"/>
                    <a:cs typeface="+mn-cs"/>
                  </a:rPr>
                  <a:t> </a:t>
                </a:r>
                <a:r>
                  <a:rPr lang="fr-FR" sz="2000" b="1" kern="0" dirty="0">
                    <a:latin typeface="+mn-lt"/>
                    <a:cs typeface="+mn-cs"/>
                  </a:rPr>
                  <a:t>: base </a:t>
                </a:r>
                <a:r>
                  <a:rPr lang="fr-FR" sz="2000" b="1" kern="0" dirty="0" smtClean="0">
                    <a:latin typeface="+mn-lt"/>
                    <a:cs typeface="+mn-cs"/>
                  </a:rPr>
                  <a:t>d’apprentissage  </a:t>
                </a:r>
                <a:endParaRPr lang="fr-FR" sz="2000" b="1" kern="0" dirty="0">
                  <a:latin typeface="+mn-lt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12" y="1919335"/>
                <a:ext cx="3948517" cy="400110"/>
              </a:xfrm>
              <a:prstGeom prst="rect">
                <a:avLst/>
              </a:prstGeom>
              <a:blipFill rotWithShape="1">
                <a:blip r:embed="rId4"/>
                <a:stretch>
                  <a:fillRect t="-7692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01804" y="4134863"/>
                <a:ext cx="6076792" cy="707886"/>
              </a:xfrm>
              <a:prstGeom prst="rect">
                <a:avLst/>
              </a:prstGeom>
              <a:solidFill>
                <a:srgbClr val="FEC2C2"/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Tx/>
                  <a:buChar char="-"/>
                </a:pPr>
                <a:r>
                  <a:rPr lang="fr-FR" sz="2000" dirty="0" smtClean="0"/>
                  <a:t>On ne peut évaluer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/>
                      </a:rPr>
                      <m:t>𝑭</m:t>
                    </m:r>
                    <m:d>
                      <m:dPr>
                        <m:ctrlPr>
                          <a:rPr lang="fr-FR" sz="2000" b="1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/>
                            <a:ea typeface="Cambria Math"/>
                          </a:rPr>
                          <m:t>𝜽</m:t>
                        </m:r>
                      </m:e>
                    </m:d>
                  </m:oMath>
                </a14:m>
                <a:r>
                  <a:rPr lang="fr-FR" sz="2000" dirty="0" smtClean="0"/>
                  <a:t> que partiellement </a:t>
                </a:r>
              </a:p>
              <a:p>
                <a:pPr marL="342900" indent="-342900">
                  <a:buFontTx/>
                  <a:buChar char="-"/>
                </a:pPr>
                <a:r>
                  <a:rPr lang="fr-FR" sz="2000" dirty="0" smtClean="0"/>
                  <a:t>Il faut gérer les minima locaux</a:t>
                </a:r>
                <a:endParaRPr lang="fr-FR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804" y="4134863"/>
                <a:ext cx="6076792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798" t="-2459" b="-1147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185989" y="5047939"/>
            <a:ext cx="5825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Descente de gradient stochastique (SGD) …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703366" y="5387320"/>
                <a:ext cx="5373266" cy="460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smtClean="0"/>
                  <a:t>Régularisation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  </m:t>
                        </m:r>
                        <m:r>
                          <a:rPr lang="fr-FR" i="1">
                            <a:latin typeface="Cambria Math"/>
                            <a:ea typeface="Cambria Math"/>
                          </a:rPr>
                          <m:t>𝕃</m:t>
                        </m:r>
                      </m:e>
                      <m:sup>
                        <m:r>
                          <a:rPr lang="fr-FR" i="1">
                            <a:latin typeface="Cambria Math"/>
                            <a:ea typeface="Cambria Math"/>
                          </a:rPr>
                          <m:t>1</m:t>
                        </m:r>
                      </m:sup>
                    </m:sSup>
                  </m:oMath>
                </a14:m>
                <a:r>
                  <a:rPr lang="fr-FR" sz="2000" dirty="0" smtClean="0"/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/>
                            <a:ea typeface="Cambria Math"/>
                          </a:rPr>
                          <m:t>𝕃</m:t>
                        </m:r>
                      </m:e>
                      <m:sup>
                        <m:r>
                          <a:rPr lang="fr-FR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2000" dirty="0" smtClean="0"/>
                  <a:t>, smart dropout ..</a:t>
                </a:r>
                <a:endParaRPr lang="fr-FR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366" y="5387320"/>
                <a:ext cx="5373266" cy="460575"/>
              </a:xfrm>
              <a:prstGeom prst="rect">
                <a:avLst/>
              </a:prstGeom>
              <a:blipFill rotWithShape="1">
                <a:blip r:embed="rId6"/>
                <a:stretch>
                  <a:fillRect l="-1134" r="-113" b="-2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3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043" y="369029"/>
            <a:ext cx="7631892" cy="4953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Une classification des réseaux neuronaux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7</a:t>
            </a:fld>
            <a:endParaRPr lang="fr-FR" altLang="fr-FR"/>
          </a:p>
        </p:txBody>
      </p:sp>
      <p:pic>
        <p:nvPicPr>
          <p:cNvPr id="1026" name="Picture 2" descr="http://semiengineering.com/wp-content/uploads/2016/09/neuralnetwork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3" y="1014961"/>
            <a:ext cx="3366223" cy="5049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1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Génératif/Discriminatif</a:t>
            </a:r>
            <a:endParaRPr lang="fr-FR" alt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fr-FR" dirty="0"/>
                  <a:t>Avantage du discriminatif</a:t>
                </a:r>
              </a:p>
              <a:p>
                <a:pPr lvl="1"/>
                <a:r>
                  <a:rPr lang="fr-FR" dirty="0"/>
                  <a:t>Réseau est plus facile a mettre en œuvre. Il faut juste calculer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fr-FR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2400" i="1">
                            <a:latin typeface="Cambria Math"/>
                          </a:rPr>
                          <m:t>𝑐𝑙𝑎𝑠𝑠</m:t>
                        </m:r>
                        <m:r>
                          <a:rPr lang="fr-FR" sz="2400" i="1">
                            <a:latin typeface="Cambria Math"/>
                          </a:rPr>
                          <m:t>|</m:t>
                        </m:r>
                        <m:r>
                          <a:rPr lang="fr-FR" sz="2400" b="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 </a:t>
                </a:r>
              </a:p>
              <a:p>
                <a:r>
                  <a:rPr lang="fr-FR" dirty="0"/>
                  <a:t>Avantage du génératif</a:t>
                </a:r>
              </a:p>
              <a:p>
                <a:pPr lvl="1"/>
                <a:r>
                  <a:rPr lang="fr-FR" dirty="0"/>
                  <a:t>Efficience / données. Il est plus facile et robuste de calculer </a:t>
                </a:r>
                <a14:m>
                  <m:oMath xmlns:m="http://schemas.openxmlformats.org/officeDocument/2006/math">
                    <m:r>
                      <a:rPr lang="fr-FR" sz="2400" b="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fr-FR" sz="2400" b="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2400" b="0" i="1">
                            <a:latin typeface="Cambria Math"/>
                          </a:rPr>
                          <m:t>𝑐𝑙𝑎𝑠𝑠</m:t>
                        </m:r>
                        <m:r>
                          <a:rPr lang="fr-FR" sz="2400" b="0" i="1">
                            <a:latin typeface="Cambria Math"/>
                          </a:rPr>
                          <m:t>|</m:t>
                        </m:r>
                        <m:r>
                          <a:rPr lang="fr-FR" sz="2400" b="0" i="1"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fr-FR" dirty="0"/>
                  <a:t> que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fr-FR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2400" i="1">
                            <a:latin typeface="Cambria Math"/>
                          </a:rPr>
                          <m:t>𝑐𝑙𝑎𝑠𝑠</m:t>
                        </m:r>
                        <m:r>
                          <a:rPr lang="fr-FR" sz="2400" i="1">
                            <a:latin typeface="Cambria Math"/>
                          </a:rPr>
                          <m:t>|</m:t>
                        </m:r>
                        <m:r>
                          <a:rPr lang="fr-FR" sz="2400" b="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dirty="0"/>
                  <a:t>.</a:t>
                </a:r>
              </a:p>
              <a:p>
                <a:pPr lvl="1"/>
                <a:r>
                  <a:rPr lang="fr-FR" dirty="0"/>
                  <a:t>On peut vérifier le modèle en regardant les exemples générés.</a:t>
                </a:r>
              </a:p>
              <a:p>
                <a:pPr lvl="1"/>
                <a:r>
                  <a:rPr lang="fr-FR" dirty="0"/>
                  <a:t>Compréhension du modèle: on peut interpoler entre les variable latentes plus surement.</a:t>
                </a: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41" t="-82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8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9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950" y="411274"/>
            <a:ext cx="8064500" cy="4953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2006 l’année miracle pour le </a:t>
            </a:r>
            <a:r>
              <a:rPr lang="fr-FR" dirty="0" err="1" smtClean="0"/>
              <a:t>deep</a:t>
            </a:r>
            <a:r>
              <a:rPr lang="fr-FR" dirty="0" smtClean="0"/>
              <a:t> </a:t>
            </a:r>
            <a:r>
              <a:rPr lang="fr-FR" dirty="0" err="1" smtClean="0"/>
              <a:t>learning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9</a:t>
            </a:fld>
            <a:endParaRPr lang="fr-FR" alt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225" y="1066279"/>
            <a:ext cx="6076950" cy="4562475"/>
          </a:xfrm>
          <a:prstGeom prst="rect">
            <a:avLst/>
          </a:prstGeom>
        </p:spPr>
      </p:pic>
      <p:pic>
        <p:nvPicPr>
          <p:cNvPr id="1026" name="Picture 2" descr="The Trinity of Deep Learn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47762"/>
            <a:ext cx="5715000" cy="470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10288" y="1611579"/>
            <a:ext cx="2565126" cy="46166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Le </a:t>
            </a:r>
            <a:r>
              <a:rPr lang="fr-FR" dirty="0" err="1" smtClean="0"/>
              <a:t>Breaktrough</a:t>
            </a:r>
            <a:endParaRPr lang="fr-F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8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Deepmind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10</a:t>
            </a:fld>
            <a:endParaRPr lang="fr-FR" altLang="fr-F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1209675"/>
            <a:ext cx="27813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4" y="1089436"/>
            <a:ext cx="3460750" cy="1059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279" y="2678454"/>
            <a:ext cx="6139656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01017" y="3159024"/>
            <a:ext cx="3682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Intelligence Artificielle </a:t>
            </a:r>
            <a:r>
              <a:rPr lang="fr-FR" sz="1400" dirty="0" smtClean="0">
                <a:sym typeface="Wingdings" panose="05000000000000000000" pitchFamily="2" charset="2"/>
              </a:rPr>
              <a:t> Neurologie</a:t>
            </a:r>
            <a:endParaRPr lang="fr-FR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60364" y="3855987"/>
            <a:ext cx="4121068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Inventions :</a:t>
            </a:r>
          </a:p>
          <a:p>
            <a:pPr marL="342900" indent="-342900">
              <a:buFontTx/>
              <a:buChar char="-"/>
            </a:pPr>
            <a:r>
              <a:rPr lang="fr-FR" sz="1600" dirty="0" smtClean="0"/>
              <a:t>Machine de </a:t>
            </a:r>
            <a:r>
              <a:rPr lang="fr-FR" sz="1600" dirty="0"/>
              <a:t>T</a:t>
            </a:r>
            <a:r>
              <a:rPr lang="fr-FR" sz="1600" dirty="0" smtClean="0"/>
              <a:t>uring neuronale</a:t>
            </a:r>
          </a:p>
          <a:p>
            <a:pPr marL="342900" indent="-342900">
              <a:buFontTx/>
              <a:buChar char="-"/>
            </a:pPr>
            <a:r>
              <a:rPr lang="fr-FR" sz="1600" dirty="0" err="1" smtClean="0"/>
              <a:t>Deep</a:t>
            </a:r>
            <a:r>
              <a:rPr lang="fr-FR" sz="1600" dirty="0" smtClean="0"/>
              <a:t> </a:t>
            </a:r>
            <a:r>
              <a:rPr lang="fr-FR" sz="1600" dirty="0" err="1" smtClean="0"/>
              <a:t>Reinforcement</a:t>
            </a:r>
            <a:r>
              <a:rPr lang="fr-FR" sz="1600" dirty="0" smtClean="0"/>
              <a:t> </a:t>
            </a:r>
            <a:r>
              <a:rPr lang="fr-FR" sz="1600" dirty="0" err="1" smtClean="0"/>
              <a:t>learning</a:t>
            </a:r>
            <a:endParaRPr lang="fr-FR" sz="1600" dirty="0" smtClean="0"/>
          </a:p>
          <a:p>
            <a:pPr marL="342900" indent="-342900">
              <a:buFontTx/>
              <a:buChar char="-"/>
            </a:pPr>
            <a:r>
              <a:rPr lang="fr-FR" sz="1600" dirty="0" smtClean="0"/>
              <a:t>Learning </a:t>
            </a:r>
            <a:r>
              <a:rPr lang="fr-FR" sz="1600" dirty="0" err="1" smtClean="0"/>
              <a:t>learning</a:t>
            </a:r>
            <a:endParaRPr lang="fr-FR" sz="1600" dirty="0" smtClean="0"/>
          </a:p>
          <a:p>
            <a:pPr marL="342900" indent="-342900">
              <a:buFontTx/>
              <a:buChar char="-"/>
            </a:pPr>
            <a:r>
              <a:rPr lang="fr-FR" sz="1600" dirty="0" err="1" smtClean="0"/>
              <a:t>Alphago</a:t>
            </a:r>
            <a:endParaRPr lang="fr-FR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913252" y="5308301"/>
            <a:ext cx="1890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=&gt; Sonnet</a:t>
            </a:r>
            <a:endParaRPr lang="fr-FR" dirty="0"/>
          </a:p>
        </p:txBody>
      </p:sp>
      <p:pic>
        <p:nvPicPr>
          <p:cNvPr id="5126" name="Picture 6" descr="Résultat de recherche d'images pour &quot;Demis Hassabis&quot;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907" y="3159024"/>
            <a:ext cx="2218010" cy="152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5541366"/>
            <a:ext cx="3448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728263"/>
            <a:ext cx="2190750" cy="1696933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990" y="1952625"/>
            <a:ext cx="4366419" cy="62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6458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parole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11</a:t>
            </a:fld>
            <a:endParaRPr lang="fr-FR" altLang="fr-FR"/>
          </a:p>
        </p:txBody>
      </p:sp>
      <p:pic>
        <p:nvPicPr>
          <p:cNvPr id="6" name="Picture 2" descr="https://faceapps.net/dragon/facebook_promotion/images/header-b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64" y="1102552"/>
            <a:ext cx="3133725" cy="32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peech Recongition Dev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7804" y="1067181"/>
            <a:ext cx="333375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[Hybrid Speech Recognition Block Diagram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420" y="3763019"/>
            <a:ext cx="4886325" cy="20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peech recogni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590" y="4033549"/>
            <a:ext cx="2139330" cy="168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410701" y="5723493"/>
            <a:ext cx="2185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Shoebox</a:t>
            </a:r>
            <a:r>
              <a:rPr lang="fr-FR" sz="1400" dirty="0"/>
              <a:t>,  1960 (IBM)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2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404813"/>
            <a:ext cx="8064500" cy="4953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Etat de l’art en reconnaissance de la parole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12</a:t>
            </a:fld>
            <a:endParaRPr lang="fr-FR" alt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46" y="1317939"/>
            <a:ext cx="4342834" cy="400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848" y="2089797"/>
            <a:ext cx="2963867" cy="246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4808192"/>
            <a:ext cx="36480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 bwMode="auto">
          <a:xfrm>
            <a:off x="5866646" y="5226873"/>
            <a:ext cx="407405" cy="201440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74" y="1164030"/>
            <a:ext cx="3376867" cy="89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5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Résultat de recherche d'images pour &quot;alphag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21" y="3065760"/>
            <a:ext cx="5685764" cy="288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Alphago</a:t>
            </a:r>
            <a:r>
              <a:rPr lang="fr-FR" dirty="0" smtClean="0"/>
              <a:t> (5 avril 2017) 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13</a:t>
            </a:fld>
            <a:endParaRPr lang="fr-FR" altLang="fr-FR"/>
          </a:p>
        </p:txBody>
      </p:sp>
      <p:pic>
        <p:nvPicPr>
          <p:cNvPr id="4100" name="Picture 4" descr="Résultat de recherche d'images pour &quot;alphago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113" y="3929204"/>
            <a:ext cx="2651737" cy="148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ésultat de recherche d'images pour &quot;alphago&quot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787" y="1024549"/>
            <a:ext cx="3075617" cy="215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ttps://encrypted-tbn2.gstatic.com/images?q=tbn:ANd9GcRNnAg1eeB4gPFKObE7lGSCTTtdq7nvttZv6WBzpFoLrvDumNWV3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502" y="2200883"/>
            <a:ext cx="1299678" cy="864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774" y="1024549"/>
            <a:ext cx="3290490" cy="1119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 descr="Résultat de recherche d'images pour &quot;alphago&quot;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24549"/>
            <a:ext cx="3307973" cy="189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/>
          <p:cNvSpPr/>
          <p:nvPr/>
        </p:nvSpPr>
        <p:spPr bwMode="auto">
          <a:xfrm>
            <a:off x="3596786" y="3521797"/>
            <a:ext cx="938999" cy="488887"/>
          </a:xfrm>
          <a:prstGeom prst="ellipse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3596785" y="4018057"/>
            <a:ext cx="938999" cy="488887"/>
          </a:xfrm>
          <a:prstGeom prst="ellipse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85164" y="3343466"/>
            <a:ext cx="2515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Apprentissage profond</a:t>
            </a:r>
            <a:endParaRPr lang="fr-FR" sz="1600" dirty="0"/>
          </a:p>
        </p:txBody>
      </p:sp>
      <p:cxnSp>
        <p:nvCxnSpPr>
          <p:cNvPr id="9" name="Straight Arrow Connector 8"/>
          <p:cNvCxnSpPr>
            <a:endCxn id="6" idx="6"/>
          </p:cNvCxnSpPr>
          <p:nvPr/>
        </p:nvCxnSpPr>
        <p:spPr bwMode="auto">
          <a:xfrm flipH="1">
            <a:off x="4535785" y="3521797"/>
            <a:ext cx="1249379" cy="2444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endCxn id="13" idx="6"/>
          </p:cNvCxnSpPr>
          <p:nvPr/>
        </p:nvCxnSpPr>
        <p:spPr bwMode="auto">
          <a:xfrm flipH="1">
            <a:off x="4535784" y="3521797"/>
            <a:ext cx="1249380" cy="7407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4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L’IA dans les jeu pour arcade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14</a:t>
            </a:fld>
            <a:endParaRPr lang="fr-FR" altLang="fr-F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436" y="1133618"/>
            <a:ext cx="6274052" cy="950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72042"/>
            <a:ext cx="5417037" cy="3361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 descr="Résultat de recherche d'images pour &quot;space invaders dqn&quot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275" y="2356903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Résultat de recherche d'images pour &quot;space invaders dqn&quot;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639" y="3787005"/>
            <a:ext cx="2619375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Résultat de recherche d'images pour &quot;space invaders dqn&quot;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900113"/>
            <a:ext cx="2184661" cy="127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891157" y="5701837"/>
            <a:ext cx="7499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Achetée par Google </a:t>
            </a:r>
            <a:r>
              <a:rPr lang="fr-FR" sz="1600" dirty="0"/>
              <a:t>le 26 janvier </a:t>
            </a:r>
            <a:r>
              <a:rPr lang="fr-FR" sz="1600" dirty="0" smtClean="0"/>
              <a:t>2014 </a:t>
            </a:r>
            <a:r>
              <a:rPr lang="fr-FR" sz="1600" dirty="0"/>
              <a:t>pour plus de 628 millions </a:t>
            </a:r>
            <a:r>
              <a:rPr lang="fr-FR" sz="1600" dirty="0" smtClean="0"/>
              <a:t>de $</a:t>
            </a:r>
            <a:endParaRPr lang="fr-FR" sz="1600" dirty="0"/>
          </a:p>
        </p:txBody>
      </p:sp>
      <p:pic>
        <p:nvPicPr>
          <p:cNvPr id="6157" name="Picture 13" descr="Résultat de recherche d'images pour &quot;deepmind&quot;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00" y="5658728"/>
            <a:ext cx="1597657" cy="38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8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L’IA dans le diagnostique du cancer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15</a:t>
            </a:fld>
            <a:endParaRPr lang="fr-FR" alt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93" y="1112256"/>
            <a:ext cx="6987442" cy="1277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 descr="https://9to5google.files.wordpress.com/2017/03/image01.png?w=1600&amp;h=10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200" y="2488995"/>
            <a:ext cx="4330541" cy="218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78" y="3580291"/>
            <a:ext cx="4625330" cy="2261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 bwMode="auto">
          <a:xfrm>
            <a:off x="4390014" y="4979406"/>
            <a:ext cx="344948" cy="144855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4796" y="5133314"/>
            <a:ext cx="3889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u="sng" dirty="0" smtClean="0"/>
              <a:t>99.4 % de précision </a:t>
            </a:r>
            <a:r>
              <a:rPr lang="fr-FR" dirty="0" smtClean="0"/>
              <a:t>!</a:t>
            </a:r>
            <a:endParaRPr lang="fr-FR" dirty="0"/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 bwMode="auto">
          <a:xfrm flipH="1" flipV="1">
            <a:off x="4734962" y="5051833"/>
            <a:ext cx="479834" cy="3123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78" y="2181225"/>
            <a:ext cx="2633663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4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99" y="1176810"/>
            <a:ext cx="6198401" cy="969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Lecture des panneaux routiers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16</a:t>
            </a:fld>
            <a:endParaRPr lang="fr-FR" altLang="fr-FR"/>
          </a:p>
        </p:txBody>
      </p:sp>
      <p:pic>
        <p:nvPicPr>
          <p:cNvPr id="3076" name="Picture 4" descr="Résultat de recherche d'images pour &quot;neural network road sign recognition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490080"/>
            <a:ext cx="6076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utomated Traffic Sign Recognition System For Indian Road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112" y="2296704"/>
            <a:ext cx="2743138" cy="146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associé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368" y="3940552"/>
            <a:ext cx="2731269" cy="1681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/>
          <p:cNvSpPr/>
          <p:nvPr/>
        </p:nvSpPr>
        <p:spPr bwMode="auto">
          <a:xfrm>
            <a:off x="5441133" y="1511929"/>
            <a:ext cx="688063" cy="298764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311244" y="1851573"/>
            <a:ext cx="688063" cy="29876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7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« monocouches »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17</a:t>
            </a:fld>
            <a:endParaRPr lang="fr-FR" altLang="fr-F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38" y="2481182"/>
            <a:ext cx="2505100" cy="532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930" y="2635173"/>
            <a:ext cx="1371216" cy="752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https://upload.wikimedia.org/wikipedia/commons/0/06/AutoEncod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620" y="4839722"/>
            <a:ext cx="1724876" cy="969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427349" y="3145773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dirty="0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3538" y="3408778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dirty="0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715" y="2427442"/>
            <a:ext cx="4876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dirty="0">
                <a:solidFill>
                  <a:srgbClr val="00B050"/>
                </a:solidFill>
              </a:rPr>
              <a:t>Hidden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520" y="2495232"/>
            <a:ext cx="4876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dirty="0">
                <a:solidFill>
                  <a:srgbClr val="00B050"/>
                </a:solidFill>
              </a:rPr>
              <a:t>Hidden</a:t>
            </a:r>
          </a:p>
        </p:txBody>
      </p:sp>
      <p:sp>
        <p:nvSpPr>
          <p:cNvPr id="13" name="Oval 12"/>
          <p:cNvSpPr/>
          <p:nvPr/>
        </p:nvSpPr>
        <p:spPr>
          <a:xfrm>
            <a:off x="2987838" y="3493836"/>
            <a:ext cx="3266313" cy="158417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Autoencodeur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3158" y="4578112"/>
            <a:ext cx="255628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1800000" rev="2400000"/>
              </a:camera>
              <a:lightRig rig="threePt" dir="t">
                <a:rot lat="0" lon="0" rev="2400000"/>
              </a:lightRig>
            </a:scene3d>
            <a:sp3d extrusionH="31750" contourW="19050" prstMaterial="clear">
              <a:bevelT w="38100" h="101600"/>
              <a:bevelB w="31750" h="31750"/>
              <a:extrusionClr>
                <a:schemeClr val="tx2">
                  <a:lumMod val="40000"/>
                  <a:lumOff val="60000"/>
                </a:schemeClr>
              </a:extrusionClr>
              <a:contourClr>
                <a:srgbClr val="FF0000"/>
              </a:contourClr>
            </a:sp3d>
          </a:bodyPr>
          <a:lstStyle/>
          <a:p>
            <a:r>
              <a:rPr lang="fr-FR" sz="2800" dirty="0"/>
              <a:t>Compresseur</a:t>
            </a:r>
          </a:p>
        </p:txBody>
      </p:sp>
      <p:sp>
        <p:nvSpPr>
          <p:cNvPr id="15" name="Oval 14"/>
          <p:cNvSpPr/>
          <p:nvPr/>
        </p:nvSpPr>
        <p:spPr>
          <a:xfrm>
            <a:off x="1202818" y="973556"/>
            <a:ext cx="2736304" cy="158417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HMM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203" y="2007359"/>
            <a:ext cx="2998973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1800000" rev="2400000"/>
              </a:camera>
              <a:lightRig rig="threePt" dir="t">
                <a:rot lat="0" lon="0" rev="2400000"/>
              </a:lightRig>
            </a:scene3d>
            <a:sp3d extrusionH="31750" contourW="19050" prstMaterial="clear">
              <a:bevelT w="38100" h="101600"/>
              <a:bevelB w="31750" h="31750"/>
              <a:extrusionClr>
                <a:schemeClr val="tx2">
                  <a:lumMod val="40000"/>
                  <a:lumOff val="60000"/>
                </a:schemeClr>
              </a:extrusionClr>
              <a:contourClr>
                <a:srgbClr val="FF0000"/>
              </a:contourClr>
            </a:sp3d>
          </a:bodyPr>
          <a:lstStyle/>
          <a:p>
            <a:r>
              <a:rPr lang="fr-FR" sz="2800" dirty="0"/>
              <a:t>Discriminateur</a:t>
            </a:r>
          </a:p>
        </p:txBody>
      </p:sp>
      <p:sp>
        <p:nvSpPr>
          <p:cNvPr id="17" name="Oval 16"/>
          <p:cNvSpPr/>
          <p:nvPr/>
        </p:nvSpPr>
        <p:spPr>
          <a:xfrm>
            <a:off x="5523298" y="1125956"/>
            <a:ext cx="2736304" cy="158417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RBM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362" y="2116569"/>
            <a:ext cx="2389030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1800000" rev="2400000"/>
              </a:camera>
              <a:lightRig rig="threePt" dir="t">
                <a:rot lat="0" lon="0" rev="2400000"/>
              </a:lightRig>
            </a:scene3d>
            <a:sp3d extrusionH="31750" contourW="19050" prstMaterial="clear">
              <a:bevelT w="38100" h="101600"/>
              <a:bevelB w="31750" h="31750"/>
              <a:extrusionClr>
                <a:schemeClr val="tx2">
                  <a:lumMod val="40000"/>
                  <a:lumOff val="60000"/>
                </a:schemeClr>
              </a:extrusionClr>
              <a:contourClr>
                <a:srgbClr val="FF0000"/>
              </a:contourClr>
            </a:sp3d>
          </a:bodyPr>
          <a:lstStyle/>
          <a:p>
            <a:r>
              <a:rPr lang="fr-FR" sz="2800" dirty="0"/>
              <a:t>Générateur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9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Plusieurs types de réseaux profonds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18</a:t>
            </a:fld>
            <a:endParaRPr lang="fr-FR" altLang="fr-FR" dirty="0"/>
          </a:p>
        </p:txBody>
      </p:sp>
      <p:pic>
        <p:nvPicPr>
          <p:cNvPr id="15" name="Picture 6" descr="Résultat de recherche d'images pour &quot;convnet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39" y="2649836"/>
            <a:ext cx="3064747" cy="86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213" y="5013748"/>
            <a:ext cx="3019318" cy="93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3419872" y="3717032"/>
            <a:ext cx="2736304" cy="172819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RNN</a:t>
            </a: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651" y="2425332"/>
            <a:ext cx="957263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Oval 18"/>
          <p:cNvSpPr/>
          <p:nvPr/>
        </p:nvSpPr>
        <p:spPr>
          <a:xfrm>
            <a:off x="1259632" y="1052736"/>
            <a:ext cx="2736304" cy="172819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Convnet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5148064" y="1052736"/>
            <a:ext cx="2736304" cy="172819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DBN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7784" y="2204864"/>
            <a:ext cx="1902902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1800000" rev="2400000"/>
              </a:camera>
              <a:lightRig rig="threePt" dir="t">
                <a:rot lat="0" lon="0" rev="2400000"/>
              </a:lightRig>
            </a:scene3d>
            <a:sp3d extrusionH="31750" contourW="19050" prstMaterial="clear">
              <a:bevelT w="38100" h="101600"/>
              <a:bevelB w="31750" h="31750"/>
              <a:extrusionClr>
                <a:schemeClr val="tx2">
                  <a:lumMod val="40000"/>
                  <a:lumOff val="60000"/>
                </a:schemeClr>
              </a:extrusionClr>
              <a:contourClr>
                <a:srgbClr val="FF0000"/>
              </a:contourClr>
            </a:sp3d>
          </a:bodyPr>
          <a:lstStyle/>
          <a:p>
            <a:r>
              <a:rPr lang="fr-FR" sz="2800" dirty="0"/>
              <a:t>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0350" y="2017353"/>
            <a:ext cx="3104682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1800000" rev="2400000"/>
              </a:camera>
              <a:lightRig rig="threePt" dir="t">
                <a:rot lat="0" lon="0" rev="2400000"/>
              </a:lightRig>
            </a:scene3d>
            <a:sp3d extrusionH="31750" contourW="19050" prstMaterial="clear">
              <a:bevelT w="38100" h="101600"/>
              <a:bevelB w="31750" h="31750"/>
              <a:extrusionClr>
                <a:schemeClr val="tx2">
                  <a:lumMod val="40000"/>
                  <a:lumOff val="60000"/>
                </a:schemeClr>
              </a:extrusionClr>
              <a:contourClr>
                <a:srgbClr val="FF0000"/>
              </a:contourClr>
            </a:sp3d>
          </a:bodyPr>
          <a:lstStyle/>
          <a:p>
            <a:r>
              <a:rPr lang="fr-FR" sz="2800" dirty="0"/>
              <a:t>Training itératif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0200" y="4581128"/>
            <a:ext cx="3538736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1800000" rev="2400000"/>
              </a:camera>
              <a:lightRig rig="threePt" dir="t">
                <a:rot lat="0" lon="0" rev="2400000"/>
              </a:lightRig>
            </a:scene3d>
            <a:sp3d extrusionH="31750" contourW="19050" prstMaterial="clear">
              <a:bevelT w="38100" h="101600"/>
              <a:bevelB w="31750" h="31750"/>
              <a:extrusionClr>
                <a:schemeClr val="tx2">
                  <a:lumMod val="40000"/>
                  <a:lumOff val="60000"/>
                </a:schemeClr>
              </a:extrusionClr>
              <a:contourClr>
                <a:srgbClr val="FF0000"/>
              </a:contourClr>
            </a:sp3d>
          </a:bodyPr>
          <a:lstStyle/>
          <a:p>
            <a:r>
              <a:rPr lang="fr-FR" sz="2800" dirty="0"/>
              <a:t>Langage naturel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différentes représentation d’un RNN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19</a:t>
            </a:fld>
            <a:endParaRPr lang="fr-FR" altLang="fr-FR" dirty="0"/>
          </a:p>
        </p:txBody>
      </p:sp>
      <p:pic>
        <p:nvPicPr>
          <p:cNvPr id="14" name="Picture 6" descr="Résultat de recherche d'images pour &quot;temporal structure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550" y="3604089"/>
            <a:ext cx="2865813" cy="242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Résultat de recherche d'images pour &quot;conceptual hierarchy structure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398" y="2392747"/>
            <a:ext cx="2604977" cy="337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Résultat de recherche d'images pour &quot;language hierarchy structure&quot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85" y="3231884"/>
            <a:ext cx="3004278" cy="169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val 25"/>
          <p:cNvSpPr/>
          <p:nvPr/>
        </p:nvSpPr>
        <p:spPr bwMode="auto">
          <a:xfrm rot="16200000">
            <a:off x="2073176" y="2903292"/>
            <a:ext cx="4398708" cy="1129641"/>
          </a:xfrm>
          <a:prstGeom prst="ellipse">
            <a:avLst/>
          </a:prstGeom>
          <a:solidFill>
            <a:srgbClr val="D4A6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Structure temporelle</a:t>
            </a:r>
          </a:p>
        </p:txBody>
      </p:sp>
      <p:sp>
        <p:nvSpPr>
          <p:cNvPr id="27" name="Oval 26"/>
          <p:cNvSpPr/>
          <p:nvPr/>
        </p:nvSpPr>
        <p:spPr bwMode="auto">
          <a:xfrm rot="2580000">
            <a:off x="3279611" y="2442775"/>
            <a:ext cx="4928397" cy="1129641"/>
          </a:xfrm>
          <a:prstGeom prst="ellipse">
            <a:avLst/>
          </a:prstGeom>
          <a:solidFill>
            <a:srgbClr val="F4788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Structure conceptuelle</a:t>
            </a:r>
          </a:p>
        </p:txBody>
      </p:sp>
      <p:sp>
        <p:nvSpPr>
          <p:cNvPr id="28" name="Oval 27"/>
          <p:cNvSpPr/>
          <p:nvPr/>
        </p:nvSpPr>
        <p:spPr bwMode="auto">
          <a:xfrm rot="-3060000">
            <a:off x="251522" y="2657702"/>
            <a:ext cx="5034465" cy="1129641"/>
          </a:xfrm>
          <a:prstGeom prst="ellipse">
            <a:avLst/>
          </a:prstGeom>
          <a:solidFill>
            <a:srgbClr val="F0A2D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Structure langagière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5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Labélisation des images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20</a:t>
            </a:fld>
            <a:endParaRPr lang="fr-FR" altLang="fr-FR" dirty="0"/>
          </a:p>
        </p:txBody>
      </p:sp>
      <p:pic>
        <p:nvPicPr>
          <p:cNvPr id="7" name="Picture 2" descr="E:\DDisk\BenchMarks_AI\image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35157"/>
            <a:ext cx="8532440" cy="346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6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Traduction automatique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051" y="1695281"/>
            <a:ext cx="8064500" cy="4851400"/>
          </a:xfrm>
        </p:spPr>
        <p:txBody>
          <a:bodyPr>
            <a:normAutofit/>
          </a:bodyPr>
          <a:lstStyle/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</a:t>
            </a:r>
            <a:r>
              <a:rPr lang="fr-FR" sz="1600" dirty="0"/>
              <a:t>: Nous sommes heureux que la FAA reconnaisse que « une </a:t>
            </a:r>
            <a:r>
              <a:rPr lang="fr-FR" sz="1600" dirty="0" err="1"/>
              <a:t>experience</a:t>
            </a:r>
            <a:r>
              <a:rPr lang="fr-FR" sz="1600" dirty="0"/>
              <a:t> passager agréable » n’est pas incompatible avec la </a:t>
            </a:r>
            <a:r>
              <a:rPr lang="fr-FR" sz="1600" dirty="0" err="1"/>
              <a:t>securité</a:t>
            </a:r>
            <a:r>
              <a:rPr lang="fr-FR" sz="1600" dirty="0"/>
              <a:t>, a </a:t>
            </a:r>
            <a:r>
              <a:rPr lang="fr-FR" sz="1600" dirty="0" err="1"/>
              <a:t>declaré</a:t>
            </a:r>
            <a:r>
              <a:rPr lang="fr-FR" sz="1600" dirty="0"/>
              <a:t> Roger Dow, </a:t>
            </a:r>
            <a:r>
              <a:rPr lang="fr-FR" sz="1600" dirty="0" err="1"/>
              <a:t>President</a:t>
            </a:r>
            <a:r>
              <a:rPr lang="fr-FR" sz="1600" dirty="0"/>
              <a:t> et Directeur de la « US </a:t>
            </a:r>
            <a:r>
              <a:rPr lang="fr-FR" sz="1600" dirty="0" err="1"/>
              <a:t>Travel</a:t>
            </a:r>
            <a:r>
              <a:rPr lang="fr-FR" sz="1600" dirty="0"/>
              <a:t> association » .</a:t>
            </a:r>
          </a:p>
          <a:p>
            <a:pPr marL="0" indent="0">
              <a:buNone/>
            </a:pPr>
            <a:endParaRPr lang="fr-FR" sz="1600" dirty="0"/>
          </a:p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Translate  </a:t>
            </a:r>
            <a:r>
              <a:rPr lang="fr-FR" sz="1600" dirty="0"/>
              <a:t>: ``</a:t>
            </a:r>
            <a:r>
              <a:rPr lang="fr-FR" sz="1600" dirty="0" err="1"/>
              <a:t>We</a:t>
            </a:r>
            <a:r>
              <a:rPr lang="fr-FR" sz="1600" dirty="0"/>
              <a:t> are </a:t>
            </a:r>
            <a:r>
              <a:rPr lang="fr-FR" sz="1600" dirty="0" err="1"/>
              <a:t>pleased</a:t>
            </a:r>
            <a:r>
              <a:rPr lang="fr-FR" sz="1600" dirty="0"/>
              <a:t> </a:t>
            </a:r>
            <a:r>
              <a:rPr lang="fr-FR" sz="1600" dirty="0" err="1"/>
              <a:t>that</a:t>
            </a:r>
            <a:r>
              <a:rPr lang="fr-FR" sz="1600" dirty="0"/>
              <a:t> the FAA </a:t>
            </a:r>
            <a:r>
              <a:rPr lang="fr-FR" sz="1600" dirty="0" err="1"/>
              <a:t>recognizes</a:t>
            </a:r>
            <a:r>
              <a:rPr lang="fr-FR" sz="1600" dirty="0"/>
              <a:t> </a:t>
            </a:r>
            <a:r>
              <a:rPr lang="fr-FR" sz="1600" dirty="0" err="1"/>
              <a:t>that</a:t>
            </a:r>
            <a:r>
              <a:rPr lang="fr-FR" sz="1600" dirty="0"/>
              <a:t> a </a:t>
            </a:r>
            <a:r>
              <a:rPr lang="fr-FR" sz="1600" dirty="0" err="1"/>
              <a:t>pleasant</a:t>
            </a:r>
            <a:r>
              <a:rPr lang="fr-FR" sz="1600" dirty="0"/>
              <a:t> </a:t>
            </a:r>
            <a:r>
              <a:rPr lang="fr-FR" sz="1600" dirty="0" err="1"/>
              <a:t>passenger</a:t>
            </a:r>
            <a:r>
              <a:rPr lang="fr-FR" sz="1600" dirty="0"/>
              <a:t> </a:t>
            </a:r>
            <a:r>
              <a:rPr lang="fr-FR" sz="1600" dirty="0" err="1"/>
              <a:t>experience</a:t>
            </a:r>
            <a:r>
              <a:rPr lang="fr-FR" sz="1600" dirty="0"/>
              <a:t> </a:t>
            </a:r>
            <a:r>
              <a:rPr lang="fr-FR" sz="1600" dirty="0" err="1"/>
              <a:t>is</a:t>
            </a:r>
            <a:r>
              <a:rPr lang="fr-FR" sz="1600" dirty="0"/>
              <a:t> not incompatible </a:t>
            </a:r>
            <a:r>
              <a:rPr lang="fr-FR" sz="1600" dirty="0" err="1"/>
              <a:t>with</a:t>
            </a:r>
            <a:r>
              <a:rPr lang="fr-FR" sz="1600" dirty="0"/>
              <a:t> </a:t>
            </a:r>
            <a:r>
              <a:rPr lang="fr-FR" sz="1600" dirty="0" err="1"/>
              <a:t>safety</a:t>
            </a:r>
            <a:r>
              <a:rPr lang="fr-FR" sz="1600" dirty="0"/>
              <a:t> ‘’, </a:t>
            </a:r>
            <a:r>
              <a:rPr lang="fr-FR" sz="1600" dirty="0" err="1"/>
              <a:t>said</a:t>
            </a:r>
            <a:r>
              <a:rPr lang="fr-FR" sz="1600" dirty="0"/>
              <a:t> Roger Dow, </a:t>
            </a:r>
            <a:r>
              <a:rPr lang="fr-FR" sz="1600" dirty="0" err="1"/>
              <a:t>president</a:t>
            </a:r>
            <a:r>
              <a:rPr lang="fr-FR" sz="1600" dirty="0"/>
              <a:t> and </a:t>
            </a:r>
            <a:r>
              <a:rPr lang="fr-FR" sz="1600" dirty="0" err="1"/>
              <a:t>director</a:t>
            </a:r>
            <a:r>
              <a:rPr lang="fr-FR" sz="1600" dirty="0"/>
              <a:t> of the US </a:t>
            </a:r>
            <a:r>
              <a:rPr lang="fr-FR" sz="1600" dirty="0" err="1"/>
              <a:t>Travel</a:t>
            </a:r>
            <a:r>
              <a:rPr lang="fr-FR" sz="1600" dirty="0"/>
              <a:t> Association.</a:t>
            </a:r>
          </a:p>
          <a:p>
            <a:pPr marL="0" indent="0">
              <a:buNone/>
            </a:pPr>
            <a:endParaRPr lang="fr-FR" sz="1600" dirty="0"/>
          </a:p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LSTM</a:t>
            </a:r>
            <a:r>
              <a:rPr lang="fr-FR" sz="1600" dirty="0"/>
              <a:t> : ``</a:t>
            </a:r>
            <a:r>
              <a:rPr lang="fr-FR" sz="1600" dirty="0" err="1"/>
              <a:t>We</a:t>
            </a:r>
            <a:r>
              <a:rPr lang="fr-FR" sz="1600" dirty="0"/>
              <a:t> are </a:t>
            </a:r>
            <a:r>
              <a:rPr lang="fr-FR" sz="1600" dirty="0" err="1"/>
              <a:t>pleased</a:t>
            </a:r>
            <a:r>
              <a:rPr lang="fr-FR" sz="1600" dirty="0"/>
              <a:t> </a:t>
            </a:r>
            <a:r>
              <a:rPr lang="fr-FR" sz="1600" dirty="0" err="1"/>
              <a:t>that</a:t>
            </a:r>
            <a:r>
              <a:rPr lang="fr-FR" sz="1600" dirty="0"/>
              <a:t> the FAA </a:t>
            </a:r>
            <a:r>
              <a:rPr lang="fr-FR" sz="1600" dirty="0" err="1"/>
              <a:t>recognizes</a:t>
            </a:r>
            <a:r>
              <a:rPr lang="fr-FR" sz="1600" dirty="0"/>
              <a:t> </a:t>
            </a:r>
            <a:r>
              <a:rPr lang="fr-FR" sz="1600" dirty="0" err="1"/>
              <a:t>that</a:t>
            </a:r>
            <a:r>
              <a:rPr lang="fr-FR" sz="1600" dirty="0"/>
              <a:t> a </a:t>
            </a:r>
            <a:r>
              <a:rPr lang="fr-FR" sz="1600" dirty="0" err="1"/>
              <a:t>pleasant</a:t>
            </a:r>
            <a:r>
              <a:rPr lang="fr-FR" sz="1600" dirty="0"/>
              <a:t> </a:t>
            </a:r>
            <a:r>
              <a:rPr lang="fr-FR" sz="1600" dirty="0" err="1"/>
              <a:t>passenger</a:t>
            </a:r>
            <a:r>
              <a:rPr lang="fr-FR" sz="1600" dirty="0"/>
              <a:t> </a:t>
            </a:r>
            <a:r>
              <a:rPr lang="fr-FR" sz="1600" dirty="0" err="1"/>
              <a:t>experience</a:t>
            </a:r>
            <a:r>
              <a:rPr lang="fr-FR" sz="1600" dirty="0"/>
              <a:t> </a:t>
            </a:r>
            <a:r>
              <a:rPr lang="fr-FR" sz="1600" dirty="0" err="1"/>
              <a:t>is</a:t>
            </a:r>
            <a:r>
              <a:rPr lang="fr-FR" sz="1600" dirty="0"/>
              <a:t> not incompatible </a:t>
            </a:r>
            <a:r>
              <a:rPr lang="fr-FR" sz="1600" dirty="0" err="1"/>
              <a:t>with</a:t>
            </a:r>
            <a:r>
              <a:rPr lang="fr-FR" sz="1600" dirty="0"/>
              <a:t> </a:t>
            </a:r>
            <a:r>
              <a:rPr lang="fr-FR" sz="1600" dirty="0" err="1"/>
              <a:t>security</a:t>
            </a:r>
            <a:r>
              <a:rPr lang="fr-FR" sz="1600" dirty="0"/>
              <a:t>‘’, </a:t>
            </a:r>
            <a:r>
              <a:rPr lang="fr-FR" sz="1600" dirty="0" err="1"/>
              <a:t>said</a:t>
            </a:r>
            <a:r>
              <a:rPr lang="fr-FR" sz="1600" dirty="0"/>
              <a:t> Roger Dow, </a:t>
            </a:r>
            <a:r>
              <a:rPr lang="fr-FR" sz="1600" b="1" u="sng" dirty="0"/>
              <a:t>CEO</a:t>
            </a:r>
            <a:r>
              <a:rPr lang="fr-FR" sz="1600" dirty="0"/>
              <a:t> of the US </a:t>
            </a:r>
            <a:r>
              <a:rPr lang="fr-FR" sz="1600" dirty="0" err="1"/>
              <a:t>Travel</a:t>
            </a:r>
            <a:r>
              <a:rPr lang="fr-FR" sz="1600" dirty="0"/>
              <a:t> Association.</a:t>
            </a:r>
          </a:p>
          <a:p>
            <a:pPr marL="0" indent="0">
              <a:buNone/>
            </a:pPr>
            <a:endParaRPr lang="fr-FR" sz="1600" dirty="0"/>
          </a:p>
          <a:p>
            <a:r>
              <a:rPr lang="fr-FR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Truth</a:t>
            </a:r>
            <a:r>
              <a:rPr lang="fr-FR" sz="1600" dirty="0"/>
              <a:t> : ``</a:t>
            </a:r>
            <a:r>
              <a:rPr lang="fr-FR" sz="1600" dirty="0" err="1"/>
              <a:t>We</a:t>
            </a:r>
            <a:r>
              <a:rPr lang="fr-FR" sz="1600" dirty="0"/>
              <a:t> are </a:t>
            </a:r>
            <a:r>
              <a:rPr lang="fr-FR" sz="1600" dirty="0" err="1"/>
              <a:t>pleased</a:t>
            </a:r>
            <a:r>
              <a:rPr lang="fr-FR" sz="1600" dirty="0"/>
              <a:t> </a:t>
            </a:r>
            <a:r>
              <a:rPr lang="fr-FR" sz="1600" dirty="0" err="1"/>
              <a:t>that</a:t>
            </a:r>
            <a:r>
              <a:rPr lang="fr-FR" sz="1600" dirty="0"/>
              <a:t> the FAA </a:t>
            </a:r>
            <a:r>
              <a:rPr lang="fr-FR" sz="1600" dirty="0" err="1"/>
              <a:t>recognizes</a:t>
            </a:r>
            <a:r>
              <a:rPr lang="fr-FR" sz="1600" dirty="0"/>
              <a:t> </a:t>
            </a:r>
            <a:r>
              <a:rPr lang="fr-FR" sz="1600" dirty="0" err="1"/>
              <a:t>that</a:t>
            </a:r>
            <a:r>
              <a:rPr lang="fr-FR" sz="1600" dirty="0"/>
              <a:t> a </a:t>
            </a:r>
            <a:r>
              <a:rPr lang="fr-FR" sz="1600" dirty="0" err="1"/>
              <a:t>pleasant</a:t>
            </a:r>
            <a:r>
              <a:rPr lang="fr-FR" sz="1600" dirty="0"/>
              <a:t> </a:t>
            </a:r>
            <a:r>
              <a:rPr lang="fr-FR" sz="1600" dirty="0" err="1"/>
              <a:t>passenger</a:t>
            </a:r>
            <a:r>
              <a:rPr lang="fr-FR" sz="1600" dirty="0"/>
              <a:t> </a:t>
            </a:r>
            <a:r>
              <a:rPr lang="fr-FR" sz="1600" dirty="0" err="1"/>
              <a:t>experience</a:t>
            </a:r>
            <a:r>
              <a:rPr lang="fr-FR" sz="1600" dirty="0"/>
              <a:t> </a:t>
            </a:r>
            <a:r>
              <a:rPr lang="fr-FR" sz="1600" dirty="0" err="1"/>
              <a:t>is</a:t>
            </a:r>
            <a:r>
              <a:rPr lang="fr-FR" sz="1600" dirty="0"/>
              <a:t> not incompatible </a:t>
            </a:r>
            <a:r>
              <a:rPr lang="fr-FR" sz="1600" dirty="0" err="1"/>
              <a:t>with</a:t>
            </a:r>
            <a:r>
              <a:rPr lang="fr-FR" sz="1600" dirty="0"/>
              <a:t> </a:t>
            </a:r>
            <a:r>
              <a:rPr lang="fr-FR" sz="1600" b="1" u="sng" dirty="0" err="1"/>
              <a:t>safety</a:t>
            </a:r>
            <a:r>
              <a:rPr lang="fr-FR" sz="1600" b="1" u="sng" dirty="0"/>
              <a:t> and </a:t>
            </a:r>
            <a:r>
              <a:rPr lang="fr-FR" sz="1600" b="1" u="sng" dirty="0" err="1"/>
              <a:t>security</a:t>
            </a:r>
            <a:r>
              <a:rPr lang="fr-FR" sz="1600" dirty="0"/>
              <a:t>‘’, </a:t>
            </a:r>
            <a:r>
              <a:rPr lang="fr-FR" sz="1600" dirty="0" err="1"/>
              <a:t>said</a:t>
            </a:r>
            <a:r>
              <a:rPr lang="fr-FR" sz="1600" dirty="0"/>
              <a:t> Roger Dow, </a:t>
            </a:r>
            <a:r>
              <a:rPr lang="fr-FR" sz="1600" b="1" u="sng" dirty="0"/>
              <a:t>CEO</a:t>
            </a:r>
            <a:r>
              <a:rPr lang="fr-FR" sz="1600" dirty="0"/>
              <a:t> of the US </a:t>
            </a:r>
            <a:r>
              <a:rPr lang="fr-FR" sz="1600" dirty="0" err="1"/>
              <a:t>Travel</a:t>
            </a:r>
            <a:r>
              <a:rPr lang="fr-FR" sz="1600" dirty="0"/>
              <a:t> Association.</a:t>
            </a:r>
          </a:p>
          <a:p>
            <a:endParaRPr lang="fr-FR" sz="1800" dirty="0"/>
          </a:p>
          <a:p>
            <a:endParaRPr lang="fr-FR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605" y="170472"/>
            <a:ext cx="7704667" cy="1981200"/>
          </a:xfrm>
        </p:spPr>
        <p:txBody>
          <a:bodyPr>
            <a:normAutofit/>
          </a:bodyPr>
          <a:lstStyle/>
          <a:p>
            <a:r>
              <a:rPr lang="fr-FR" dirty="0"/>
              <a:t>Générateur de texte (à la Shakespeare)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30540" y="1346674"/>
            <a:ext cx="7643003" cy="469218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PANDARUS</a:t>
            </a:r>
            <a:r>
              <a:rPr lang="en-US" sz="1600" dirty="0"/>
              <a:t>: Alas, I think he shall be come approached and the day When little </a:t>
            </a:r>
            <a:r>
              <a:rPr lang="en-US" sz="1600" dirty="0" err="1"/>
              <a:t>srain</a:t>
            </a:r>
            <a:r>
              <a:rPr lang="en-US" sz="1600" dirty="0"/>
              <a:t> would be </a:t>
            </a:r>
            <a:r>
              <a:rPr lang="en-US" sz="1600" dirty="0" err="1"/>
              <a:t>attain'd</a:t>
            </a:r>
            <a:r>
              <a:rPr lang="en-US" sz="1600" dirty="0"/>
              <a:t> into being never fed, And who is but a chain and subjects of his death, I should not sleep. 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Second Senator</a:t>
            </a:r>
            <a:r>
              <a:rPr lang="en-US" sz="1600" dirty="0"/>
              <a:t>: They are away this miseries, produced upon my soul, Breaking and strongly should be buried, when I perish The earth and thoughts of many states. 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DUKE VINCENTIO</a:t>
            </a:r>
            <a:r>
              <a:rPr lang="en-US" sz="1600" dirty="0"/>
              <a:t>: Well, your wit is in the care of side and that. 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Second Lord</a:t>
            </a:r>
            <a:r>
              <a:rPr lang="en-US" sz="1600" dirty="0"/>
              <a:t>: They would be ruled after this chamber, and my fair </a:t>
            </a:r>
            <a:r>
              <a:rPr lang="en-US" sz="1600" dirty="0" err="1"/>
              <a:t>nues</a:t>
            </a:r>
            <a:r>
              <a:rPr lang="en-US" sz="1600" dirty="0"/>
              <a:t> begun out of the fact, to be conveyed, Whose noble souls I'll have the heart of the wars. Clown: Come, sir, I will make did behold your worship. </a:t>
            </a:r>
          </a:p>
          <a:p>
            <a:r>
              <a:rPr lang="en-US" sz="1600" dirty="0"/>
              <a:t>VIOLA: I'll drink it.</a:t>
            </a:r>
            <a:endParaRPr lang="fr-FR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5216" y="5761856"/>
            <a:ext cx="5301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http://colah.github.io/posts/2014-07-NLP-RNNs-Representations/</a:t>
            </a:r>
          </a:p>
        </p:txBody>
      </p:sp>
    </p:spTree>
    <p:extLst>
      <p:ext uri="{BB962C8B-B14F-4D97-AF65-F5344CB8AC3E}">
        <p14:creationId xmlns:p14="http://schemas.microsoft.com/office/powerpoint/2010/main" val="77854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Générateur de texte (à la </a:t>
            </a:r>
            <a:r>
              <a:rPr lang="fr-FR" dirty="0" err="1"/>
              <a:t>Wikipedia</a:t>
            </a:r>
            <a:r>
              <a:rPr lang="fr-F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65" y="1203108"/>
            <a:ext cx="8048445" cy="46801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Naturalism and decision for the majority of Arab countries' </a:t>
            </a:r>
            <a:r>
              <a:rPr lang="en-US" sz="1400" dirty="0" err="1"/>
              <a:t>capitalide</a:t>
            </a:r>
            <a:r>
              <a:rPr lang="en-US" sz="1400" dirty="0"/>
              <a:t> was grounded by the Irish language by [[John Clair]], [[An Imperial Japanese Revolt]], associated with </a:t>
            </a:r>
            <a:r>
              <a:rPr lang="en-US" sz="1400" dirty="0" err="1"/>
              <a:t>Guangzham's</a:t>
            </a:r>
            <a:r>
              <a:rPr lang="en-US" sz="1400" dirty="0"/>
              <a:t> sovereignty. His generals were the powerful ruler of the Portugal in the [[Protestant </a:t>
            </a:r>
            <a:r>
              <a:rPr lang="en-US" sz="1400" dirty="0" err="1"/>
              <a:t>Immineners</a:t>
            </a:r>
            <a:r>
              <a:rPr lang="en-US" sz="1400" dirty="0"/>
              <a:t>]], which could be said to be directly in Cantonese Communication, which followed a ceremony and set inspired prison, training. The emperor travelled back to [[Antioch, Perth, October 25|21]] to note, the Kingdom of Costa Rica, unsuccessful fashioned the [[</a:t>
            </a:r>
            <a:r>
              <a:rPr lang="en-US" sz="1400" dirty="0" err="1"/>
              <a:t>Thrales</a:t>
            </a:r>
            <a:r>
              <a:rPr lang="en-US" sz="1400" dirty="0"/>
              <a:t>]], [[</a:t>
            </a:r>
            <a:r>
              <a:rPr lang="en-US" sz="1400" dirty="0" err="1"/>
              <a:t>Cynth's</a:t>
            </a:r>
            <a:r>
              <a:rPr lang="en-US" sz="1400" dirty="0"/>
              <a:t> </a:t>
            </a:r>
            <a:r>
              <a:rPr lang="en-US" sz="1400" dirty="0" err="1"/>
              <a:t>Dajoard</a:t>
            </a:r>
            <a:r>
              <a:rPr lang="en-US" sz="1400" dirty="0"/>
              <a:t>]], known in western [[Scotland]], near Italy to the conquest of India with the conflict. Copyright was the succession of independence in the slop of Syrian influence that was a famous German movement based on a more popular </a:t>
            </a:r>
            <a:r>
              <a:rPr lang="en-US" sz="1400" dirty="0" err="1"/>
              <a:t>servicious</a:t>
            </a:r>
            <a:r>
              <a:rPr lang="en-US" sz="1400" dirty="0"/>
              <a:t>, non-doctrinal and sexual power post. Many governments recognize the military housing of the [[Civil Liberalization and Infantry Resolution 265 National Party in Hungary]], that is sympathetic to be to the [[Punjab Resolution]]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(PJS)[http://www.humah.yahoo.com/guardian. </a:t>
            </a:r>
          </a:p>
          <a:p>
            <a:pPr marL="0" indent="0">
              <a:buNone/>
            </a:pPr>
            <a:r>
              <a:rPr lang="en-US" sz="1400" dirty="0"/>
              <a:t>cfm/7754800786d17551963s89.htm </a:t>
            </a:r>
          </a:p>
          <a:p>
            <a:pPr marL="0" indent="0">
              <a:buNone/>
            </a:pPr>
            <a:r>
              <a:rPr lang="en-US" sz="1400" dirty="0"/>
              <a:t>Official economics </a:t>
            </a:r>
            <a:r>
              <a:rPr lang="en-US" sz="1400" dirty="0" err="1"/>
              <a:t>Adjoint</a:t>
            </a:r>
            <a:r>
              <a:rPr lang="en-US" sz="1400" dirty="0"/>
              <a:t> for the Nazism, Montgomery was swear to advance to the resources for those Socialism's rule, was starting to signing a major </a:t>
            </a:r>
            <a:r>
              <a:rPr lang="en-US" sz="1400" dirty="0" err="1"/>
              <a:t>tripad</a:t>
            </a:r>
            <a:r>
              <a:rPr lang="en-US" sz="1400" dirty="0"/>
              <a:t> of aid exile.]]</a:t>
            </a:r>
            <a:endParaRPr lang="fr-FR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0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Générateur de texte (à la XML)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831" y="1698178"/>
            <a:ext cx="7272808" cy="46085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1600" dirty="0"/>
              <a:t>&lt;page&gt;</a:t>
            </a:r>
          </a:p>
          <a:p>
            <a:pPr marL="0" indent="0">
              <a:buNone/>
            </a:pPr>
            <a:r>
              <a:rPr lang="fr-FR" sz="1600" dirty="0"/>
              <a:t>  	&lt;</a:t>
            </a:r>
            <a:r>
              <a:rPr lang="fr-FR" sz="1600" dirty="0" err="1"/>
              <a:t>title</a:t>
            </a:r>
            <a:r>
              <a:rPr lang="fr-FR" sz="1600" dirty="0"/>
              <a:t>&gt;</a:t>
            </a:r>
            <a:r>
              <a:rPr lang="fr-FR" sz="1600" dirty="0" err="1"/>
              <a:t>Antichrist</a:t>
            </a:r>
            <a:r>
              <a:rPr lang="fr-FR" sz="1600" dirty="0"/>
              <a:t>&lt;/</a:t>
            </a:r>
            <a:r>
              <a:rPr lang="fr-FR" sz="1600" dirty="0" err="1"/>
              <a:t>title</a:t>
            </a:r>
            <a:r>
              <a:rPr lang="fr-FR" sz="1600" dirty="0"/>
              <a:t>&gt;</a:t>
            </a:r>
          </a:p>
          <a:p>
            <a:pPr marL="0" indent="0">
              <a:buNone/>
            </a:pPr>
            <a:r>
              <a:rPr lang="fr-FR" sz="1600" dirty="0"/>
              <a:t> 	 &lt;id&gt;865&lt;/id&gt;</a:t>
            </a:r>
          </a:p>
          <a:p>
            <a:pPr marL="0" indent="0">
              <a:buNone/>
            </a:pPr>
            <a:r>
              <a:rPr lang="fr-FR" sz="1600" dirty="0"/>
              <a:t>  	 &lt;</a:t>
            </a:r>
            <a:r>
              <a:rPr lang="fr-FR" sz="1600" dirty="0" err="1"/>
              <a:t>revision</a:t>
            </a:r>
            <a:r>
              <a:rPr lang="fr-FR" sz="1600" dirty="0"/>
              <a:t>&gt; </a:t>
            </a:r>
          </a:p>
          <a:p>
            <a:pPr marL="0" indent="0">
              <a:buNone/>
            </a:pPr>
            <a:r>
              <a:rPr lang="fr-FR" sz="1600" dirty="0"/>
              <a:t>		&lt;id&gt;15900676&lt;/id&gt; </a:t>
            </a:r>
          </a:p>
          <a:p>
            <a:pPr marL="0" indent="0">
              <a:buNone/>
            </a:pPr>
            <a:r>
              <a:rPr lang="fr-FR" sz="1600" dirty="0"/>
              <a:t>		&lt;</a:t>
            </a:r>
            <a:r>
              <a:rPr lang="fr-FR" sz="1600" dirty="0" err="1"/>
              <a:t>timestamp</a:t>
            </a:r>
            <a:r>
              <a:rPr lang="fr-FR" sz="1600" dirty="0"/>
              <a:t>&gt;2002-08-03T18:14:12Z&lt;/</a:t>
            </a:r>
            <a:r>
              <a:rPr lang="fr-FR" sz="1600" dirty="0" err="1"/>
              <a:t>timestamp</a:t>
            </a:r>
            <a:r>
              <a:rPr lang="fr-FR" sz="1600" dirty="0"/>
              <a:t>&gt; </a:t>
            </a:r>
          </a:p>
          <a:p>
            <a:pPr marL="0" indent="0">
              <a:buNone/>
            </a:pPr>
            <a:r>
              <a:rPr lang="fr-FR" sz="1600" dirty="0"/>
              <a:t>		&lt;</a:t>
            </a:r>
            <a:r>
              <a:rPr lang="fr-FR" sz="1600" dirty="0" err="1"/>
              <a:t>contributor</a:t>
            </a:r>
            <a:r>
              <a:rPr lang="fr-FR" sz="1600" dirty="0"/>
              <a:t>&gt; </a:t>
            </a:r>
          </a:p>
          <a:p>
            <a:pPr marL="0" indent="0">
              <a:buNone/>
            </a:pPr>
            <a:r>
              <a:rPr lang="fr-FR" sz="1600" dirty="0"/>
              <a:t>			&lt;</a:t>
            </a:r>
            <a:r>
              <a:rPr lang="fr-FR" sz="1600" dirty="0" err="1"/>
              <a:t>username</a:t>
            </a:r>
            <a:r>
              <a:rPr lang="fr-FR" sz="1600" dirty="0"/>
              <a:t>&gt;Paris&lt;/</a:t>
            </a:r>
            <a:r>
              <a:rPr lang="fr-FR" sz="1600" dirty="0" err="1"/>
              <a:t>username</a:t>
            </a:r>
            <a:r>
              <a:rPr lang="fr-FR" sz="1600" dirty="0"/>
              <a:t>&gt; </a:t>
            </a:r>
          </a:p>
          <a:p>
            <a:pPr marL="0" indent="0">
              <a:buNone/>
            </a:pPr>
            <a:r>
              <a:rPr lang="fr-FR" sz="1600" dirty="0"/>
              <a:t>			&lt;id&gt;23&lt;/id&gt; </a:t>
            </a:r>
          </a:p>
          <a:p>
            <a:pPr marL="0" indent="0">
              <a:buNone/>
            </a:pPr>
            <a:r>
              <a:rPr lang="fr-FR" sz="1600" dirty="0"/>
              <a:t>		&lt;/</a:t>
            </a:r>
            <a:r>
              <a:rPr lang="fr-FR" sz="1600" dirty="0" err="1"/>
              <a:t>contributor</a:t>
            </a:r>
            <a:r>
              <a:rPr lang="fr-FR" sz="1600" dirty="0"/>
              <a:t>&gt; </a:t>
            </a:r>
          </a:p>
          <a:p>
            <a:pPr marL="0" indent="0">
              <a:buNone/>
            </a:pPr>
            <a:r>
              <a:rPr lang="fr-FR" sz="1600" dirty="0"/>
              <a:t>		&lt;minor /&gt; </a:t>
            </a:r>
          </a:p>
          <a:p>
            <a:pPr marL="0" indent="0">
              <a:buNone/>
            </a:pPr>
            <a:r>
              <a:rPr lang="fr-FR" sz="1600" dirty="0"/>
              <a:t>		&lt;comment&gt;</a:t>
            </a:r>
            <a:r>
              <a:rPr lang="fr-FR" sz="1600" dirty="0" err="1"/>
              <a:t>Automated</a:t>
            </a:r>
            <a:r>
              <a:rPr lang="fr-FR" sz="1600" dirty="0"/>
              <a:t> conversion&lt;/comment&gt; </a:t>
            </a:r>
          </a:p>
          <a:p>
            <a:pPr marL="0" indent="0">
              <a:buNone/>
            </a:pPr>
            <a:r>
              <a:rPr lang="fr-FR" sz="1600" dirty="0"/>
              <a:t>		&lt;</a:t>
            </a:r>
            <a:r>
              <a:rPr lang="fr-FR" sz="1600" dirty="0" err="1"/>
              <a:t>text</a:t>
            </a:r>
            <a:r>
              <a:rPr lang="fr-FR" sz="1600" dirty="0"/>
              <a:t> </a:t>
            </a:r>
            <a:r>
              <a:rPr lang="fr-FR" sz="1600" dirty="0" err="1"/>
              <a:t>xml:space</a:t>
            </a:r>
            <a:r>
              <a:rPr lang="fr-FR" sz="1600" dirty="0"/>
              <a:t>="</a:t>
            </a:r>
            <a:r>
              <a:rPr lang="fr-FR" sz="1600" dirty="0" err="1"/>
              <a:t>preserve</a:t>
            </a:r>
            <a:r>
              <a:rPr lang="fr-FR" sz="1600" dirty="0"/>
              <a:t>"&gt;#REDIRECT [[</a:t>
            </a:r>
            <a:r>
              <a:rPr lang="fr-FR" sz="1600" dirty="0" err="1"/>
              <a:t>Christianity</a:t>
            </a:r>
            <a:r>
              <a:rPr lang="fr-FR" sz="1600" dirty="0"/>
              <a:t>]]&lt;/</a:t>
            </a:r>
            <a:r>
              <a:rPr lang="fr-FR" sz="1600" dirty="0" err="1"/>
              <a:t>text</a:t>
            </a:r>
            <a:r>
              <a:rPr lang="fr-FR" sz="1600" dirty="0"/>
              <a:t>&gt;</a:t>
            </a:r>
          </a:p>
          <a:p>
            <a:pPr marL="0" indent="0">
              <a:buNone/>
            </a:pPr>
            <a:r>
              <a:rPr lang="fr-FR" sz="1600" dirty="0"/>
              <a:t> 	&lt;/</a:t>
            </a:r>
            <a:r>
              <a:rPr lang="fr-FR" sz="1600" dirty="0" err="1"/>
              <a:t>revision</a:t>
            </a:r>
            <a:r>
              <a:rPr lang="fr-FR" sz="1600" dirty="0"/>
              <a:t>&gt; </a:t>
            </a:r>
          </a:p>
          <a:p>
            <a:pPr marL="0" indent="0">
              <a:buNone/>
            </a:pPr>
            <a:r>
              <a:rPr lang="fr-FR" sz="1600" dirty="0"/>
              <a:t>&lt;/page&gt;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Générateur de texte (type Math)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32" y="1073988"/>
            <a:ext cx="805081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5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Générateur de texte (type C-Code)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407" y="1699894"/>
            <a:ext cx="6779096" cy="489654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fr-FR" sz="1600" dirty="0" err="1"/>
              <a:t>static</a:t>
            </a:r>
            <a:r>
              <a:rPr lang="fr-FR" sz="1600" dirty="0"/>
              <a:t> </a:t>
            </a:r>
            <a:r>
              <a:rPr lang="fr-FR" sz="1600" dirty="0" err="1"/>
              <a:t>int</a:t>
            </a:r>
            <a:r>
              <a:rPr lang="fr-FR" sz="1600" dirty="0"/>
              <a:t> </a:t>
            </a:r>
            <a:r>
              <a:rPr lang="fr-FR" sz="1600" dirty="0" err="1"/>
              <a:t>indicate_policy</a:t>
            </a:r>
            <a:r>
              <a:rPr lang="fr-FR" sz="1600" dirty="0"/>
              <a:t>(</a:t>
            </a:r>
            <a:r>
              <a:rPr lang="fr-FR" sz="1600" dirty="0" err="1"/>
              <a:t>void</a:t>
            </a:r>
            <a:r>
              <a:rPr lang="fr-FR" sz="1600" dirty="0"/>
              <a:t>) </a:t>
            </a:r>
          </a:p>
          <a:p>
            <a:pPr marL="0" indent="0">
              <a:buNone/>
            </a:pPr>
            <a:r>
              <a:rPr lang="fr-FR" sz="1600" dirty="0"/>
              <a:t>{</a:t>
            </a:r>
          </a:p>
          <a:p>
            <a:pPr marL="0" indent="0">
              <a:buNone/>
            </a:pPr>
            <a:r>
              <a:rPr lang="fr-FR" sz="1600" dirty="0"/>
              <a:t>       </a:t>
            </a:r>
            <a:r>
              <a:rPr lang="fr-FR" sz="1600" dirty="0" err="1"/>
              <a:t>int</a:t>
            </a:r>
            <a:r>
              <a:rPr lang="fr-FR" sz="1600" dirty="0"/>
              <a:t> </a:t>
            </a:r>
            <a:r>
              <a:rPr lang="fr-FR" sz="1600" dirty="0" err="1"/>
              <a:t>error</a:t>
            </a:r>
            <a:r>
              <a:rPr lang="fr-FR" sz="1600" dirty="0"/>
              <a:t>;</a:t>
            </a:r>
          </a:p>
          <a:p>
            <a:pPr marL="0" indent="0">
              <a:buNone/>
            </a:pPr>
            <a:r>
              <a:rPr lang="fr-FR" sz="1600" dirty="0"/>
              <a:t>       if (</a:t>
            </a:r>
            <a:r>
              <a:rPr lang="fr-FR" sz="1600" dirty="0" err="1"/>
              <a:t>fd</a:t>
            </a:r>
            <a:r>
              <a:rPr lang="fr-FR" sz="1600" dirty="0"/>
              <a:t> == MARN_EPT) {</a:t>
            </a:r>
          </a:p>
          <a:p>
            <a:pPr marL="0" indent="0">
              <a:buNone/>
            </a:pPr>
            <a:r>
              <a:rPr lang="fr-FR" sz="1600" dirty="0"/>
              <a:t>              /*</a:t>
            </a:r>
          </a:p>
          <a:p>
            <a:pPr marL="0" indent="0">
              <a:buNone/>
            </a:pPr>
            <a:r>
              <a:rPr lang="fr-FR" sz="1600" dirty="0"/>
              <a:t>               * The </a:t>
            </a:r>
            <a:r>
              <a:rPr lang="fr-FR" sz="1600" dirty="0" err="1"/>
              <a:t>kernel</a:t>
            </a:r>
            <a:r>
              <a:rPr lang="fr-FR" sz="1600" dirty="0"/>
              <a:t> </a:t>
            </a:r>
            <a:r>
              <a:rPr lang="fr-FR" sz="1600" dirty="0" err="1"/>
              <a:t>blank</a:t>
            </a:r>
            <a:r>
              <a:rPr lang="fr-FR" sz="1600" dirty="0"/>
              <a:t> </a:t>
            </a:r>
            <a:r>
              <a:rPr lang="fr-FR" sz="1600" dirty="0" err="1"/>
              <a:t>will</a:t>
            </a:r>
            <a:r>
              <a:rPr lang="fr-FR" sz="1600" dirty="0"/>
              <a:t> </a:t>
            </a:r>
            <a:r>
              <a:rPr lang="fr-FR" sz="1600" dirty="0" err="1"/>
              <a:t>coeld</a:t>
            </a:r>
            <a:r>
              <a:rPr lang="fr-FR" sz="1600" dirty="0"/>
              <a:t> </a:t>
            </a:r>
            <a:r>
              <a:rPr lang="fr-FR" sz="1600" dirty="0" err="1"/>
              <a:t>it</a:t>
            </a:r>
            <a:r>
              <a:rPr lang="fr-FR" sz="1600" dirty="0"/>
              <a:t> to </a:t>
            </a:r>
            <a:r>
              <a:rPr lang="fr-FR" sz="1600" dirty="0" err="1"/>
              <a:t>userspace</a:t>
            </a:r>
            <a:r>
              <a:rPr lang="fr-FR" sz="1600" dirty="0"/>
              <a:t>. </a:t>
            </a:r>
          </a:p>
          <a:p>
            <a:pPr marL="0" indent="0">
              <a:buNone/>
            </a:pPr>
            <a:r>
              <a:rPr lang="fr-FR" sz="1600" dirty="0"/>
              <a:t>               */</a:t>
            </a:r>
          </a:p>
          <a:p>
            <a:pPr marL="0" indent="0">
              <a:buNone/>
            </a:pPr>
            <a:r>
              <a:rPr lang="fr-FR" sz="1600" dirty="0"/>
              <a:t>               if (</a:t>
            </a:r>
            <a:r>
              <a:rPr lang="fr-FR" sz="1600" dirty="0" err="1"/>
              <a:t>ss</a:t>
            </a:r>
            <a:r>
              <a:rPr lang="fr-FR" sz="1600" dirty="0"/>
              <a:t>-&gt;segment &lt; </a:t>
            </a:r>
            <a:r>
              <a:rPr lang="fr-FR" sz="1600" dirty="0" err="1"/>
              <a:t>mem_total</a:t>
            </a:r>
            <a:r>
              <a:rPr lang="fr-FR" sz="1600" dirty="0"/>
              <a:t>) </a:t>
            </a:r>
          </a:p>
          <a:p>
            <a:pPr marL="0" indent="0">
              <a:buNone/>
            </a:pPr>
            <a:r>
              <a:rPr lang="fr-FR" sz="1600" dirty="0"/>
              <a:t>                     </a:t>
            </a:r>
            <a:r>
              <a:rPr lang="fr-FR" sz="1600" dirty="0" err="1"/>
              <a:t>unblock_graph_and_set_blocked</a:t>
            </a:r>
            <a:r>
              <a:rPr lang="fr-FR" sz="1600" dirty="0"/>
              <a:t>();</a:t>
            </a:r>
          </a:p>
          <a:p>
            <a:pPr marL="0" indent="0">
              <a:buNone/>
            </a:pPr>
            <a:r>
              <a:rPr lang="fr-FR" sz="1600" dirty="0"/>
              <a:t>              </a:t>
            </a:r>
            <a:r>
              <a:rPr lang="fr-FR" sz="1600" dirty="0" err="1"/>
              <a:t>else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                 </a:t>
            </a:r>
            <a:r>
              <a:rPr lang="fr-FR" sz="1600" dirty="0" err="1"/>
              <a:t>ret</a:t>
            </a:r>
            <a:r>
              <a:rPr lang="fr-FR" sz="1600" dirty="0"/>
              <a:t> = 1;</a:t>
            </a:r>
          </a:p>
          <a:p>
            <a:pPr marL="0" indent="0">
              <a:buNone/>
            </a:pPr>
            <a:r>
              <a:rPr lang="fr-FR" sz="1600" dirty="0"/>
              <a:t>              </a:t>
            </a:r>
            <a:r>
              <a:rPr lang="fr-FR" sz="1600" dirty="0" err="1"/>
              <a:t>goto</a:t>
            </a:r>
            <a:r>
              <a:rPr lang="fr-FR" sz="1600" dirty="0"/>
              <a:t> bail; </a:t>
            </a:r>
          </a:p>
          <a:p>
            <a:pPr marL="0" indent="0">
              <a:buNone/>
            </a:pPr>
            <a:r>
              <a:rPr lang="fr-FR" sz="1600" dirty="0"/>
              <a:t>       } </a:t>
            </a:r>
          </a:p>
          <a:p>
            <a:pPr marL="0" indent="0">
              <a:buNone/>
            </a:pPr>
            <a:r>
              <a:rPr lang="fr-FR" sz="1600" dirty="0"/>
              <a:t>      </a:t>
            </a:r>
            <a:r>
              <a:rPr lang="fr-FR" sz="1600" dirty="0" err="1"/>
              <a:t>segaddr</a:t>
            </a:r>
            <a:r>
              <a:rPr lang="fr-FR" sz="1600" dirty="0"/>
              <a:t> = </a:t>
            </a:r>
            <a:r>
              <a:rPr lang="fr-FR" sz="1600" dirty="0" err="1"/>
              <a:t>in_SB</a:t>
            </a:r>
            <a:r>
              <a:rPr lang="fr-FR" sz="1600" dirty="0"/>
              <a:t>(</a:t>
            </a:r>
            <a:r>
              <a:rPr lang="fr-FR" sz="1600" dirty="0" err="1"/>
              <a:t>in.addr</a:t>
            </a:r>
            <a:r>
              <a:rPr lang="fr-FR" sz="1600" dirty="0"/>
              <a:t>); </a:t>
            </a:r>
          </a:p>
          <a:p>
            <a:pPr marL="0" indent="0">
              <a:buNone/>
            </a:pPr>
            <a:r>
              <a:rPr lang="fr-FR" sz="1600" dirty="0"/>
              <a:t>      </a:t>
            </a:r>
            <a:r>
              <a:rPr lang="fr-FR" sz="1600" dirty="0" err="1"/>
              <a:t>selector</a:t>
            </a:r>
            <a:r>
              <a:rPr lang="fr-FR" sz="1600" dirty="0"/>
              <a:t> = </a:t>
            </a:r>
            <a:r>
              <a:rPr lang="fr-FR" sz="1600" dirty="0" err="1"/>
              <a:t>seg</a:t>
            </a:r>
            <a:r>
              <a:rPr lang="fr-FR" sz="1600" dirty="0"/>
              <a:t> / 16; </a:t>
            </a:r>
          </a:p>
          <a:p>
            <a:pPr marL="0" indent="0">
              <a:buNone/>
            </a:pPr>
            <a:r>
              <a:rPr lang="fr-FR" sz="1600" dirty="0"/>
              <a:t>      </a:t>
            </a:r>
            <a:r>
              <a:rPr lang="fr-FR" sz="1600" dirty="0" err="1"/>
              <a:t>setup_works</a:t>
            </a:r>
            <a:r>
              <a:rPr lang="fr-FR" sz="1600" dirty="0"/>
              <a:t> = </a:t>
            </a:r>
            <a:r>
              <a:rPr lang="fr-FR" sz="1600" dirty="0" err="1"/>
              <a:t>true</a:t>
            </a:r>
            <a:r>
              <a:rPr lang="fr-FR" sz="1600" dirty="0"/>
              <a:t>;</a:t>
            </a:r>
          </a:p>
          <a:p>
            <a:pPr marL="0" indent="0">
              <a:buNone/>
            </a:pPr>
            <a:r>
              <a:rPr lang="fr-FR" sz="1600" dirty="0"/>
              <a:t>      for (i = 0; i &lt; blocks; i++) {</a:t>
            </a:r>
          </a:p>
          <a:p>
            <a:pPr marL="0" indent="0">
              <a:buNone/>
            </a:pPr>
            <a:r>
              <a:rPr lang="fr-FR" sz="1600" dirty="0"/>
              <a:t>           </a:t>
            </a:r>
            <a:r>
              <a:rPr lang="fr-FR" sz="1600" dirty="0" err="1"/>
              <a:t>seq</a:t>
            </a:r>
            <a:r>
              <a:rPr lang="fr-FR" sz="1600" dirty="0"/>
              <a:t> = </a:t>
            </a:r>
            <a:r>
              <a:rPr lang="fr-FR" sz="1600" dirty="0" err="1"/>
              <a:t>buf</a:t>
            </a:r>
            <a:r>
              <a:rPr lang="fr-FR" sz="1600" dirty="0"/>
              <a:t>[i++];</a:t>
            </a:r>
          </a:p>
          <a:p>
            <a:pPr marL="0" indent="0">
              <a:buNone/>
            </a:pPr>
            <a:r>
              <a:rPr lang="fr-FR" sz="1600" dirty="0"/>
              <a:t>           </a:t>
            </a:r>
            <a:r>
              <a:rPr lang="fr-FR" sz="1600" dirty="0" err="1"/>
              <a:t>bpf</a:t>
            </a:r>
            <a:r>
              <a:rPr lang="fr-FR" sz="1600" dirty="0"/>
              <a:t> = bd-&gt;</a:t>
            </a:r>
            <a:r>
              <a:rPr lang="fr-FR" sz="1600" dirty="0" err="1"/>
              <a:t>bd.next</a:t>
            </a:r>
            <a:r>
              <a:rPr lang="fr-FR" sz="1600" dirty="0"/>
              <a:t> + i * </a:t>
            </a:r>
            <a:r>
              <a:rPr lang="fr-FR" sz="1600" dirty="0" err="1"/>
              <a:t>search</a:t>
            </a:r>
            <a:r>
              <a:rPr lang="fr-FR" sz="1600" dirty="0"/>
              <a:t>;</a:t>
            </a:r>
          </a:p>
          <a:p>
            <a:pPr marL="0" indent="0">
              <a:buNone/>
            </a:pPr>
            <a:r>
              <a:rPr lang="fr-FR" sz="1600" dirty="0"/>
              <a:t>           if (</a:t>
            </a:r>
            <a:r>
              <a:rPr lang="fr-FR" sz="1600" dirty="0" err="1"/>
              <a:t>fd</a:t>
            </a:r>
            <a:r>
              <a:rPr lang="fr-FR" sz="1600" dirty="0"/>
              <a:t>) { </a:t>
            </a:r>
          </a:p>
          <a:p>
            <a:pPr marL="0" indent="0">
              <a:buNone/>
            </a:pPr>
            <a:r>
              <a:rPr lang="fr-FR" sz="1600" dirty="0"/>
              <a:t>                  </a:t>
            </a:r>
            <a:r>
              <a:rPr lang="fr-FR" sz="1600" dirty="0" err="1"/>
              <a:t>current</a:t>
            </a:r>
            <a:r>
              <a:rPr lang="fr-FR" sz="1600" dirty="0"/>
              <a:t> = </a:t>
            </a:r>
            <a:r>
              <a:rPr lang="fr-FR" sz="1600" dirty="0" err="1"/>
              <a:t>blocked</a:t>
            </a:r>
            <a:r>
              <a:rPr lang="fr-FR" sz="1600" dirty="0"/>
              <a:t>;</a:t>
            </a:r>
          </a:p>
          <a:p>
            <a:pPr marL="0" indent="0">
              <a:buNone/>
            </a:pPr>
            <a:r>
              <a:rPr lang="fr-FR" sz="1600" dirty="0"/>
              <a:t>           }</a:t>
            </a:r>
          </a:p>
          <a:p>
            <a:pPr marL="0" indent="0">
              <a:buNone/>
            </a:pPr>
            <a:r>
              <a:rPr lang="fr-FR" sz="1600" dirty="0"/>
              <a:t>      } </a:t>
            </a:r>
          </a:p>
          <a:p>
            <a:pPr marL="0" indent="0">
              <a:buNone/>
            </a:pPr>
            <a:r>
              <a:rPr lang="fr-FR" sz="1600" dirty="0"/>
              <a:t>      </a:t>
            </a:r>
            <a:r>
              <a:rPr lang="fr-FR" sz="1600" dirty="0" err="1"/>
              <a:t>rw</a:t>
            </a:r>
            <a:r>
              <a:rPr lang="fr-FR" sz="1600" dirty="0"/>
              <a:t>-&gt;</a:t>
            </a:r>
            <a:r>
              <a:rPr lang="fr-FR" sz="1600" dirty="0" err="1"/>
              <a:t>name</a:t>
            </a:r>
            <a:r>
              <a:rPr lang="fr-FR" sz="1600" dirty="0"/>
              <a:t> = "</a:t>
            </a:r>
            <a:r>
              <a:rPr lang="fr-FR" sz="1600" dirty="0" err="1"/>
              <a:t>Getjbbregs</a:t>
            </a:r>
            <a:r>
              <a:rPr lang="fr-FR" sz="1600" dirty="0"/>
              <a:t>"; </a:t>
            </a:r>
          </a:p>
          <a:p>
            <a:pPr marL="0" indent="0">
              <a:buNone/>
            </a:pPr>
            <a:r>
              <a:rPr lang="fr-FR" sz="1600" dirty="0"/>
              <a:t>      </a:t>
            </a:r>
            <a:r>
              <a:rPr lang="fr-FR" sz="1600" dirty="0" err="1"/>
              <a:t>bprm_self_clearl</a:t>
            </a:r>
            <a:r>
              <a:rPr lang="fr-FR" sz="1600" dirty="0"/>
              <a:t>(&amp;iv-&gt;version); </a:t>
            </a:r>
          </a:p>
          <a:p>
            <a:pPr marL="0" indent="0">
              <a:buNone/>
            </a:pPr>
            <a:r>
              <a:rPr lang="fr-FR" sz="1600" dirty="0"/>
              <a:t>      regs-&gt;new = blocks[(BPF_STATS &lt;&lt; info-&gt;</a:t>
            </a:r>
            <a:r>
              <a:rPr lang="fr-FR" sz="1600" dirty="0" err="1"/>
              <a:t>historidac</a:t>
            </a:r>
            <a:r>
              <a:rPr lang="fr-FR" sz="1600" dirty="0"/>
              <a:t>)] | PFMR_CLOBATHINC_SECONDS &lt;&lt; 12; </a:t>
            </a:r>
          </a:p>
          <a:p>
            <a:pPr marL="0" indent="0">
              <a:buNone/>
            </a:pPr>
            <a:r>
              <a:rPr lang="fr-FR" sz="1600" dirty="0"/>
              <a:t>      return </a:t>
            </a:r>
            <a:r>
              <a:rPr lang="fr-FR" sz="1600" dirty="0" err="1"/>
              <a:t>segtable</a:t>
            </a:r>
            <a:r>
              <a:rPr lang="fr-FR" sz="1600" dirty="0"/>
              <a:t>;</a:t>
            </a:r>
          </a:p>
          <a:p>
            <a:pPr marL="0" indent="0">
              <a:buNone/>
            </a:pPr>
            <a:r>
              <a:rPr lang="fr-FR" sz="1600" dirty="0"/>
              <a:t> 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2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2023" y="144873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>
                <a:solidFill>
                  <a:prstClr val="black"/>
                </a:solidFill>
              </a:rPr>
              <a:t>tyntd-iafhatawiaoihrdemot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lytdws</a:t>
            </a:r>
            <a:r>
              <a:rPr lang="fr-FR" sz="1200" dirty="0">
                <a:solidFill>
                  <a:prstClr val="black"/>
                </a:solidFill>
              </a:rPr>
              <a:t> e ,</a:t>
            </a:r>
            <a:r>
              <a:rPr lang="fr-FR" sz="1200" dirty="0" err="1">
                <a:solidFill>
                  <a:prstClr val="black"/>
                </a:solidFill>
              </a:rPr>
              <a:t>tfti</a:t>
            </a:r>
            <a:r>
              <a:rPr lang="fr-FR" sz="1200" dirty="0">
                <a:solidFill>
                  <a:prstClr val="black"/>
                </a:solidFill>
              </a:rPr>
              <a:t>, </a:t>
            </a:r>
            <a:r>
              <a:rPr lang="fr-FR" sz="1200" dirty="0" err="1">
                <a:solidFill>
                  <a:prstClr val="black"/>
                </a:solidFill>
              </a:rPr>
              <a:t>astai</a:t>
            </a:r>
            <a:r>
              <a:rPr lang="fr-FR" sz="1200" dirty="0">
                <a:solidFill>
                  <a:prstClr val="black"/>
                </a:solidFill>
              </a:rPr>
              <a:t> f </a:t>
            </a:r>
            <a:r>
              <a:rPr lang="fr-FR" sz="1200" dirty="0" err="1">
                <a:solidFill>
                  <a:prstClr val="black"/>
                </a:solidFill>
              </a:rPr>
              <a:t>ogoh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eoase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rrranbyne</a:t>
            </a:r>
            <a:r>
              <a:rPr lang="fr-FR" sz="1200" dirty="0">
                <a:solidFill>
                  <a:prstClr val="black"/>
                </a:solidFill>
              </a:rPr>
              <a:t> '</a:t>
            </a:r>
            <a:r>
              <a:rPr lang="fr-FR" sz="1200" dirty="0" err="1">
                <a:solidFill>
                  <a:prstClr val="black"/>
                </a:solidFill>
              </a:rPr>
              <a:t>nhthnee</a:t>
            </a:r>
            <a:r>
              <a:rPr lang="fr-FR" sz="1200" dirty="0">
                <a:solidFill>
                  <a:prstClr val="black"/>
                </a:solidFill>
              </a:rPr>
              <a:t> e plia </a:t>
            </a:r>
            <a:r>
              <a:rPr lang="fr-FR" sz="1200" dirty="0" err="1">
                <a:solidFill>
                  <a:prstClr val="black"/>
                </a:solidFill>
              </a:rPr>
              <a:t>tklrgd</a:t>
            </a:r>
            <a:r>
              <a:rPr lang="fr-FR" sz="1200" dirty="0">
                <a:solidFill>
                  <a:prstClr val="black"/>
                </a:solidFill>
              </a:rPr>
              <a:t> t o </a:t>
            </a:r>
            <a:r>
              <a:rPr lang="fr-FR" sz="1200" dirty="0" err="1">
                <a:solidFill>
                  <a:prstClr val="black"/>
                </a:solidFill>
              </a:rPr>
              <a:t>idoe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ns,smtt</a:t>
            </a:r>
            <a:r>
              <a:rPr lang="fr-FR" sz="1200" dirty="0">
                <a:solidFill>
                  <a:prstClr val="black"/>
                </a:solidFill>
              </a:rPr>
              <a:t> h ne </a:t>
            </a:r>
            <a:r>
              <a:rPr lang="fr-FR" sz="1200" dirty="0" err="1">
                <a:solidFill>
                  <a:prstClr val="black"/>
                </a:solidFill>
              </a:rPr>
              <a:t>etie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h,hregtrs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nigtike,aoaenns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lng</a:t>
            </a:r>
            <a:endParaRPr lang="fr-FR" sz="1200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921" y="2324869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prstClr val="black"/>
                </a:solidFill>
              </a:rPr>
              <a:t>"</a:t>
            </a:r>
            <a:r>
              <a:rPr lang="fr-FR" sz="1200" dirty="0" err="1">
                <a:solidFill>
                  <a:prstClr val="black"/>
                </a:solidFill>
              </a:rPr>
              <a:t>Tmont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thithey</a:t>
            </a:r>
            <a:r>
              <a:rPr lang="fr-FR" sz="1200" dirty="0">
                <a:solidFill>
                  <a:prstClr val="black"/>
                </a:solidFill>
              </a:rPr>
              <a:t>" </a:t>
            </a:r>
            <a:r>
              <a:rPr lang="fr-FR" sz="1200" dirty="0" err="1">
                <a:solidFill>
                  <a:prstClr val="black"/>
                </a:solidFill>
              </a:rPr>
              <a:t>fomesscerliund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Keushey</a:t>
            </a:r>
            <a:r>
              <a:rPr lang="fr-FR" sz="1200" dirty="0">
                <a:solidFill>
                  <a:prstClr val="black"/>
                </a:solidFill>
              </a:rPr>
              <a:t>. Thom </a:t>
            </a:r>
            <a:r>
              <a:rPr lang="fr-FR" sz="1200" dirty="0" err="1">
                <a:solidFill>
                  <a:prstClr val="black"/>
                </a:solidFill>
              </a:rPr>
              <a:t>here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sheulke</a:t>
            </a:r>
            <a:r>
              <a:rPr lang="fr-FR" sz="1200" dirty="0">
                <a:solidFill>
                  <a:prstClr val="black"/>
                </a:solidFill>
              </a:rPr>
              <a:t>, </a:t>
            </a:r>
            <a:r>
              <a:rPr lang="fr-FR" sz="1200" dirty="0" err="1">
                <a:solidFill>
                  <a:prstClr val="black"/>
                </a:solidFill>
              </a:rPr>
              <a:t>anmerenith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ol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sivh</a:t>
            </a:r>
            <a:r>
              <a:rPr lang="fr-FR" sz="1200" dirty="0">
                <a:solidFill>
                  <a:prstClr val="black"/>
                </a:solidFill>
              </a:rPr>
              <a:t> I </a:t>
            </a:r>
            <a:r>
              <a:rPr lang="fr-FR" sz="1200" dirty="0" err="1">
                <a:solidFill>
                  <a:prstClr val="black"/>
                </a:solidFill>
              </a:rPr>
              <a:t>lalterthend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Bleipile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shuwy</a:t>
            </a:r>
            <a:r>
              <a:rPr lang="fr-FR" sz="1200" dirty="0">
                <a:solidFill>
                  <a:prstClr val="black"/>
                </a:solidFill>
              </a:rPr>
              <a:t> fil on </a:t>
            </a:r>
            <a:r>
              <a:rPr lang="fr-FR" sz="1200" dirty="0" err="1">
                <a:solidFill>
                  <a:prstClr val="black"/>
                </a:solidFill>
              </a:rPr>
              <a:t>aseterlome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coaniogennc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Phe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lism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thond</a:t>
            </a:r>
            <a:r>
              <a:rPr lang="fr-FR" sz="1200" dirty="0">
                <a:solidFill>
                  <a:prstClr val="black"/>
                </a:solidFill>
              </a:rPr>
              <a:t> hon at. </a:t>
            </a:r>
            <a:r>
              <a:rPr lang="fr-FR" sz="1200" dirty="0" err="1">
                <a:solidFill>
                  <a:prstClr val="black"/>
                </a:solidFill>
              </a:rPr>
              <a:t>MeiDimorotion</a:t>
            </a:r>
            <a:r>
              <a:rPr lang="fr-FR" sz="1200" dirty="0">
                <a:solidFill>
                  <a:prstClr val="black"/>
                </a:solidFill>
              </a:rPr>
              <a:t> in </a:t>
            </a:r>
            <a:r>
              <a:rPr lang="fr-FR" sz="1200" dirty="0" err="1">
                <a:solidFill>
                  <a:prstClr val="black"/>
                </a:solidFill>
              </a:rPr>
              <a:t>ther</a:t>
            </a:r>
            <a:r>
              <a:rPr lang="fr-FR" sz="1200" dirty="0">
                <a:solidFill>
                  <a:prstClr val="black"/>
                </a:solidFill>
              </a:rPr>
              <a:t> </a:t>
            </a:r>
            <a:r>
              <a:rPr lang="fr-FR" sz="1200" dirty="0" err="1">
                <a:solidFill>
                  <a:prstClr val="black"/>
                </a:solidFill>
              </a:rPr>
              <a:t>thize</a:t>
            </a:r>
            <a:r>
              <a:rPr lang="fr-FR" sz="1200" dirty="0">
                <a:solidFill>
                  <a:prstClr val="black"/>
                </a:solidFill>
              </a:rPr>
              <a:t>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991" y="3488437"/>
            <a:ext cx="6400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we counter. He </a:t>
            </a:r>
            <a:r>
              <a:rPr lang="en-US" sz="1200" dirty="0" err="1">
                <a:solidFill>
                  <a:prstClr val="black"/>
                </a:solidFill>
              </a:rPr>
              <a:t>stutn</a:t>
            </a:r>
            <a:r>
              <a:rPr lang="en-US" sz="1200" dirty="0">
                <a:solidFill>
                  <a:prstClr val="black"/>
                </a:solidFill>
              </a:rPr>
              <a:t> co des. His </a:t>
            </a:r>
            <a:r>
              <a:rPr lang="en-US" sz="1200" dirty="0" err="1">
                <a:solidFill>
                  <a:prstClr val="black"/>
                </a:solidFill>
              </a:rPr>
              <a:t>stanted</a:t>
            </a:r>
            <a:r>
              <a:rPr lang="en-US" sz="1200" dirty="0">
                <a:solidFill>
                  <a:prstClr val="black"/>
                </a:solidFill>
              </a:rPr>
              <a:t> out one </a:t>
            </a:r>
            <a:r>
              <a:rPr lang="en-US" sz="1200" dirty="0" err="1">
                <a:solidFill>
                  <a:prstClr val="black"/>
                </a:solidFill>
              </a:rPr>
              <a:t>ofler</a:t>
            </a:r>
            <a:r>
              <a:rPr lang="en-US" sz="1200" dirty="0">
                <a:solidFill>
                  <a:prstClr val="black"/>
                </a:solidFill>
              </a:rPr>
              <a:t> that </a:t>
            </a:r>
            <a:r>
              <a:rPr lang="en-US" sz="1200" dirty="0" err="1">
                <a:solidFill>
                  <a:prstClr val="black"/>
                </a:solidFill>
              </a:rPr>
              <a:t>concossions</a:t>
            </a:r>
            <a:r>
              <a:rPr lang="en-US" sz="1200" dirty="0">
                <a:solidFill>
                  <a:prstClr val="black"/>
                </a:solidFill>
              </a:rPr>
              <a:t> and was</a:t>
            </a:r>
          </a:p>
          <a:p>
            <a:r>
              <a:rPr lang="en-US" sz="1200" dirty="0">
                <a:solidFill>
                  <a:prstClr val="black"/>
                </a:solidFill>
              </a:rPr>
              <a:t> to </a:t>
            </a:r>
            <a:r>
              <a:rPr lang="en-US" sz="1200" dirty="0" err="1">
                <a:solidFill>
                  <a:prstClr val="black"/>
                </a:solidFill>
              </a:rPr>
              <a:t>gearang</a:t>
            </a:r>
            <a:r>
              <a:rPr lang="en-US" sz="1200" dirty="0">
                <a:solidFill>
                  <a:prstClr val="black"/>
                </a:solidFill>
              </a:rPr>
              <a:t> </a:t>
            </a:r>
            <a:r>
              <a:rPr lang="en-US" sz="1200" dirty="0" err="1">
                <a:solidFill>
                  <a:prstClr val="black"/>
                </a:solidFill>
              </a:rPr>
              <a:t>reay</a:t>
            </a:r>
            <a:r>
              <a:rPr lang="en-US" sz="1200" dirty="0">
                <a:solidFill>
                  <a:prstClr val="black"/>
                </a:solidFill>
              </a:rPr>
              <a:t> </a:t>
            </a:r>
            <a:r>
              <a:rPr lang="en-US" sz="1200" dirty="0" err="1">
                <a:solidFill>
                  <a:prstClr val="black"/>
                </a:solidFill>
              </a:rPr>
              <a:t>Jotrets</a:t>
            </a:r>
            <a:r>
              <a:rPr lang="en-US" sz="1200" dirty="0">
                <a:solidFill>
                  <a:prstClr val="black"/>
                </a:solidFill>
              </a:rPr>
              <a:t> and with </a:t>
            </a:r>
            <a:r>
              <a:rPr lang="en-US" sz="1200" dirty="0" err="1">
                <a:solidFill>
                  <a:prstClr val="black"/>
                </a:solidFill>
              </a:rPr>
              <a:t>fre</a:t>
            </a:r>
            <a:r>
              <a:rPr lang="en-US" sz="1200" dirty="0">
                <a:solidFill>
                  <a:prstClr val="black"/>
                </a:solidFill>
              </a:rPr>
              <a:t> colt </a:t>
            </a:r>
            <a:r>
              <a:rPr lang="en-US" sz="1200" dirty="0" err="1">
                <a:solidFill>
                  <a:prstClr val="black"/>
                </a:solidFill>
              </a:rPr>
              <a:t>otf</a:t>
            </a:r>
            <a:r>
              <a:rPr lang="en-US" sz="1200" dirty="0">
                <a:solidFill>
                  <a:prstClr val="black"/>
                </a:solidFill>
              </a:rPr>
              <a:t> </a:t>
            </a:r>
            <a:r>
              <a:rPr lang="en-US" sz="1200" dirty="0" err="1">
                <a:solidFill>
                  <a:prstClr val="black"/>
                </a:solidFill>
              </a:rPr>
              <a:t>paitt</a:t>
            </a:r>
            <a:r>
              <a:rPr lang="en-US" sz="1200" dirty="0">
                <a:solidFill>
                  <a:prstClr val="black"/>
                </a:solidFill>
              </a:rPr>
              <a:t> thin wall. Which das </a:t>
            </a:r>
            <a:r>
              <a:rPr lang="en-US" sz="1200" dirty="0" err="1">
                <a:solidFill>
                  <a:prstClr val="black"/>
                </a:solidFill>
              </a:rPr>
              <a:t>stimn</a:t>
            </a:r>
            <a:r>
              <a:rPr lang="en-US" sz="1200" dirty="0">
                <a:solidFill>
                  <a:prstClr val="black"/>
                </a:solidFill>
              </a:rPr>
              <a:t> </a:t>
            </a:r>
            <a:endParaRPr lang="fr-FR" sz="1200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829" y="4249507"/>
            <a:ext cx="6650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prstClr val="black"/>
                </a:solidFill>
              </a:rPr>
              <a:t>Aftair</a:t>
            </a:r>
            <a:r>
              <a:rPr lang="en-US" sz="1200" dirty="0">
                <a:solidFill>
                  <a:prstClr val="black"/>
                </a:solidFill>
              </a:rPr>
              <a:t> fall </a:t>
            </a:r>
            <a:r>
              <a:rPr lang="en-US" sz="1200" dirty="0" err="1">
                <a:solidFill>
                  <a:prstClr val="black"/>
                </a:solidFill>
              </a:rPr>
              <a:t>unsuch</a:t>
            </a:r>
            <a:r>
              <a:rPr lang="en-US" sz="1200" dirty="0">
                <a:solidFill>
                  <a:prstClr val="black"/>
                </a:solidFill>
              </a:rPr>
              <a:t> that the hall for Prince </a:t>
            </a:r>
            <a:r>
              <a:rPr lang="en-US" sz="1200" dirty="0" err="1">
                <a:solidFill>
                  <a:prstClr val="black"/>
                </a:solidFill>
              </a:rPr>
              <a:t>Velzonski's</a:t>
            </a:r>
            <a:r>
              <a:rPr lang="en-US" sz="1200" dirty="0">
                <a:solidFill>
                  <a:prstClr val="black"/>
                </a:solidFill>
              </a:rPr>
              <a:t> that me of </a:t>
            </a:r>
          </a:p>
          <a:p>
            <a:r>
              <a:rPr lang="en-US" sz="1200" dirty="0">
                <a:solidFill>
                  <a:prstClr val="black"/>
                </a:solidFill>
              </a:rPr>
              <a:t>her </a:t>
            </a:r>
            <a:r>
              <a:rPr lang="en-US" sz="1200" dirty="0" err="1">
                <a:solidFill>
                  <a:prstClr val="black"/>
                </a:solidFill>
              </a:rPr>
              <a:t>hearly</a:t>
            </a:r>
            <a:r>
              <a:rPr lang="en-US" sz="1200" dirty="0">
                <a:solidFill>
                  <a:prstClr val="black"/>
                </a:solidFill>
              </a:rPr>
              <a:t>, and </a:t>
            </a:r>
            <a:r>
              <a:rPr lang="en-US" sz="1200" dirty="0" err="1">
                <a:solidFill>
                  <a:prstClr val="black"/>
                </a:solidFill>
              </a:rPr>
              <a:t>behs</a:t>
            </a:r>
            <a:r>
              <a:rPr lang="en-US" sz="1200" dirty="0">
                <a:solidFill>
                  <a:prstClr val="black"/>
                </a:solidFill>
              </a:rPr>
              <a:t> to so </a:t>
            </a:r>
            <a:r>
              <a:rPr lang="en-US" sz="1200" dirty="0" err="1">
                <a:solidFill>
                  <a:prstClr val="black"/>
                </a:solidFill>
              </a:rPr>
              <a:t>arwage</a:t>
            </a:r>
            <a:r>
              <a:rPr lang="en-US" sz="1200" dirty="0">
                <a:solidFill>
                  <a:prstClr val="black"/>
                </a:solidFill>
              </a:rPr>
              <a:t> fiving were to it </a:t>
            </a:r>
            <a:r>
              <a:rPr lang="en-US" sz="1200" dirty="0" err="1">
                <a:solidFill>
                  <a:prstClr val="black"/>
                </a:solidFill>
              </a:rPr>
              <a:t>beloge</a:t>
            </a:r>
            <a:r>
              <a:rPr lang="en-US" sz="1200" dirty="0">
                <a:solidFill>
                  <a:prstClr val="black"/>
                </a:solidFill>
              </a:rPr>
              <a:t>, </a:t>
            </a:r>
            <a:r>
              <a:rPr lang="en-US" sz="1200" dirty="0" err="1">
                <a:solidFill>
                  <a:prstClr val="black"/>
                </a:solidFill>
              </a:rPr>
              <a:t>pavu</a:t>
            </a:r>
            <a:r>
              <a:rPr lang="en-US" sz="1200" dirty="0">
                <a:solidFill>
                  <a:prstClr val="black"/>
                </a:solidFill>
              </a:rPr>
              <a:t> say falling </a:t>
            </a:r>
            <a:r>
              <a:rPr lang="en-US" sz="1200" dirty="0" err="1">
                <a:solidFill>
                  <a:prstClr val="black"/>
                </a:solidFill>
              </a:rPr>
              <a:t>misfort</a:t>
            </a:r>
            <a:r>
              <a:rPr lang="en-US" sz="1200" dirty="0">
                <a:solidFill>
                  <a:prstClr val="black"/>
                </a:solidFill>
              </a:rPr>
              <a:t> </a:t>
            </a:r>
          </a:p>
          <a:p>
            <a:r>
              <a:rPr lang="en-US" sz="1200" dirty="0">
                <a:solidFill>
                  <a:prstClr val="black"/>
                </a:solidFill>
              </a:rPr>
              <a:t>how, and </a:t>
            </a:r>
            <a:r>
              <a:rPr lang="en-US" sz="1200" dirty="0" err="1">
                <a:solidFill>
                  <a:prstClr val="black"/>
                </a:solidFill>
              </a:rPr>
              <a:t>Gogition</a:t>
            </a:r>
            <a:r>
              <a:rPr lang="en-US" sz="1200" dirty="0">
                <a:solidFill>
                  <a:prstClr val="black"/>
                </a:solidFill>
              </a:rPr>
              <a:t> is so </a:t>
            </a:r>
            <a:r>
              <a:rPr lang="en-US" sz="1200" dirty="0" err="1">
                <a:solidFill>
                  <a:prstClr val="black"/>
                </a:solidFill>
              </a:rPr>
              <a:t>overelical</a:t>
            </a:r>
            <a:r>
              <a:rPr lang="en-US" sz="1200" dirty="0">
                <a:solidFill>
                  <a:prstClr val="black"/>
                </a:solidFill>
              </a:rPr>
              <a:t> and </a:t>
            </a:r>
            <a:r>
              <a:rPr lang="en-US" sz="1200" dirty="0" err="1">
                <a:solidFill>
                  <a:prstClr val="black"/>
                </a:solidFill>
              </a:rPr>
              <a:t>ofter</a:t>
            </a:r>
            <a:r>
              <a:rPr lang="en-US" sz="1200" dirty="0">
                <a:solidFill>
                  <a:prstClr val="black"/>
                </a:solidFill>
              </a:rPr>
              <a:t>.</a:t>
            </a:r>
            <a:endParaRPr lang="fr-FR" sz="1200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829" y="5435035"/>
            <a:ext cx="7892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"Why do what that day," replied Natasha, and wishing to himself the fact the</a:t>
            </a:r>
          </a:p>
          <a:p>
            <a:r>
              <a:rPr lang="en-US" sz="1200" dirty="0">
                <a:solidFill>
                  <a:prstClr val="black"/>
                </a:solidFill>
              </a:rPr>
              <a:t> princess, Princess Mary was easier, fed in had </a:t>
            </a:r>
            <a:r>
              <a:rPr lang="en-US" sz="1200" dirty="0" err="1">
                <a:solidFill>
                  <a:prstClr val="black"/>
                </a:solidFill>
              </a:rPr>
              <a:t>oftened</a:t>
            </a:r>
            <a:r>
              <a:rPr lang="en-US" sz="1200" dirty="0">
                <a:solidFill>
                  <a:prstClr val="black"/>
                </a:solidFill>
              </a:rPr>
              <a:t> him. </a:t>
            </a:r>
          </a:p>
          <a:p>
            <a:r>
              <a:rPr lang="en-US" sz="1200" dirty="0">
                <a:solidFill>
                  <a:prstClr val="black"/>
                </a:solidFill>
              </a:rPr>
              <a:t>Pierre </a:t>
            </a:r>
            <a:r>
              <a:rPr lang="en-US" sz="1200" dirty="0" err="1">
                <a:solidFill>
                  <a:prstClr val="black"/>
                </a:solidFill>
              </a:rPr>
              <a:t>aking</a:t>
            </a:r>
            <a:r>
              <a:rPr lang="en-US" sz="1200" dirty="0">
                <a:solidFill>
                  <a:prstClr val="black"/>
                </a:solidFill>
              </a:rPr>
              <a:t> his soul came to the packs and drove up his father-in-law women.</a:t>
            </a:r>
            <a:endParaRPr lang="fr-FR" sz="1200" dirty="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2023" y="4105491"/>
            <a:ext cx="153405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prstClr val="white"/>
                </a:solidFill>
              </a:rPr>
              <a:t>Iteration</a:t>
            </a:r>
            <a:r>
              <a:rPr lang="fr-FR" sz="1200" dirty="0">
                <a:solidFill>
                  <a:prstClr val="white"/>
                </a:solidFill>
              </a:rPr>
              <a:t> 1200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2023" y="3272413"/>
            <a:ext cx="160605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prstClr val="white"/>
                </a:solidFill>
              </a:rPr>
              <a:t>Iteration</a:t>
            </a:r>
            <a:r>
              <a:rPr lang="fr-FR" sz="1200" dirty="0">
                <a:solidFill>
                  <a:prstClr val="white"/>
                </a:solidFill>
              </a:rPr>
              <a:t> 700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023" y="2108845"/>
            <a:ext cx="160605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prstClr val="white"/>
                </a:solidFill>
              </a:rPr>
              <a:t>Iteration</a:t>
            </a:r>
            <a:r>
              <a:rPr lang="fr-FR" sz="1200" dirty="0">
                <a:solidFill>
                  <a:prstClr val="white"/>
                </a:solidFill>
              </a:rPr>
              <a:t> 300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023" y="1162446"/>
            <a:ext cx="160605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prstClr val="white"/>
                </a:solidFill>
              </a:rPr>
              <a:t>Iteration</a:t>
            </a:r>
            <a:r>
              <a:rPr lang="fr-FR" sz="1200" dirty="0">
                <a:solidFill>
                  <a:prstClr val="white"/>
                </a:solidFill>
              </a:rPr>
              <a:t>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023" y="5225375"/>
            <a:ext cx="160605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prstClr val="white"/>
                </a:solidFill>
              </a:rPr>
              <a:t>Iteration</a:t>
            </a:r>
            <a:r>
              <a:rPr lang="fr-FR" sz="1200" dirty="0">
                <a:solidFill>
                  <a:prstClr val="white"/>
                </a:solidFill>
              </a:rPr>
              <a:t> 2000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073" y="4075003"/>
            <a:ext cx="30315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>
                <a:solidFill>
                  <a:prstClr val="black"/>
                </a:solidFill>
              </a:rPr>
              <a:t>quotations</a:t>
            </a:r>
            <a:r>
              <a:rPr lang="fr-FR" sz="1000" dirty="0">
                <a:solidFill>
                  <a:prstClr val="black"/>
                </a:solidFill>
              </a:rPr>
              <a:t> and question/exclamation 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8081" y="5194887"/>
            <a:ext cx="29867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properly spelled words, quotations, names,</a:t>
            </a:r>
            <a:endParaRPr lang="fr-FR" sz="1000" dirty="0"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49966" y="3272413"/>
            <a:ext cx="5307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spell the shortest and most common words such as "we", "He", "His", "Which",</a:t>
            </a:r>
            <a:endParaRPr lang="fr-FR" sz="1000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3021" y="2078357"/>
            <a:ext cx="31951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starts to get an idea about quotes and periods</a:t>
            </a:r>
            <a:endParaRPr lang="fr-FR" sz="1000" dirty="0"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38081" y="1155940"/>
            <a:ext cx="25074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the model samples random jumbles</a:t>
            </a:r>
            <a:endParaRPr lang="fr-FR" sz="1000" dirty="0">
              <a:solidFill>
                <a:prstClr val="black"/>
              </a:solidFill>
            </a:endParaRP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57200" y="76230"/>
            <a:ext cx="8229600" cy="881302"/>
          </a:xfrm>
        </p:spPr>
        <p:txBody>
          <a:bodyPr>
            <a:normAutofit fontScale="90000"/>
          </a:bodyPr>
          <a:lstStyle/>
          <a:p>
            <a:r>
              <a:rPr lang="fr-FR" dirty="0"/>
              <a:t>Générateur de texte: </a:t>
            </a:r>
            <a:br>
              <a:rPr lang="fr-FR" dirty="0"/>
            </a:br>
            <a:r>
              <a:rPr lang="fr-FR" dirty="0"/>
              <a:t>Progression de l’apprentissage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7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Génération de musique jazzy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374" y="1412777"/>
            <a:ext cx="4302751" cy="4623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64088" y="6418738"/>
            <a:ext cx="3736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prstClr val="black"/>
                </a:solidFill>
              </a:rPr>
              <a:t>(</a:t>
            </a:r>
            <a:r>
              <a:rPr lang="fr-FR" sz="1200" dirty="0" err="1">
                <a:solidFill>
                  <a:prstClr val="black"/>
                </a:solidFill>
              </a:rPr>
              <a:t>after</a:t>
            </a:r>
            <a:r>
              <a:rPr lang="fr-FR" sz="1200" dirty="0">
                <a:solidFill>
                  <a:prstClr val="black"/>
                </a:solidFill>
              </a:rPr>
              <a:t> Judy A. Franklin, Smith </a:t>
            </a:r>
            <a:r>
              <a:rPr lang="fr-FR" sz="1200" dirty="0" err="1">
                <a:solidFill>
                  <a:prstClr val="black"/>
                </a:solidFill>
              </a:rPr>
              <a:t>College</a:t>
            </a:r>
            <a:r>
              <a:rPr lang="fr-FR" sz="1200" dirty="0">
                <a:solidFill>
                  <a:prstClr val="black"/>
                </a:solidFill>
              </a:rPr>
              <a:t>,  Northampton, MA)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1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433881" cy="591124"/>
          </a:xfrm>
        </p:spPr>
        <p:txBody>
          <a:bodyPr>
            <a:normAutofit fontScale="90000"/>
          </a:bodyPr>
          <a:lstStyle/>
          <a:p>
            <a:r>
              <a:rPr lang="fr-FR" dirty="0"/>
              <a:t>Structures profondes</a:t>
            </a:r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12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12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12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29</a:t>
            </a:fld>
            <a:endParaRPr lang="fr-FR" altLang="fr-FR" sz="12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049639" y="1474711"/>
            <a:ext cx="1697295" cy="335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HMM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65863" y="1474711"/>
            <a:ext cx="1697295" cy="335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RBM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02178" y="2488197"/>
            <a:ext cx="1771090" cy="335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Autoencodeur</a:t>
            </a:r>
          </a:p>
          <a:p>
            <a:pPr algn="ctr"/>
            <a:r>
              <a:rPr lang="fr-FR" sz="1200" dirty="0"/>
              <a:t>variationnel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85953" y="2488197"/>
            <a:ext cx="1697295" cy="335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LSTM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77731" y="3643310"/>
            <a:ext cx="1955579" cy="368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VRNN</a:t>
            </a:r>
          </a:p>
          <a:p>
            <a:pPr algn="ctr"/>
            <a:r>
              <a:rPr lang="fr-FR" sz="1200" dirty="0"/>
              <a:t>+ Attention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85915" y="4751991"/>
            <a:ext cx="1697295" cy="2979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DNC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4655" y="5623199"/>
            <a:ext cx="1771090" cy="2979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GTMM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400" y="1474711"/>
            <a:ext cx="1771090" cy="335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Renforcement</a:t>
            </a:r>
          </a:p>
        </p:txBody>
      </p:sp>
      <p:sp>
        <p:nvSpPr>
          <p:cNvPr id="44" name="Right Brace 43"/>
          <p:cNvSpPr/>
          <p:nvPr/>
        </p:nvSpPr>
        <p:spPr>
          <a:xfrm rot="5400000">
            <a:off x="4071141" y="2617123"/>
            <a:ext cx="109064" cy="560845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45" name="TextBox 44"/>
          <p:cNvSpPr txBox="1"/>
          <p:nvPr/>
        </p:nvSpPr>
        <p:spPr>
          <a:xfrm>
            <a:off x="5360220" y="1105379"/>
            <a:ext cx="1093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Génératif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29660" y="1105379"/>
            <a:ext cx="1402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Discriminatif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1520" y="1115956"/>
            <a:ext cx="2074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Récompense future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777834" y="2344181"/>
            <a:ext cx="7678685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498930" y="2489653"/>
            <a:ext cx="955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Profond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8558561" y="2344181"/>
            <a:ext cx="147591" cy="2662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cxnSp>
        <p:nvCxnSpPr>
          <p:cNvPr id="51" name="Straight Connector 50"/>
          <p:cNvCxnSpPr/>
          <p:nvPr/>
        </p:nvCxnSpPr>
        <p:spPr>
          <a:xfrm>
            <a:off x="803336" y="3258184"/>
            <a:ext cx="7678685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326681" y="3814503"/>
            <a:ext cx="109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Attention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8510762" y="3814503"/>
            <a:ext cx="147591" cy="2662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cxnSp>
        <p:nvCxnSpPr>
          <p:cNvPr id="54" name="Straight Connector 53"/>
          <p:cNvCxnSpPr/>
          <p:nvPr/>
        </p:nvCxnSpPr>
        <p:spPr>
          <a:xfrm>
            <a:off x="795712" y="4430963"/>
            <a:ext cx="7678685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410934" y="4887240"/>
            <a:ext cx="1061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mémoire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510762" y="4852012"/>
            <a:ext cx="147591" cy="2662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7" name="Right Brace 56"/>
          <p:cNvSpPr/>
          <p:nvPr/>
        </p:nvSpPr>
        <p:spPr>
          <a:xfrm rot="5400000">
            <a:off x="2790899" y="2589796"/>
            <a:ext cx="54534" cy="385753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8" name="Right Brace 57"/>
          <p:cNvSpPr/>
          <p:nvPr/>
        </p:nvSpPr>
        <p:spPr>
          <a:xfrm rot="5400000">
            <a:off x="4949026" y="2275626"/>
            <a:ext cx="108170" cy="225076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9" name="TextBox 58"/>
          <p:cNvSpPr txBox="1"/>
          <p:nvPr/>
        </p:nvSpPr>
        <p:spPr>
          <a:xfrm>
            <a:off x="364388" y="2502125"/>
            <a:ext cx="1731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Fonction d’oubli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458085" y="2779124"/>
            <a:ext cx="2477210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294761" y="5541327"/>
            <a:ext cx="2865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200" dirty="0"/>
              <a:t>Compréhension profonde</a:t>
            </a:r>
          </a:p>
          <a:p>
            <a:pPr marL="285750" indent="-285750">
              <a:buFontTx/>
              <a:buChar char="-"/>
            </a:pPr>
            <a:r>
              <a:rPr lang="fr-FR" sz="1200" dirty="0"/>
              <a:t>Structure complexe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54705" y="5623199"/>
            <a:ext cx="1055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Générateur</a:t>
            </a:r>
          </a:p>
        </p:txBody>
      </p:sp>
      <p:cxnSp>
        <p:nvCxnSpPr>
          <p:cNvPr id="3" name="Straight Arrow Connector 2"/>
          <p:cNvCxnSpPr>
            <a:stCxn id="33" idx="3"/>
            <a:endCxn id="42" idx="1"/>
          </p:cNvCxnSpPr>
          <p:nvPr/>
        </p:nvCxnSpPr>
        <p:spPr bwMode="auto">
          <a:xfrm>
            <a:off x="2610315" y="5761699"/>
            <a:ext cx="644340" cy="104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TextBox 61"/>
          <p:cNvSpPr txBox="1"/>
          <p:nvPr/>
        </p:nvSpPr>
        <p:spPr>
          <a:xfrm>
            <a:off x="684213" y="4762452"/>
            <a:ext cx="10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Calculateur</a:t>
            </a:r>
          </a:p>
        </p:txBody>
      </p:sp>
      <p:cxnSp>
        <p:nvCxnSpPr>
          <p:cNvPr id="5" name="Straight Arrow Connector 4"/>
          <p:cNvCxnSpPr>
            <a:stCxn id="62" idx="3"/>
            <a:endCxn id="41" idx="1"/>
          </p:cNvCxnSpPr>
          <p:nvPr/>
        </p:nvCxnSpPr>
        <p:spPr bwMode="auto">
          <a:xfrm>
            <a:off x="1740103" y="4900952"/>
            <a:ext cx="34581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Rectangle 62"/>
          <p:cNvSpPr/>
          <p:nvPr/>
        </p:nvSpPr>
        <p:spPr>
          <a:xfrm>
            <a:off x="7025609" y="1474711"/>
            <a:ext cx="1697295" cy="335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Autoencodeur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80752" y="1196034"/>
            <a:ext cx="1093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Compressif</a:t>
            </a:r>
          </a:p>
        </p:txBody>
      </p:sp>
    </p:spTree>
    <p:extLst>
      <p:ext uri="{BB962C8B-B14F-4D97-AF65-F5344CB8AC3E}">
        <p14:creationId xmlns:p14="http://schemas.microsoft.com/office/powerpoint/2010/main" val="129213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orizontal Scroll 17"/>
          <p:cNvSpPr/>
          <p:nvPr/>
        </p:nvSpPr>
        <p:spPr bwMode="auto">
          <a:xfrm>
            <a:off x="3379705" y="4611994"/>
            <a:ext cx="5375985" cy="948906"/>
          </a:xfrm>
          <a:prstGeom prst="horizontalScroll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Horizontal Scroll 16"/>
          <p:cNvSpPr/>
          <p:nvPr/>
        </p:nvSpPr>
        <p:spPr bwMode="auto">
          <a:xfrm>
            <a:off x="5115464" y="1321896"/>
            <a:ext cx="3590688" cy="916664"/>
          </a:xfrm>
          <a:prstGeom prst="horizontalScroll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Horizontal Scroll 1"/>
          <p:cNvSpPr/>
          <p:nvPr/>
        </p:nvSpPr>
        <p:spPr bwMode="auto">
          <a:xfrm>
            <a:off x="3486068" y="2881223"/>
            <a:ext cx="5375985" cy="948906"/>
          </a:xfrm>
          <a:prstGeom prst="horizontalScroll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884856" y="-23268"/>
            <a:ext cx="7704667" cy="1981200"/>
          </a:xfrm>
        </p:spPr>
        <p:txBody>
          <a:bodyPr/>
          <a:lstStyle/>
          <a:p>
            <a:pPr eaLnBrk="1" hangingPunct="1"/>
            <a:r>
              <a:rPr lang="fr-FR" dirty="0"/>
              <a:t>Maximisation du loglikelihood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30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050" y="1519350"/>
            <a:ext cx="2307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Pas d’états cachés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400" y="1657849"/>
            <a:ext cx="2373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Calcul du gradient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750" y="3013059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Etats cachés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8234" y="3146560"/>
            <a:ext cx="5283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Algorithme  Expectation Maximization  (EM)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3033" y="4901781"/>
            <a:ext cx="2929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Inférence variationnelle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29177" y="1796349"/>
            <a:ext cx="936104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Right Arrow 11"/>
          <p:cNvSpPr/>
          <p:nvPr/>
        </p:nvSpPr>
        <p:spPr>
          <a:xfrm>
            <a:off x="2462135" y="3269312"/>
            <a:ext cx="936104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3" name="Down Arrow 12"/>
          <p:cNvSpPr/>
          <p:nvPr/>
        </p:nvSpPr>
        <p:spPr>
          <a:xfrm>
            <a:off x="5738474" y="3769227"/>
            <a:ext cx="231955" cy="7920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4" name="Flowchart: Multidocument 13"/>
          <p:cNvSpPr/>
          <p:nvPr/>
        </p:nvSpPr>
        <p:spPr>
          <a:xfrm>
            <a:off x="1448429" y="3769227"/>
            <a:ext cx="571209" cy="396044"/>
          </a:xfrm>
          <a:prstGeom prst="flowChartMultidocumen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5" name="Flowchart: Internal Storage 14"/>
          <p:cNvSpPr/>
          <p:nvPr/>
        </p:nvSpPr>
        <p:spPr>
          <a:xfrm>
            <a:off x="1552913" y="2027182"/>
            <a:ext cx="576064" cy="422756"/>
          </a:xfrm>
          <a:prstGeom prst="flowChartInternalStorag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-228114"/>
            <a:ext cx="7704667" cy="1981200"/>
          </a:xfrm>
        </p:spPr>
        <p:txBody>
          <a:bodyPr/>
          <a:lstStyle/>
          <a:p>
            <a:pPr eaLnBrk="1" hangingPunct="1"/>
            <a:r>
              <a:rPr lang="fr-FR" dirty="0"/>
              <a:t>Calcul du gradient du loglikelihood</a:t>
            </a:r>
            <a:endParaRPr lang="fr-FR" alt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1106" y="1801415"/>
                <a:ext cx="8229600" cy="96470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latin typeface="Cambria Math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/>
                              <a:ea typeface="Cambria Math"/>
                            </a:rPr>
                            <m:t>𝛻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sub>
                      </m:sSub>
                      <m:r>
                        <a:rPr lang="fr-FR" sz="2400" b="0" i="1" smtClean="0">
                          <a:latin typeface="Cambria Math"/>
                        </a:rPr>
                        <m:t>𝐿𝑜𝑔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2400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̃"/>
                                  <m:ctrlPr>
                                    <a:rPr lang="fr-FR" sz="2400" b="0" i="1" smtClean="0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sz="2400" b="0" i="1" smtClean="0">
                                      <a:latin typeface="Cambria Math"/>
                                      <a:ea typeface="Cambria Math"/>
                                    </a:rPr>
                                    <m:t>𝑃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fr-FR" sz="2400" b="0" i="1" smtClean="0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FR" sz="2400" b="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  <m:r>
                                    <a:rPr lang="fr-FR" sz="2400" b="0" i="1" smtClean="0">
                                      <a:latin typeface="Cambria Math"/>
                                      <a:ea typeface="Cambria Math"/>
                                    </a:rPr>
                                    <m:t>|</m:t>
                                  </m:r>
                                  <m:r>
                                    <a:rPr lang="fr-FR" sz="2400" b="0" i="1" smtClean="0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2400" b="0" i="1" smtClean="0">
                                  <a:latin typeface="Cambria Math"/>
                                </a:rPr>
                                <m:t>𝑍</m:t>
                              </m:r>
                            </m:den>
                          </m:f>
                        </m:e>
                      </m:d>
                      <m:r>
                        <a:rPr lang="fr-FR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/>
                              <a:ea typeface="Cambria Math"/>
                            </a:rPr>
                            <m:t>𝛻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sub>
                      </m:sSub>
                      <m:r>
                        <a:rPr lang="fr-FR" sz="2400" b="0" i="1" smtClean="0">
                          <a:latin typeface="Cambria Math"/>
                        </a:rPr>
                        <m:t>𝐿𝑜𝑔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fr-FR" sz="24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fr-FR" sz="2400" b="0" i="1" smtClean="0">
                                  <a:latin typeface="Cambria Math"/>
                                  <a:ea typeface="Cambria Math"/>
                                </a:rPr>
                                <m:t>𝑃</m:t>
                              </m:r>
                            </m:e>
                          </m:acc>
                          <m:d>
                            <m:dPr>
                              <m:ctrlPr>
                                <a:rPr lang="fr-FR" sz="24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  <m:r>
                                <a:rPr lang="fr-FR" sz="2400" b="0" i="1" smtClean="0">
                                  <a:latin typeface="Cambria Math"/>
                                  <a:ea typeface="Cambria Math"/>
                                </a:rPr>
                                <m:t>|</m:t>
                              </m:r>
                              <m:r>
                                <a:rPr lang="fr-FR" sz="24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fr-FR" sz="24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/>
                              <a:ea typeface="Cambria Math"/>
                            </a:rPr>
                            <m:t>𝛻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sub>
                      </m:sSub>
                      <m:r>
                        <a:rPr lang="fr-FR" sz="2400" b="0" i="1" smtClean="0">
                          <a:latin typeface="Cambria Math"/>
                        </a:rPr>
                        <m:t>𝐿𝑜𝑔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/>
                            </a:rPr>
                            <m:t>𝑍</m:t>
                          </m:r>
                        </m:e>
                      </m:d>
                    </m:oMath>
                  </m:oMathPara>
                </a14:m>
                <a:endParaRPr lang="fr-FR" sz="2400" b="0" dirty="0"/>
              </a:p>
              <a:p>
                <a:pPr marL="0" indent="0">
                  <a:buNone/>
                </a:pPr>
                <a:endParaRPr lang="fr-FR" sz="2400"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106" y="1801415"/>
                <a:ext cx="8229600" cy="964704"/>
              </a:xfrm>
              <a:blipFill rotWithShape="0">
                <a:blip r:embed="rId2"/>
                <a:stretch>
                  <a:fillRect t="-113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662" y="5060976"/>
            <a:ext cx="3313112" cy="360363"/>
          </a:xfrm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1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1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31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77495" y="2973214"/>
            <a:ext cx="1843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Phase positive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6156" y="3028605"/>
            <a:ext cx="194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Phase négative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3828" y="3828953"/>
            <a:ext cx="381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Réaction synchrone aux stimuli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7828" y="3775677"/>
            <a:ext cx="284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Représentation a priori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787930" y="4469841"/>
                <a:ext cx="2825774" cy="41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sz="1800" i="1">
                            <a:latin typeface="Cambria Math"/>
                            <a:ea typeface="Cambria Math"/>
                          </a:rPr>
                          <m:t>𝛻</m:t>
                        </m:r>
                      </m:e>
                      <m:sub>
                        <m:r>
                          <a:rPr lang="fr-FR" sz="1800" i="1">
                            <a:latin typeface="Cambria Math"/>
                            <a:ea typeface="Cambria Math"/>
                          </a:rPr>
                          <m:t>𝜃</m:t>
                        </m:r>
                      </m:sub>
                    </m:sSub>
                    <m:r>
                      <a:rPr lang="fr-FR" sz="1800" i="1">
                        <a:latin typeface="Cambria Math"/>
                        <a:ea typeface="Cambria Math"/>
                      </a:rPr>
                      <m:t>𝐿𝑜𝑔</m:t>
                    </m:r>
                    <m:d>
                      <m:dPr>
                        <m:ctrlPr>
                          <a:rPr lang="fr-FR" sz="1800" i="1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sz="1800" i="1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</m:d>
                  </m:oMath>
                </a14:m>
                <a:r>
                  <a:rPr lang="fr-FR" sz="1800" i="1" dirty="0">
                    <a:latin typeface="Cambria Math"/>
                    <a:ea typeface="Cambria Math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>
                            <a:latin typeface="Cambria Math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sz="1800" i="1">
                            <a:latin typeface="Cambria Math"/>
                            <a:ea typeface="Cambria Math"/>
                          </a:rPr>
                          <m:t>𝛻</m:t>
                        </m:r>
                      </m:e>
                      <m:sub>
                        <m:r>
                          <a:rPr lang="fr-FR" sz="1800" i="1">
                            <a:latin typeface="Cambria Math"/>
                            <a:ea typeface="Cambria Math"/>
                          </a:rPr>
                          <m:t>𝜃</m:t>
                        </m:r>
                      </m:sub>
                    </m:sSub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1800" i="1" smtClean="0">
                            <a:latin typeface="Cambria Math" charset="0"/>
                            <a:ea typeface="Cambria Math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̃"/>
                            <m:ctrlPr>
                              <a:rPr lang="fr-FR" sz="1800" i="1" smtClean="0">
                                <a:latin typeface="Cambria Math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fr-FR" sz="18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</m:acc>
                        <m:d>
                          <m:dPr>
                            <m:ctrlPr>
                              <a:rPr lang="fr-FR" sz="1800" i="1">
                                <a:latin typeface="Cambria Math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1800" i="1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  <m:r>
                              <a:rPr lang="fr-FR" sz="1800" i="1">
                                <a:latin typeface="Cambria Math"/>
                                <a:ea typeface="Cambria Math"/>
                              </a:rPr>
                              <m:t>|</m:t>
                            </m:r>
                            <m:r>
                              <a:rPr lang="fr-FR" sz="1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fr-FR" sz="1800" b="0" i="1" smtClean="0">
                            <a:latin typeface="Cambria Math"/>
                            <a:ea typeface="Cambria Math"/>
                          </a:rPr>
                          <m:t>𝑑𝑥</m:t>
                        </m:r>
                      </m:e>
                    </m:nary>
                  </m:oMath>
                </a14:m>
                <a:endParaRPr lang="fr-FR" sz="1800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0" y="4469841"/>
                <a:ext cx="2825774" cy="418191"/>
              </a:xfrm>
              <a:prstGeom prst="rect">
                <a:avLst/>
              </a:prstGeom>
              <a:blipFill rotWithShape="1">
                <a:blip r:embed="rId3"/>
                <a:stretch>
                  <a:fillRect t="-128986" b="-18840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970303" y="5183938"/>
            <a:ext cx="61598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rgbClr val="FF0000"/>
                </a:solidFill>
              </a:rPr>
              <a:t>Sommation sur x peut être impraticable a effectuer</a:t>
            </a:r>
          </a:p>
        </p:txBody>
      </p:sp>
      <p:cxnSp>
        <p:nvCxnSpPr>
          <p:cNvPr id="13" name="Straight Arrow Connector 12"/>
          <p:cNvCxnSpPr>
            <a:stCxn id="9" idx="0"/>
            <a:endCxn id="7" idx="2"/>
          </p:cNvCxnSpPr>
          <p:nvPr/>
        </p:nvCxnSpPr>
        <p:spPr>
          <a:xfrm flipV="1">
            <a:off x="3799158" y="3342546"/>
            <a:ext cx="0" cy="48640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6985592" y="3381694"/>
            <a:ext cx="1" cy="45411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0"/>
          </p:cNvCxnSpPr>
          <p:nvPr/>
        </p:nvCxnSpPr>
        <p:spPr>
          <a:xfrm flipV="1">
            <a:off x="3799158" y="2402732"/>
            <a:ext cx="1035489" cy="570482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</p:cNvCxnSpPr>
          <p:nvPr/>
        </p:nvCxnSpPr>
        <p:spPr>
          <a:xfrm flipV="1">
            <a:off x="7116711" y="2487069"/>
            <a:ext cx="0" cy="5415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50217" y="1030399"/>
            <a:ext cx="2580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Fonction de partition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166836" y="1399731"/>
            <a:ext cx="2808312" cy="108733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338375" y="4737543"/>
            <a:ext cx="1" cy="45411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86113" y="1096535"/>
            <a:ext cx="3273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Probabilité non normalisée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987937" y="1465867"/>
            <a:ext cx="0" cy="33554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3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7265" y="99321"/>
            <a:ext cx="7323505" cy="961336"/>
          </a:xfrm>
        </p:spPr>
        <p:txBody>
          <a:bodyPr/>
          <a:lstStyle/>
          <a:p>
            <a:pPr eaLnBrk="1" hangingPunct="1"/>
            <a:r>
              <a:rPr lang="fr-FR" dirty="0"/>
              <a:t>Expectation-</a:t>
            </a:r>
            <a:r>
              <a:rPr lang="fr-FR" dirty="0" err="1"/>
              <a:t>Maximization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32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82647" y="1411840"/>
                <a:ext cx="6818735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𝐿𝑜𝑔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fr-FR" sz="1400" b="0" i="1" smtClean="0">
                              <a:latin typeface="Cambria Math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/>
                                </a:rPr>
                                <m:t>𝑌</m:t>
                              </m:r>
                              <m:r>
                                <a:rPr lang="fr-FR" sz="14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fr-FR" sz="1400" b="0" i="1" smtClean="0">
                                  <a:latin typeface="Cambria Math"/>
                                </a:rPr>
                                <m:t>|</m:t>
                              </m:r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/>
                            </a:rPr>
                            <m:t>𝑑𝑋</m:t>
                          </m:r>
                          <m:r>
                            <a:rPr lang="fr-FR" sz="1400" b="0" i="1" smtClean="0">
                              <a:latin typeface="Cambria Math"/>
                            </a:rPr>
                            <m:t>=</m:t>
                          </m:r>
                          <m:r>
                            <a:rPr lang="fr-FR" sz="1400" b="0" i="1" smtClean="0">
                              <a:latin typeface="Cambria Math"/>
                            </a:rPr>
                            <m:t>𝐿𝑜𝑔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fr-FR" sz="1400" b="0" i="1" smtClean="0">
                                  <a:latin typeface="Cambria Math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fr-FR" sz="1400" b="0" i="1" smtClean="0">
                                  <a:latin typeface="Cambria Math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fr-FR" sz="14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d>
                              <m:f>
                                <m:fPr>
                                  <m:ctrlPr>
                                    <a:rPr lang="fr-FR" sz="1400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fr-FR" sz="1400" b="0" i="1" smtClean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400" b="0" i="1" smtClean="0">
                                          <a:latin typeface="Cambria Math"/>
                                        </a:rPr>
                                        <m:t>𝑌</m:t>
                                      </m:r>
                                      <m:r>
                                        <a:rPr lang="fr-FR" sz="1400" b="0" i="1" smtClean="0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fr-FR" sz="1400" b="0" i="1" smtClean="0">
                                          <a:latin typeface="Cambria Math"/>
                                        </a:rPr>
                                        <m:t>𝑋</m:t>
                                      </m:r>
                                      <m:r>
                                        <a:rPr lang="fr-FR" sz="1400" b="0" i="1" smtClean="0">
                                          <a:latin typeface="Cambria Math"/>
                                        </a:rPr>
                                        <m:t>|</m:t>
                                      </m:r>
                                      <m:r>
                                        <a:rPr lang="fr-FR" sz="1400" b="0" i="1" smtClean="0"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fr-FR" sz="1400" b="0" i="1" smtClean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400" b="0" i="1" smtClean="0">
                                          <a:latin typeface="Cambria Math"/>
                                        </a:rPr>
                                        <m:t>𝑋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fr-FR" sz="1400" b="0" i="1" smtClean="0">
                                  <a:latin typeface="Cambria Math"/>
                                </a:rPr>
                                <m:t>𝑑𝑋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647" y="1411840"/>
                <a:ext cx="6818735" cy="65742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623444" y="1919295"/>
            <a:ext cx="1939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Inégalité de Jensen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44599" y="2371827"/>
                <a:ext cx="6818735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latin typeface="Cambria Math"/>
                          <a:ea typeface="Cambria Math"/>
                        </a:rPr>
                        <m:t>≥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fr-FR" sz="1400" b="0" i="1" smtClean="0">
                              <a:latin typeface="Cambria Math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fr-FR" sz="1400" b="0" i="1" smtClean="0">
                              <a:latin typeface="Cambria Math"/>
                            </a:rPr>
                            <m:t>𝐿𝑜𝑔</m:t>
                          </m:r>
                          <m:f>
                            <m:fPr>
                              <m:ctrlPr>
                                <a:rPr lang="fr-FR" sz="1400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fr-FR" sz="14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𝑌</m:t>
                                  </m:r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𝑋</m:t>
                                  </m:r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|</m:t>
                                  </m:r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400" b="0" i="1" smtClean="0">
                                  <a:latin typeface="Cambria Math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fr-FR" sz="14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  <m:r>
                            <a:rPr lang="fr-FR" sz="1400" b="0" i="1" smtClean="0">
                              <a:latin typeface="Cambria Math"/>
                            </a:rPr>
                            <m:t>𝑑𝑋</m:t>
                          </m:r>
                        </m:e>
                      </m:nary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599" y="2371827"/>
                <a:ext cx="6818735" cy="65742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1030" y="3359454"/>
                <a:ext cx="7740352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fr-FR" sz="1400" b="0" i="1" smtClean="0">
                              <a:latin typeface="Cambria Math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fr-FR" sz="1400" b="0" i="1" smtClean="0">
                              <a:latin typeface="Cambria Math"/>
                            </a:rPr>
                            <m:t>𝐿𝑜𝑔𝑃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/>
                                </a:rPr>
                                <m:t>𝑌</m:t>
                              </m:r>
                              <m:r>
                                <a:rPr lang="fr-FR" sz="14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fr-FR" sz="1400" b="0" i="1" smtClean="0">
                                  <a:latin typeface="Cambria Math"/>
                                </a:rPr>
                                <m:t>|</m:t>
                              </m:r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/>
                            </a:rPr>
                            <m:t>𝑑𝑋</m:t>
                          </m:r>
                          <m:r>
                            <a:rPr lang="fr-FR" sz="1400" b="0" i="1" smtClean="0"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fr-FR" sz="1400" b="0" i="1" smtClean="0">
                                  <a:latin typeface="Cambria Math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fr-FR" sz="1400" b="0" i="1" smtClean="0">
                                  <a:latin typeface="Cambria Math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fr-FR" sz="14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fr-FR" sz="14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fr-FR" sz="1400" b="0" i="1" smtClean="0">
                                  <a:latin typeface="Cambria Math"/>
                                </a:rPr>
                                <m:t>𝐿𝑜𝑔𝑄</m:t>
                              </m:r>
                              <m:d>
                                <m:dPr>
                                  <m:ctrlPr>
                                    <a:rPr lang="fr-FR" sz="14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fr-FR" sz="1400" b="0" i="1" smtClean="0">
                                  <a:latin typeface="Cambria Math"/>
                                </a:rPr>
                                <m:t>𝑑𝑋</m:t>
                              </m:r>
                              <m:r>
                                <a:rPr lang="fr-FR" sz="1400" b="0" i="1" smtClean="0">
                                  <a:latin typeface="Cambria Math"/>
                                </a:rPr>
                                <m:t> =</m:t>
                              </m:r>
                              <m:r>
                                <a:rPr lang="fr-FR" sz="1400" b="0" i="1" smtClean="0">
                                  <a:latin typeface="Cambria Math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fr-FR" sz="14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𝑄</m:t>
                                  </m:r>
                                  <m:r>
                                    <a:rPr lang="fr-FR" sz="1400" b="0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30" y="3359454"/>
                <a:ext cx="7740352" cy="65742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89570" y="4033909"/>
            <a:ext cx="7128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Esperance de l’ énergie / mesure Q      -    Entropie de Q    =   Energie libre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44" y="872485"/>
            <a:ext cx="1309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Etats cachés</a:t>
            </a:r>
          </a:p>
        </p:txBody>
      </p:sp>
      <p:cxnSp>
        <p:nvCxnSpPr>
          <p:cNvPr id="12" name="Straight Arrow Connector 11"/>
          <p:cNvCxnSpPr>
            <a:stCxn id="11" idx="2"/>
          </p:cNvCxnSpPr>
          <p:nvPr/>
        </p:nvCxnSpPr>
        <p:spPr>
          <a:xfrm>
            <a:off x="4084031" y="1180262"/>
            <a:ext cx="303987" cy="308937"/>
          </a:xfrm>
          <a:prstGeom prst="straightConnector1">
            <a:avLst/>
          </a:prstGeom>
          <a:ln w="28575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56715" y="3052631"/>
                <a:ext cx="20734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Ne dépends pas de </a:t>
                </a:r>
                <a14:m>
                  <m:oMath xmlns:m="http://schemas.openxmlformats.org/officeDocument/2006/math">
                    <m:r>
                      <a:rPr lang="fr-FR" sz="1400" i="1" smtClean="0"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endParaRPr lang="fr-FR" sz="1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715" y="3052631"/>
                <a:ext cx="2073453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588" t="-2000"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3" idx="2"/>
          </p:cNvCxnSpPr>
          <p:nvPr/>
        </p:nvCxnSpPr>
        <p:spPr>
          <a:xfrm flipH="1">
            <a:off x="5301255" y="3360408"/>
            <a:ext cx="492187" cy="217023"/>
          </a:xfrm>
          <a:prstGeom prst="straightConnector1">
            <a:avLst/>
          </a:prstGeom>
          <a:ln w="28575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244399" y="4443858"/>
                <a:ext cx="6356907" cy="341119"/>
              </a:xfrm>
              <a:prstGeom prst="rect">
                <a:avLst/>
              </a:prstGeom>
              <a:noFill/>
              <a:ln w="25400" cmpd="sng">
                <a:solidFill>
                  <a:schemeClr val="accent4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E </a:t>
                </a:r>
                <a:r>
                  <a:rPr lang="fr-FR" sz="1400" dirty="0" err="1"/>
                  <a:t>step</a:t>
                </a:r>
                <a:r>
                  <a:rPr lang="fr-FR" sz="1400" dirty="0"/>
                  <a:t>  :     Calcul de l'Esperance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1400" b="0" i="1" smtClean="0"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fr-FR" sz="1400" b="0" i="1" smtClean="0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fr-FR" sz="1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400" b="0" i="1" smtClean="0">
                                <a:latin typeface="Cambria Math"/>
                              </a:rPr>
                              <m:t>𝑋</m:t>
                            </m:r>
                          </m:e>
                        </m:d>
                        <m:r>
                          <a:rPr lang="fr-FR" sz="1400" b="0" i="1" smtClean="0">
                            <a:latin typeface="Cambria Math"/>
                          </a:rPr>
                          <m:t> </m:t>
                        </m:r>
                        <m:r>
                          <a:rPr lang="fr-FR" sz="1400" b="0" i="1" smtClean="0">
                            <a:latin typeface="Cambria Math"/>
                          </a:rPr>
                          <m:t>𝐿𝑜𝑔𝑃</m:t>
                        </m:r>
                        <m:d>
                          <m:dPr>
                            <m:ctrlPr>
                              <a:rPr lang="fr-FR" sz="1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400" b="0" i="1" smtClean="0">
                                <a:latin typeface="Cambria Math"/>
                              </a:rPr>
                              <m:t>𝑌</m:t>
                            </m:r>
                            <m:r>
                              <a:rPr lang="fr-FR" sz="14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fr-FR" sz="1400" b="0" i="1" smtClean="0">
                                <a:latin typeface="Cambria Math"/>
                              </a:rPr>
                              <m:t>𝑋</m:t>
                            </m:r>
                            <m:r>
                              <a:rPr lang="fr-FR" sz="1400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fr-FR" sz="14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d>
                        <m:r>
                          <a:rPr lang="fr-FR" sz="1400" b="0" i="1" smtClean="0">
                            <a:latin typeface="Cambria Math"/>
                          </a:rPr>
                          <m:t>𝑑𝑋</m:t>
                        </m:r>
                      </m:e>
                    </m:nary>
                  </m:oMath>
                </a14:m>
                <a:r>
                  <a:rPr lang="fr-FR" sz="1400" dirty="0"/>
                  <a:t>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399" y="4443858"/>
                <a:ext cx="6356907" cy="341119"/>
              </a:xfrm>
              <a:prstGeom prst="rect">
                <a:avLst/>
              </a:prstGeom>
              <a:blipFill rotWithShape="1">
                <a:blip r:embed="rId6"/>
                <a:stretch>
                  <a:fillRect t="-103333" b="-160000"/>
                </a:stretch>
              </a:blipFill>
              <a:ln w="25400" cmpd="sng"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263703" y="5003617"/>
                <a:ext cx="6356908" cy="341119"/>
              </a:xfrm>
              <a:prstGeom prst="rect">
                <a:avLst/>
              </a:prstGeom>
              <a:noFill/>
              <a:ln w="2540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M </a:t>
                </a:r>
                <a:r>
                  <a:rPr lang="fr-FR" sz="1400" dirty="0" err="1"/>
                  <a:t>step</a:t>
                </a:r>
                <a:r>
                  <a:rPr lang="fr-FR" sz="1400" dirty="0"/>
                  <a:t>  :     maximisation   de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1400" b="0" i="1" smtClean="0"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fr-FR" sz="1400" b="0" i="1" smtClean="0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fr-FR" sz="1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400" b="0" i="1" smtClean="0">
                                <a:latin typeface="Cambria Math"/>
                              </a:rPr>
                              <m:t>𝑋</m:t>
                            </m:r>
                          </m:e>
                        </m:d>
                        <m:r>
                          <a:rPr lang="fr-FR" sz="1400" b="0" i="1" smtClean="0">
                            <a:latin typeface="Cambria Math"/>
                          </a:rPr>
                          <m:t> </m:t>
                        </m:r>
                        <m:r>
                          <a:rPr lang="fr-FR" sz="1400" b="0" i="1" smtClean="0">
                            <a:latin typeface="Cambria Math"/>
                          </a:rPr>
                          <m:t>𝐿𝑜𝑔𝑃</m:t>
                        </m:r>
                        <m:d>
                          <m:dPr>
                            <m:ctrlPr>
                              <a:rPr lang="fr-FR" sz="1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400" b="0" i="1" smtClean="0">
                                <a:latin typeface="Cambria Math"/>
                              </a:rPr>
                              <m:t>𝑌</m:t>
                            </m:r>
                            <m:r>
                              <a:rPr lang="fr-FR" sz="14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fr-FR" sz="1400" b="0" i="1" smtClean="0">
                                <a:latin typeface="Cambria Math"/>
                              </a:rPr>
                              <m:t>𝑋</m:t>
                            </m:r>
                            <m:r>
                              <a:rPr lang="fr-FR" sz="1400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fr-FR" sz="14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d>
                        <m:r>
                          <a:rPr lang="fr-FR" sz="1400" b="0" i="1" smtClean="0">
                            <a:latin typeface="Cambria Math"/>
                          </a:rPr>
                          <m:t>𝑑𝑋</m:t>
                        </m:r>
                      </m:e>
                    </m:nary>
                  </m:oMath>
                </a14:m>
                <a:r>
                  <a:rPr lang="fr-FR" sz="1400" dirty="0"/>
                  <a:t>     selon  </a:t>
                </a:r>
                <a14:m>
                  <m:oMath xmlns:m="http://schemas.openxmlformats.org/officeDocument/2006/math">
                    <m:r>
                      <a:rPr lang="fr-FR" sz="1400" i="1" smtClean="0"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endParaRPr lang="fr-FR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703" y="5003617"/>
                <a:ext cx="6356908" cy="341119"/>
              </a:xfrm>
              <a:prstGeom prst="rect">
                <a:avLst/>
              </a:prstGeom>
              <a:blipFill rotWithShape="1">
                <a:blip r:embed="rId7"/>
                <a:stretch>
                  <a:fillRect t="-103333" b="-160000"/>
                </a:stretch>
              </a:blipFill>
              <a:ln w="254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717870" y="5616428"/>
            <a:ext cx="484466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Sommation sur X peut être impraticable a effectuer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793442" y="5228780"/>
            <a:ext cx="0" cy="38764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1485" y="170472"/>
            <a:ext cx="7704667" cy="1981200"/>
          </a:xfrm>
        </p:spPr>
        <p:txBody>
          <a:bodyPr/>
          <a:lstStyle/>
          <a:p>
            <a:pPr eaLnBrk="1" hangingPunct="1"/>
            <a:r>
              <a:rPr lang="fr-FR" dirty="0"/>
              <a:t>Inférence variationnelle : 3 piliers</a:t>
            </a:r>
            <a:endParaRPr lang="fr-FR" alt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75517" y="1578550"/>
                <a:ext cx="7767671" cy="2302786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dirty="0"/>
                  <a:t>Kullback-Lieber divergence  </a:t>
                </a:r>
                <a14:m>
                  <m:oMath xmlns:m="http://schemas.openxmlformats.org/officeDocument/2006/math">
                    <m:r>
                      <a:rPr lang="fr-FR" sz="2800" b="0" i="1">
                        <a:latin typeface="Cambria Math"/>
                      </a:rPr>
                      <m:t>𝑘𝑙</m:t>
                    </m:r>
                    <m:d>
                      <m:dPr>
                        <m:ctrlPr>
                          <a:rPr lang="fr-FR" sz="2800" b="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fr-FR" sz="2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sz="2800" b="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fr-FR" sz="2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fr-FR" sz="2800" b="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fr-FR" sz="28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dirty="0"/>
                  <a:t>Borne inferieure du </a:t>
                </a:r>
                <a:r>
                  <a:rPr lang="fr-FR" dirty="0" err="1"/>
                  <a:t>likelihood</a:t>
                </a:r>
                <a:endParaRPr lang="fr-FR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dirty="0"/>
                  <a:t>EM variationnel </a:t>
                </a: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5517" y="1578550"/>
                <a:ext cx="7767671" cy="2302786"/>
              </a:xfrm>
              <a:blipFill rotWithShape="1">
                <a:blip r:embed="rId2"/>
                <a:stretch>
                  <a:fillRect l="-18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33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750" y="4003618"/>
            <a:ext cx="7639207" cy="40011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/>
              <a:t>Obligatoire pour le </a:t>
            </a:r>
            <a:r>
              <a:rPr lang="fr-FR" sz="2000" dirty="0" err="1"/>
              <a:t>deep</a:t>
            </a:r>
            <a:r>
              <a:rPr lang="fr-FR" sz="2000" dirty="0"/>
              <a:t> </a:t>
            </a:r>
            <a:r>
              <a:rPr lang="fr-FR" sz="2000" dirty="0" err="1"/>
              <a:t>learning</a:t>
            </a:r>
            <a:r>
              <a:rPr lang="fr-FR" sz="2000" dirty="0"/>
              <a:t> avec états non observés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536382" y="66411"/>
            <a:ext cx="7643192" cy="1153752"/>
          </a:xfrm>
        </p:spPr>
        <p:txBody>
          <a:bodyPr/>
          <a:lstStyle/>
          <a:p>
            <a:pPr eaLnBrk="1" hangingPunct="1"/>
            <a:r>
              <a:rPr lang="fr-FR" dirty="0"/>
              <a:t>Divergence de </a:t>
            </a:r>
            <a:r>
              <a:rPr lang="fr-FR" dirty="0" err="1"/>
              <a:t>Kullback-Leibler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34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3608" y="3191887"/>
            <a:ext cx="7225857" cy="2779169"/>
          </a:xfrm>
          <a:prstGeom prst="rect">
            <a:avLst/>
          </a:prstGeom>
          <a:solidFill>
            <a:srgbClr val="92D050">
              <a:alpha val="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27147" y="929310"/>
                <a:ext cx="4896544" cy="905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800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||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𝑞</m:t>
                          </m:r>
                        </m:e>
                      </m:d>
                      <m:r>
                        <a:rPr lang="fr-FR" sz="1800" i="1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800" i="1">
                              <a:latin typeface="Cambria Math"/>
                            </a:rPr>
                            <m:t>−</m:t>
                          </m:r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fr-FR" sz="1800" i="1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8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1800" i="1">
                              <a:latin typeface="Cambria Math"/>
                            </a:rPr>
                            <m:t>𝐿𝑜𝑔</m:t>
                          </m:r>
                          <m:f>
                            <m:fPr>
                              <m:ctrlPr>
                                <a:rPr lang="fr-FR" sz="180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fr-FR" sz="1800" i="1">
                                  <a:latin typeface="Cambria Math"/>
                                </a:rPr>
                                <m:t>𝑝</m:t>
                              </m:r>
                              <m:r>
                                <a:rPr lang="fr-FR" sz="18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fr-FR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fr-FR" sz="1800" i="1">
                                  <a:latin typeface="Cambria Math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fr-FR" sz="1800" b="0" i="1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fr-FR" sz="18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fr-FR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fr-FR" sz="1800" i="1">
                                  <a:latin typeface="Cambria Math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  <m:r>
                        <a:rPr lang="fr-FR" sz="1800" i="1">
                          <a:latin typeface="Cambria Math"/>
                        </a:rPr>
                        <m:t>𝑑𝑥</m:t>
                      </m:r>
                    </m:oMath>
                  </m:oMathPara>
                </a14:m>
                <a:endParaRPr lang="fr-FR" sz="1800" dirty="0"/>
              </a:p>
              <a:p>
                <a:endParaRPr lang="fr-FR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147" y="929310"/>
                <a:ext cx="4896544" cy="90537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07705" y="1630806"/>
                <a:ext cx="1641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fr-FR" sz="1800" i="1">
                            <a:latin typeface="Cambria Math"/>
                          </a:rPr>
                          <m:t>𝐾𝐿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/>
                          </a:rPr>
                          <m:t>𝑝</m:t>
                        </m:r>
                        <m:r>
                          <a:rPr lang="fr-FR" sz="1800" b="0" i="1" smtClean="0">
                            <a:latin typeface="Cambria Math"/>
                          </a:rPr>
                          <m:t>||</m:t>
                        </m:r>
                        <m:r>
                          <a:rPr lang="fr-FR" sz="1800" b="0" i="1" smtClean="0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fr-FR" sz="180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fr-FR" sz="1800" b="0" i="1" smtClean="0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fr-FR" sz="180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5" y="1630806"/>
                <a:ext cx="1641219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779913" y="1630806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644008" y="1630806"/>
                <a:ext cx="167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800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r>
                        <a:rPr lang="fr-FR" sz="1800" i="1">
                          <a:latin typeface="Cambria Math"/>
                        </a:rPr>
                        <m:t>(</m:t>
                      </m:r>
                      <m:r>
                        <a:rPr lang="fr-FR" sz="1800" i="1">
                          <a:latin typeface="Cambria Math"/>
                        </a:rPr>
                        <m:t>𝑝</m:t>
                      </m:r>
                      <m:r>
                        <a:rPr lang="fr-FR" sz="1800" i="1">
                          <a:latin typeface="Cambria Math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𝑝</m:t>
                          </m:r>
                        </m:e>
                      </m:d>
                      <m:r>
                        <a:rPr lang="fr-FR" sz="1800" b="0" i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1630806"/>
                <a:ext cx="1670907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043609" y="2166220"/>
            <a:ext cx="6829114" cy="307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fr-FR" sz="1400" dirty="0"/>
              <a:t>Mais ce n’est pas une distance car l’inégalité triangulaire n’est pas vérifiée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5685" y="2648210"/>
            <a:ext cx="2087431" cy="307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fr-FR" sz="1400" dirty="0"/>
              <a:t>N’est pas symétrique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161911" y="3255692"/>
                <a:ext cx="52210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Considerant  une loi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/>
                      </a:rPr>
                      <m:t>𝑞</m:t>
                    </m:r>
                    <m:r>
                      <a:rPr lang="fr-FR" sz="1400" b="0" i="1" smtClean="0">
                        <a:latin typeface="Cambria Math"/>
                      </a:rPr>
                      <m:t>(</m:t>
                    </m:r>
                    <m:r>
                      <a:rPr lang="fr-FR" sz="1400" b="0" i="1" smtClean="0">
                        <a:latin typeface="Cambria Math"/>
                      </a:rPr>
                      <m:t>𝑥</m:t>
                    </m:r>
                    <m:r>
                      <a:rPr lang="fr-FR" sz="1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fr-FR" sz="1400" dirty="0"/>
                  <a:t> </a:t>
                </a:r>
                <a:r>
                  <a:rPr lang="fr-FR" sz="1400" dirty="0" err="1"/>
                  <a:t>definie</a:t>
                </a:r>
                <a:r>
                  <a:rPr lang="fr-FR" sz="1400" dirty="0"/>
                  <a:t> sur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r>
                  <a:rPr lang="fr-FR" sz="1400" dirty="0"/>
                  <a:t> 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0" smtClean="0">
                        <a:latin typeface="Cambria Math"/>
                        <a:ea typeface="Cambria Math"/>
                      </a:rPr>
                      <m:t>F</m:t>
                    </m:r>
                    <m:r>
                      <a:rPr lang="fr-FR" sz="1400" i="1" smtClean="0">
                        <a:latin typeface="Cambria Math"/>
                        <a:ea typeface="Cambria Math"/>
                      </a:rPr>
                      <m:t>⊂</m:t>
                    </m:r>
                    <m:r>
                      <a:rPr lang="fr-FR" sz="1400" b="0" i="1" smtClean="0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endParaRPr lang="fr-FR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911" y="3255692"/>
                <a:ext cx="5221004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350" t="-1961" b="-176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39752" y="3563469"/>
                <a:ext cx="533259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b="0" dirty="0"/>
                  <a:t>Soit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fr-FR" sz="1400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fr-FR" sz="14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4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sz="1400" dirty="0"/>
                  <a:t> la loi restreinte a F (conditionnée par F)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3563469"/>
                <a:ext cx="5332593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343" t="-2000"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391110" y="3866483"/>
                <a:ext cx="2694059" cy="420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Alors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fr-FR" sz="1400" i="1">
                            <a:latin typeface="Cambria Math"/>
                          </a:rPr>
                          <m:t>𝐾𝐿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40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400" i="1">
                            <a:latin typeface="Cambria Math"/>
                          </a:rPr>
                          <m:t>𝑞</m:t>
                        </m:r>
                        <m:r>
                          <a:rPr lang="fr-FR" sz="1400" i="1">
                            <a:latin typeface="Cambria Math"/>
                          </a:rPr>
                          <m:t>|</m:t>
                        </m:r>
                        <m:d>
                          <m:dPr>
                            <m:begChr m:val="|"/>
                            <m:ctrlPr>
                              <a:rPr lang="fr-FR" sz="14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/>
                                  </a:rPr>
                                  <m:t>𝐹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fr-FR" sz="1400" b="0" i="0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fr-FR" sz="1400" b="0" i="0" smtClean="0">
                        <a:latin typeface="Cambria Math"/>
                      </a:rPr>
                      <m:t>Log</m:t>
                    </m:r>
                    <m:r>
                      <a:rPr lang="fr-FR" sz="1400" b="0" i="0" smtClean="0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fr-FR" sz="14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sz="1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fr-FR" sz="1400" b="0" i="1" smtClean="0">
                            <a:latin typeface="Cambria Math"/>
                          </a:rPr>
                          <m:t>𝑃𝑟𝑜𝑏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1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400" b="0" i="1" smtClean="0">
                                <a:latin typeface="Cambria Math"/>
                              </a:rPr>
                              <m:t>𝐹</m:t>
                            </m:r>
                          </m:e>
                        </m:d>
                      </m:den>
                    </m:f>
                  </m:oMath>
                </a14:m>
                <a:r>
                  <a:rPr lang="fr-FR" sz="1400" dirty="0"/>
                  <a:t> 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110" y="3866483"/>
                <a:ext cx="2694059" cy="420180"/>
              </a:xfrm>
              <a:prstGeom prst="rect">
                <a:avLst/>
              </a:prstGeom>
              <a:blipFill rotWithShape="1">
                <a:blip r:embed="rId7"/>
                <a:stretch>
                  <a:fillRect l="-4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259633" y="4307981"/>
            <a:ext cx="7009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C’est l’information supplémentaire : </a:t>
            </a:r>
            <a:r>
              <a:rPr lang="fr-FR" sz="1400" i="1" u="sng" dirty="0"/>
              <a:t>conditionnée par F </a:t>
            </a:r>
            <a:r>
              <a:rPr lang="fr-FR" sz="1400" dirty="0"/>
              <a:t>(en nombre de bits)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248942" y="4677313"/>
                <a:ext cx="6941747" cy="39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C’est la </a:t>
                </a:r>
                <a:r>
                  <a:rPr lang="fr-FR" sz="1400" dirty="0" err="1"/>
                  <a:t>Renyi</a:t>
                </a:r>
                <a:r>
                  <a:rPr lang="fr-FR" sz="1400" dirty="0"/>
                  <a:t> divergence pour </a:t>
                </a:r>
                <a14:m>
                  <m:oMath xmlns:m="http://schemas.openxmlformats.org/officeDocument/2006/math">
                    <m:r>
                      <a:rPr lang="fr-FR" sz="140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fr-FR" sz="1400" b="0" i="1" smtClean="0">
                        <a:latin typeface="Cambria Math"/>
                        <a:ea typeface="Cambria Math"/>
                      </a:rPr>
                      <m:t>=1,</m:t>
                    </m:r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fr-FR" sz="14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400" i="1" smtClean="0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sz="1400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  <m:r>
                          <a:rPr lang="fr-FR" sz="1400" b="0" i="1" smtClean="0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a:rPr lang="fr-FR" sz="1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</m:d>
                    <m:r>
                      <a:rPr lang="fr-FR" sz="1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fr-FR" sz="14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sz="1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fr-FR" sz="1400" b="0" i="1" smtClean="0">
                            <a:latin typeface="Cambria Math"/>
                          </a:rPr>
                          <m:t>1−</m:t>
                        </m:r>
                        <m:r>
                          <a:rPr lang="fr-FR" sz="1400" b="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den>
                    </m:f>
                    <m:nary>
                      <m:naryPr>
                        <m:ctrlPr>
                          <a:rPr lang="fr-FR" sz="1400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400" i="1">
                            <a:latin typeface="Cambria Math"/>
                          </a:rPr>
                          <m:t>−</m:t>
                        </m:r>
                        <m:r>
                          <a:rPr lang="fr-FR" sz="1400" i="1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fr-FR" sz="1400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fr-FR" sz="1400" i="1">
                                <a:latin typeface="Cambria Math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fr-FR" sz="1400" i="1">
                                <a:latin typeface="Cambria Math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fr-FR" sz="1400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fr-FR" sz="1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fr-FR" sz="1400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sup>
                        </m:sSup>
                        <m:sSup>
                          <m:sSupPr>
                            <m:ctrlPr>
                              <a:rPr lang="fr-FR" sz="1400" i="1">
                                <a:latin typeface="Cambria Math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fr-FR" sz="1400" b="0" i="1" smtClean="0">
                                <a:latin typeface="Cambria Math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fr-FR" sz="1400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fr-FR" sz="1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fr-FR" sz="1400" b="0" i="1" smtClean="0">
                                <a:latin typeface="Cambria Math"/>
                              </a:rPr>
                              <m:t>1−</m:t>
                            </m:r>
                            <m:r>
                              <a:rPr lang="fr-FR" sz="1400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sup>
                        </m:sSup>
                      </m:e>
                    </m:nary>
                    <m:r>
                      <a:rPr lang="fr-FR" sz="1400" i="1">
                        <a:latin typeface="Cambria Math"/>
                      </a:rPr>
                      <m:t>𝑑𝑥</m:t>
                    </m:r>
                  </m:oMath>
                </a14:m>
                <a:endParaRPr lang="fr-FR" sz="1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942" y="4677313"/>
                <a:ext cx="6941747" cy="397673"/>
              </a:xfrm>
              <a:prstGeom prst="rect">
                <a:avLst/>
              </a:prstGeom>
              <a:blipFill rotWithShape="1">
                <a:blip r:embed="rId8"/>
                <a:stretch>
                  <a:fillRect l="-263" t="-87879" b="-1424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43609" y="5166925"/>
                <a:ext cx="7225858" cy="327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La topologie engendrée par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fr-FR" sz="1400" i="1">
                            <a:latin typeface="Cambria Math"/>
                          </a:rPr>
                          <m:t>𝐾𝐿</m:t>
                        </m:r>
                      </m:sub>
                    </m:sSub>
                  </m:oMath>
                </a14:m>
                <a:r>
                  <a:rPr lang="fr-FR" sz="1400" dirty="0"/>
                  <a:t> et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fr-FR" sz="1400" i="1">
                            <a:latin typeface="Cambria Math"/>
                            <a:ea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fr-FR" sz="1400" dirty="0"/>
                  <a:t> </a:t>
                </a:r>
                <a:r>
                  <a:rPr lang="fr-FR" sz="1400" dirty="0" smtClean="0"/>
                  <a:t>ne sont pas les </a:t>
                </a:r>
                <a:r>
                  <a:rPr lang="fr-FR" sz="1400" dirty="0"/>
                  <a:t>mêmes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fr-FR" sz="1400" b="0" i="1" smtClean="0">
                            <a:latin typeface="Cambria Math"/>
                            <a:ea typeface="Cambria Math"/>
                          </a:rPr>
                          <m:t>1/2</m:t>
                        </m:r>
                      </m:sub>
                    </m:sSub>
                    <m:r>
                      <a:rPr lang="fr-FR" sz="1400" b="0" i="1" smtClean="0">
                        <a:latin typeface="Cambria Math"/>
                        <a:ea typeface="Cambria Math"/>
                      </a:rPr>
                      <m:t> →</m:t>
                    </m:r>
                    <m:r>
                      <a:rPr lang="fr-FR" sz="1400" b="0" i="1" smtClean="0">
                        <a:latin typeface="Cambria Math"/>
                        <a:ea typeface="Cambria Math"/>
                      </a:rPr>
                      <m:t>𝐷𝑖𝑠𝑡𝑎𝑛𝑐𝑒</m:t>
                    </m:r>
                  </m:oMath>
                </a14:m>
                <a:endParaRPr lang="fr-FR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9" y="5166925"/>
                <a:ext cx="7225858" cy="327077"/>
              </a:xfrm>
              <a:prstGeom prst="rect">
                <a:avLst/>
              </a:prstGeom>
              <a:blipFill rotWithShape="1">
                <a:blip r:embed="rId9"/>
                <a:stretch>
                  <a:fillRect l="-169" t="-3774" b="-113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667986" y="5486915"/>
                <a:ext cx="3959138" cy="441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fr-FR" sz="1400" i="1" smtClean="0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sz="1400" i="1" smtClean="0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fr-FR" sz="1400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sSub>
                              <m:sSubPr>
                                <m:ctrlPr>
                                  <a:rPr lang="fr-FR" sz="140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fr-FR" sz="1400" i="1" smtClean="0">
                                <a:latin typeface="Cambria Math"/>
                              </a:rPr>
                              <m:t>→</m:t>
                            </m:r>
                            <m:r>
                              <a:rPr lang="fr-FR" sz="1400" i="1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fr-FR" sz="140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fr-FR" sz="1400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fr-FR" sz="1400" i="1" smtClean="0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sz="1400" i="1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sz="1400" i="1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400" i="1">
                                            <a:latin typeface="Cambria Math"/>
                                            <a:ea typeface="Cambria Math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sz="140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fr-FR" sz="1400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fr-FR" sz="1400" i="1">
                                        <a:latin typeface="Cambria Math"/>
                                        <a:ea typeface="Cambria Math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fr-FR" sz="1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fr-FR" sz="1400" i="1">
                            <a:latin typeface="Cambria Math"/>
                            <a:ea typeface="Cambria Math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400" i="1" smtClean="0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fr-FR" sz="1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fr-FR" sz="1400" i="1">
                            <a:latin typeface="Cambria Math"/>
                          </a:rPr>
                          <m:t>|</m:t>
                        </m:r>
                        <m:d>
                          <m:dPr>
                            <m:begChr m:val="|"/>
                            <m:ctrlPr>
                              <a:rPr lang="fr-FR" sz="1400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fr-FR" sz="1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fr-FR" sz="14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sz="1400" b="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num>
                      <m:den>
                        <m:r>
                          <a:rPr lang="fr-FR" sz="1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fr-FR" sz="1400" b="0" i="1" smtClean="0">
                        <a:latin typeface="Cambria Math"/>
                      </a:rPr>
                      <m:t>𝐽</m:t>
                    </m:r>
                    <m:d>
                      <m:dPr>
                        <m:ctrlPr>
                          <a:rPr lang="fr-FR" sz="14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4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</m:d>
                  </m:oMath>
                </a14:m>
                <a:r>
                  <a:rPr lang="fr-FR" sz="1400" dirty="0"/>
                  <a:t>  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986" y="5486915"/>
                <a:ext cx="3959138" cy="44159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5854776" y="5447836"/>
            <a:ext cx="2107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Information de Fisher</a:t>
            </a:r>
          </a:p>
        </p:txBody>
      </p:sp>
      <p:cxnSp>
        <p:nvCxnSpPr>
          <p:cNvPr id="22" name="Straight Arrow Connector 21"/>
          <p:cNvCxnSpPr>
            <a:stCxn id="21" idx="1"/>
          </p:cNvCxnSpPr>
          <p:nvPr/>
        </p:nvCxnSpPr>
        <p:spPr>
          <a:xfrm flipH="1" flipV="1">
            <a:off x="4357978" y="5707713"/>
            <a:ext cx="1496798" cy="1733"/>
          </a:xfrm>
          <a:prstGeom prst="straightConnector1">
            <a:avLst/>
          </a:prstGeom>
          <a:ln w="28575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Left Brace 22"/>
          <p:cNvSpPr/>
          <p:nvPr/>
        </p:nvSpPr>
        <p:spPr>
          <a:xfrm>
            <a:off x="1102248" y="4443668"/>
            <a:ext cx="155351" cy="56132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1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494254" y="4909573"/>
            <a:ext cx="756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/>
              <a:t>H</a:t>
            </a:r>
            <a:r>
              <a:rPr lang="fr-FR" sz="1000" dirty="0" err="1" smtClean="0"/>
              <a:t>ellinger</a:t>
            </a:r>
            <a:endParaRPr lang="fr-FR" sz="1000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7872723" y="5155794"/>
            <a:ext cx="0" cy="1746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333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Wave 15"/>
          <p:cNvSpPr/>
          <p:nvPr/>
        </p:nvSpPr>
        <p:spPr bwMode="auto">
          <a:xfrm>
            <a:off x="5739072" y="4640284"/>
            <a:ext cx="2865178" cy="1482482"/>
          </a:xfrm>
          <a:prstGeom prst="wav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407" y="-46953"/>
            <a:ext cx="7704667" cy="1981200"/>
          </a:xfrm>
        </p:spPr>
        <p:txBody>
          <a:bodyPr/>
          <a:lstStyle/>
          <a:p>
            <a:r>
              <a:rPr lang="fr-FR" dirty="0" smtClean="0"/>
              <a:t>KL-Divergence et Entropie Croisée..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35</a:t>
            </a:fld>
            <a:endParaRPr lang="fr-FR" altLang="fr-FR"/>
          </a:p>
        </p:txBody>
      </p:sp>
      <p:pic>
        <p:nvPicPr>
          <p:cNvPr id="1026" name="Picture 2" descr="Too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407" y="1388907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aude Shann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994" y="1419706"/>
            <a:ext cx="1850232" cy="261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656074" y="4043401"/>
            <a:ext cx="1576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>
                <a:hlinkClick r:id="rId4"/>
              </a:rPr>
              <a:t>Claude Shannon</a:t>
            </a:r>
            <a:endParaRPr lang="fr-FR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30407" y="3528813"/>
                <a:ext cx="4525213" cy="3766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fr-FR" sz="1600" i="1">
                            <a:latin typeface="Cambria Math"/>
                          </a:rPr>
                          <m:t>𝐾𝐿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/>
                          </a:rPr>
                          <m:t>𝑝</m:t>
                        </m:r>
                        <m:r>
                          <a:rPr lang="fr-FR" sz="1600" i="1">
                            <a:latin typeface="Cambria Math"/>
                          </a:rPr>
                          <m:t>||</m:t>
                        </m:r>
                        <m:r>
                          <a:rPr lang="fr-FR" sz="1600" i="1">
                            <a:latin typeface="Cambria Math"/>
                          </a:rPr>
                          <m:t>𝑞</m:t>
                        </m:r>
                      </m:e>
                    </m:d>
                  </m:oMath>
                </a14:m>
                <a:r>
                  <a:rPr lang="fr-FR" sz="1600" dirty="0" smtClean="0"/>
                  <a:t>=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fr-FR" sz="1600" i="1"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fr-FR" sz="1600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fr-FR" sz="16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fr-FR" sz="1600" i="1">
                            <a:latin typeface="Cambria Math"/>
                          </a:rPr>
                          <m:t>𝐿𝑜𝑔</m:t>
                        </m:r>
                        <m:r>
                          <a:rPr lang="fr-FR" sz="1600" b="0" i="1" smtClean="0">
                            <a:latin typeface="Cambria Math"/>
                          </a:rPr>
                          <m:t>𝑝</m:t>
                        </m:r>
                        <m:r>
                          <a:rPr lang="fr-FR" sz="1600" b="0" i="1" smtClean="0">
                            <a:latin typeface="Cambria Math"/>
                          </a:rPr>
                          <m:t>(</m:t>
                        </m:r>
                        <m:r>
                          <a:rPr lang="fr-FR" sz="1600" b="0" i="1" smtClean="0">
                            <a:latin typeface="Cambria Math"/>
                          </a:rPr>
                          <m:t>𝑥</m:t>
                        </m:r>
                        <m:r>
                          <a:rPr lang="fr-FR" sz="1600" b="0" i="1" smtClean="0">
                            <a:latin typeface="Cambria Math"/>
                          </a:rPr>
                          <m:t>)</m:t>
                        </m:r>
                        <m:r>
                          <a:rPr lang="fr-FR" sz="1600" i="1">
                            <a:latin typeface="Cambria Math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fr-FR" sz="1600" dirty="0" smtClean="0"/>
                  <a:t>-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fr-FR" sz="1600" i="1"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fr-FR" sz="1600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fr-FR" sz="16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fr-FR" sz="1600" i="1">
                            <a:latin typeface="Cambria Math"/>
                          </a:rPr>
                          <m:t>𝐿𝑜𝑔</m:t>
                        </m:r>
                        <m:r>
                          <a:rPr lang="fr-FR" sz="1600" b="0" i="1" smtClean="0">
                            <a:latin typeface="Cambria Math"/>
                          </a:rPr>
                          <m:t>𝑞</m:t>
                        </m:r>
                        <m:d>
                          <m:dPr>
                            <m:ctrlPr>
                              <a:rPr lang="fr-FR" sz="16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fr-FR" sz="1600" i="1">
                            <a:latin typeface="Cambria Math"/>
                          </a:rPr>
                          <m:t>𝑑𝑥</m:t>
                        </m:r>
                      </m:e>
                    </m:nary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407" y="3528813"/>
                <a:ext cx="4525213" cy="376642"/>
              </a:xfrm>
              <a:prstGeom prst="rect">
                <a:avLst/>
              </a:prstGeom>
              <a:blipFill rotWithShape="1">
                <a:blip r:embed="rId5"/>
                <a:stretch>
                  <a:fillRect t="-124194" b="-1838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82625" y="4457881"/>
                <a:ext cx="39147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/>
                            </a:rPr>
                            <m:t>𝑝</m:t>
                          </m:r>
                          <m:r>
                            <a:rPr lang="fr-FR" i="1">
                              <a:latin typeface="Cambria Math"/>
                            </a:rPr>
                            <m:t>||</m:t>
                          </m:r>
                          <m:r>
                            <a:rPr lang="fr-FR" i="1">
                              <a:latin typeface="Cambria Math"/>
                            </a:rPr>
                            <m:t>𝑞</m:t>
                          </m:r>
                        </m:e>
                      </m:d>
                      <m:r>
                        <a:rPr lang="fr-FR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/>
                            </a:rPr>
                            <m:t>𝑝</m:t>
                          </m:r>
                        </m:e>
                      </m:d>
                      <m:r>
                        <a:rPr lang="fr-FR" b="0" i="1" smtClean="0">
                          <a:latin typeface="Cambria Math"/>
                        </a:rPr>
                        <m:t>−</m:t>
                      </m:r>
                      <m:r>
                        <a:rPr lang="fr-FR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25" y="4457881"/>
                <a:ext cx="3914726" cy="461665"/>
              </a:xfrm>
              <a:prstGeom prst="rect">
                <a:avLst/>
              </a:prstGeom>
              <a:blipFill rotWithShape="1">
                <a:blip r:embed="rId6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885944" y="5208329"/>
            <a:ext cx="1257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Entropie</a:t>
            </a:r>
            <a:endParaRPr lang="fr-FR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056131" y="5211412"/>
            <a:ext cx="2252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Entropie croisée</a:t>
            </a:r>
            <a:endParaRPr lang="fr-FR" sz="2000" dirty="0"/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 bwMode="auto">
          <a:xfrm flipH="1" flipV="1">
            <a:off x="3906542" y="4919546"/>
            <a:ext cx="275859" cy="2918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>
            <a:stCxn id="9" idx="0"/>
            <a:endCxn id="8" idx="2"/>
          </p:cNvCxnSpPr>
          <p:nvPr/>
        </p:nvCxnSpPr>
        <p:spPr bwMode="auto">
          <a:xfrm flipV="1">
            <a:off x="1514482" y="4919546"/>
            <a:ext cx="1125506" cy="2887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5730948" y="5031175"/>
            <a:ext cx="2716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200" dirty="0" smtClean="0"/>
              <a:t>Un critère efficace</a:t>
            </a:r>
          </a:p>
          <a:p>
            <a:pPr marL="285750" indent="-285750">
              <a:buFontTx/>
              <a:buChar char="-"/>
            </a:pPr>
            <a:r>
              <a:rPr lang="fr-FR" sz="1200" dirty="0" smtClean="0"/>
              <a:t>Problèmes de classification</a:t>
            </a:r>
          </a:p>
          <a:p>
            <a:pPr marL="285750" indent="-285750">
              <a:buFontTx/>
              <a:buChar char="-"/>
            </a:pPr>
            <a:r>
              <a:rPr lang="fr-FR" sz="1200" dirty="0" smtClean="0"/>
              <a:t>Gradient lointain encore actif</a:t>
            </a:r>
            <a:endParaRPr lang="fr-FR" sz="1200" dirty="0"/>
          </a:p>
        </p:txBody>
      </p:sp>
      <p:cxnSp>
        <p:nvCxnSpPr>
          <p:cNvPr id="18" name="Straight Arrow Connector 17"/>
          <p:cNvCxnSpPr>
            <a:stCxn id="16" idx="1"/>
            <a:endCxn id="10" idx="3"/>
          </p:cNvCxnSpPr>
          <p:nvPr/>
        </p:nvCxnSpPr>
        <p:spPr bwMode="auto">
          <a:xfrm flipH="1">
            <a:off x="5308671" y="5381525"/>
            <a:ext cx="430401" cy="299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4061322" y="1925908"/>
            <a:ext cx="20072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Choisir</a:t>
            </a:r>
          </a:p>
          <a:p>
            <a:r>
              <a:rPr lang="fr-FR" dirty="0" smtClean="0"/>
              <a:t>Le bon outil</a:t>
            </a:r>
          </a:p>
        </p:txBody>
      </p:sp>
      <p:cxnSp>
        <p:nvCxnSpPr>
          <p:cNvPr id="27" name="Straight Arrow Connector 26"/>
          <p:cNvCxnSpPr/>
          <p:nvPr/>
        </p:nvCxnSpPr>
        <p:spPr bwMode="auto">
          <a:xfrm>
            <a:off x="1139825" y="4260902"/>
            <a:ext cx="457200" cy="228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/>
          <p:cNvSpPr txBox="1"/>
          <p:nvPr/>
        </p:nvSpPr>
        <p:spPr>
          <a:xfrm>
            <a:off x="395287" y="3968184"/>
            <a:ext cx="1851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Mesure un écart</a:t>
            </a:r>
            <a:endParaRPr lang="fr-FR" sz="1600" dirty="0"/>
          </a:p>
        </p:txBody>
      </p:sp>
      <p:sp>
        <p:nvSpPr>
          <p:cNvPr id="31" name="Rectangle 30"/>
          <p:cNvSpPr/>
          <p:nvPr/>
        </p:nvSpPr>
        <p:spPr bwMode="auto">
          <a:xfrm>
            <a:off x="684213" y="4489502"/>
            <a:ext cx="4026010" cy="430044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4377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856" y="-217628"/>
            <a:ext cx="7704667" cy="1981200"/>
          </a:xfrm>
        </p:spPr>
        <p:txBody>
          <a:bodyPr/>
          <a:lstStyle/>
          <a:p>
            <a:pPr eaLnBrk="1" hangingPunct="1"/>
            <a:r>
              <a:rPr lang="fr-FR" dirty="0" err="1"/>
              <a:t>Inegalité</a:t>
            </a:r>
            <a:r>
              <a:rPr lang="fr-FR" dirty="0"/>
              <a:t> de Jensen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36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2237536" y="3763626"/>
            <a:ext cx="44644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2381552" y="2035434"/>
            <a:ext cx="0" cy="18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2640215" y="1783567"/>
            <a:ext cx="3485753" cy="2181225"/>
          </a:xfrm>
          <a:custGeom>
            <a:avLst/>
            <a:gdLst>
              <a:gd name="connsiteX0" fmla="*/ 0 w 2524125"/>
              <a:gd name="connsiteY0" fmla="*/ 2181225 h 2181225"/>
              <a:gd name="connsiteX1" fmla="*/ 38100 w 2524125"/>
              <a:gd name="connsiteY1" fmla="*/ 1885950 h 2181225"/>
              <a:gd name="connsiteX2" fmla="*/ 142875 w 2524125"/>
              <a:gd name="connsiteY2" fmla="*/ 1495425 h 2181225"/>
              <a:gd name="connsiteX3" fmla="*/ 352425 w 2524125"/>
              <a:gd name="connsiteY3" fmla="*/ 1123950 h 2181225"/>
              <a:gd name="connsiteX4" fmla="*/ 714375 w 2524125"/>
              <a:gd name="connsiteY4" fmla="*/ 628650 h 2181225"/>
              <a:gd name="connsiteX5" fmla="*/ 1200150 w 2524125"/>
              <a:gd name="connsiteY5" fmla="*/ 285750 h 2181225"/>
              <a:gd name="connsiteX6" fmla="*/ 1752600 w 2524125"/>
              <a:gd name="connsiteY6" fmla="*/ 114300 h 2181225"/>
              <a:gd name="connsiteX7" fmla="*/ 2524125 w 2524125"/>
              <a:gd name="connsiteY7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4125" h="2181225">
                <a:moveTo>
                  <a:pt x="0" y="2181225"/>
                </a:moveTo>
                <a:cubicBezTo>
                  <a:pt x="7144" y="2090737"/>
                  <a:pt x="14288" y="2000250"/>
                  <a:pt x="38100" y="1885950"/>
                </a:cubicBezTo>
                <a:cubicBezTo>
                  <a:pt x="61912" y="1771650"/>
                  <a:pt x="90488" y="1622425"/>
                  <a:pt x="142875" y="1495425"/>
                </a:cubicBezTo>
                <a:cubicBezTo>
                  <a:pt x="195262" y="1368425"/>
                  <a:pt x="257175" y="1268412"/>
                  <a:pt x="352425" y="1123950"/>
                </a:cubicBezTo>
                <a:cubicBezTo>
                  <a:pt x="447675" y="979487"/>
                  <a:pt x="573088" y="768350"/>
                  <a:pt x="714375" y="628650"/>
                </a:cubicBezTo>
                <a:cubicBezTo>
                  <a:pt x="855663" y="488950"/>
                  <a:pt x="1027112" y="371475"/>
                  <a:pt x="1200150" y="285750"/>
                </a:cubicBezTo>
                <a:cubicBezTo>
                  <a:pt x="1373188" y="200025"/>
                  <a:pt x="1531938" y="161925"/>
                  <a:pt x="1752600" y="114300"/>
                </a:cubicBezTo>
                <a:cubicBezTo>
                  <a:pt x="1973262" y="66675"/>
                  <a:pt x="2387600" y="19050"/>
                  <a:pt x="2524125" y="0"/>
                </a:cubicBez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cxnSp>
        <p:nvCxnSpPr>
          <p:cNvPr id="27" name="Straight Connector 26"/>
          <p:cNvCxnSpPr>
            <a:stCxn id="26" idx="2"/>
          </p:cNvCxnSpPr>
          <p:nvPr/>
        </p:nvCxnSpPr>
        <p:spPr>
          <a:xfrm flipV="1">
            <a:off x="2837522" y="1891418"/>
            <a:ext cx="2280334" cy="138757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608304" y="1528535"/>
                <a:ext cx="26875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/>
                        </a:rPr>
                        <m:t>𝐿𝑜𝑔</m:t>
                      </m:r>
                      <m:d>
                        <m:d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fr-FR" sz="1800" b="0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sSub>
                            <m:sSubPr>
                              <m:ctrlPr>
                                <a:rPr lang="fr-FR" sz="18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fr-FR" sz="18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800" b="0" i="1" smtClean="0">
                                  <a:latin typeface="Cambria Math"/>
                                  <a:ea typeface="Cambria Math"/>
                                </a:rPr>
                                <m:t>1−</m:t>
                              </m:r>
                              <m:r>
                                <a:rPr lang="fr-FR" sz="1800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1800" b="0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sSub>
                            <m:sSubPr>
                              <m:ctrlPr>
                                <a:rPr lang="fr-FR" sz="18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304" y="1528535"/>
                <a:ext cx="2687531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956729" y="2511056"/>
                <a:ext cx="30530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solidFill>
                            <a:srgbClr val="FF0000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fr-FR" sz="1800" b="0" i="1" smtClean="0">
                          <a:solidFill>
                            <a:srgbClr val="FF0000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fr-FR" sz="1800" b="0" i="1" smtClean="0">
                          <a:solidFill>
                            <a:srgbClr val="FF0000"/>
                          </a:solidFill>
                          <a:effectLst/>
                          <a:latin typeface="Cambria Math"/>
                        </a:rPr>
                        <m:t>𝐿𝑜𝑔</m:t>
                      </m:r>
                      <m:d>
                        <m:dPr>
                          <m:ctrlPr>
                            <a:rPr lang="fr-FR" sz="1800" i="1" smtClean="0">
                              <a:solidFill>
                                <a:srgbClr val="FF0000"/>
                              </a:solidFill>
                              <a:effectLst/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80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8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sz="1800" b="0" i="0" smtClean="0">
                          <a:solidFill>
                            <a:srgbClr val="FF0000"/>
                          </a:solidFill>
                          <a:effectLst/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fr-FR" sz="1800" i="1" smtClean="0">
                              <a:solidFill>
                                <a:srgbClr val="FF0000"/>
                              </a:solidFill>
                              <a:effectLst/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/>
                            </a:rPr>
                            <m:t>1−</m:t>
                          </m:r>
                          <m:r>
                            <a:rPr lang="fr-FR" sz="18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fr-FR" sz="1800" b="0" i="1" smtClean="0">
                          <a:solidFill>
                            <a:srgbClr val="FF0000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fr-FR" sz="1800" i="1">
                          <a:solidFill>
                            <a:srgbClr val="FF0000"/>
                          </a:solidFill>
                          <a:latin typeface="Cambria Math"/>
                        </a:rPr>
                        <m:t>𝐿𝑜𝑔</m:t>
                      </m:r>
                      <m:d>
                        <m:dPr>
                          <m:ctrlPr>
                            <a:rPr lang="fr-FR" sz="18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8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8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8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729" y="2511056"/>
                <a:ext cx="3053015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/>
          <p:cNvCxnSpPr>
            <a:stCxn id="26" idx="2"/>
          </p:cNvCxnSpPr>
          <p:nvPr/>
        </p:nvCxnSpPr>
        <p:spPr>
          <a:xfrm>
            <a:off x="2837522" y="3278992"/>
            <a:ext cx="0" cy="484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6" idx="6"/>
          </p:cNvCxnSpPr>
          <p:nvPr/>
        </p:nvCxnSpPr>
        <p:spPr>
          <a:xfrm flipH="1">
            <a:off x="5048566" y="1897867"/>
            <a:ext cx="11945" cy="1865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607138" y="3846593"/>
                <a:ext cx="4896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138" y="3846593"/>
                <a:ext cx="489621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830127" y="3846593"/>
                <a:ext cx="4949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127" y="3846593"/>
                <a:ext cx="494944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2151302" y="1899326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Log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407464" y="4531697"/>
                <a:ext cx="22270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sz="1800" i="1" dirty="0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800" b="0" i="1" dirty="0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fr-FR" sz="1800" b="0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fr-FR" sz="1800" b="0" i="1" smtClean="0">
                          <a:latin typeface="Cambria Math"/>
                          <a:ea typeface="Cambria Math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800" b="0" i="1" smtClean="0"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  <a:ea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fr-FR" sz="18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800" b="0" i="1" smtClean="0">
                                  <a:latin typeface="Cambria Math"/>
                                  <a:ea typeface="Cambria Math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464" y="4531697"/>
                <a:ext cx="2227020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3815594" y="453169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F concave  =&gt;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93491" y="4531697"/>
            <a:ext cx="4190237" cy="432048"/>
          </a:xfrm>
          <a:prstGeom prst="rect">
            <a:avLst/>
          </a:prstGeom>
          <a:solidFill>
            <a:srgbClr val="00B050">
              <a:alpha val="30000"/>
            </a:srgb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8" name="TextBox 37"/>
          <p:cNvSpPr txBox="1"/>
          <p:nvPr/>
        </p:nvSpPr>
        <p:spPr>
          <a:xfrm>
            <a:off x="2166691" y="4563055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Jensen 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9512" y="2842092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2 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468" y="4563055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N points &gt;2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7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34" y="-214101"/>
            <a:ext cx="7704667" cy="1981200"/>
          </a:xfrm>
        </p:spPr>
        <p:txBody>
          <a:bodyPr/>
          <a:lstStyle/>
          <a:p>
            <a:pPr eaLnBrk="1" hangingPunct="1"/>
            <a:r>
              <a:rPr lang="fr-FR" dirty="0"/>
              <a:t>Inférence Variationnelle (la borne)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5640" y="5312655"/>
            <a:ext cx="8640960" cy="670845"/>
          </a:xfrm>
          <a:prstGeom prst="rect">
            <a:avLst/>
          </a:prstGeom>
          <a:solidFill>
            <a:srgbClr val="92D050">
              <a:alpha val="15000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12414" y="1696332"/>
                <a:ext cx="3583353" cy="777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/>
                        </a:rPr>
                        <m:t>𝐿𝑜𝑔</m:t>
                      </m:r>
                      <m:r>
                        <a:rPr lang="fr-FR" sz="2000" b="0" i="1" smtClean="0">
                          <a:latin typeface="Cambria Math"/>
                        </a:rPr>
                        <m:t> </m:t>
                      </m:r>
                      <m:r>
                        <a:rPr lang="fr-FR" sz="2000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fr-FR" sz="2000" b="0" i="1" smtClean="0">
                          <a:latin typeface="Cambria Math"/>
                        </a:rPr>
                        <m:t>=</m:t>
                      </m:r>
                      <m:r>
                        <a:rPr lang="fr-FR" sz="2000" b="0" i="1" smtClean="0">
                          <a:latin typeface="Cambria Math"/>
                        </a:rPr>
                        <m:t>𝐿𝑜𝑔</m:t>
                      </m:r>
                      <m:r>
                        <a:rPr lang="fr-FR" sz="20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2000" i="1">
                                  <a:latin typeface="Cambria Math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fr-FR" sz="2000" i="1">
                                  <a:latin typeface="Cambria Math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fr-FR" sz="20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fr-FR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fr-FR" sz="2000" i="1">
                                      <a:latin typeface="Cambria Math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fr-FR" sz="2000" i="1">
                                  <a:latin typeface="Cambria Math"/>
                                </a:rPr>
                                <m:t>𝑑𝑧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414" y="1696332"/>
                <a:ext cx="3583353" cy="77726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68495" y="2560428"/>
                <a:ext cx="3132652" cy="777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/>
                        </a:rPr>
                        <m:t>=</m:t>
                      </m:r>
                      <m:r>
                        <a:rPr lang="fr-FR" sz="2000" b="0" i="1" smtClean="0">
                          <a:latin typeface="Cambria Math"/>
                        </a:rPr>
                        <m:t>𝐿𝑜𝑔</m:t>
                      </m:r>
                      <m:r>
                        <a:rPr lang="fr-FR" sz="20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fr-FR" sz="2000" b="0" i="1" smtClean="0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2000" b="0" i="1" smtClean="0">
                                  <a:latin typeface="Cambria Math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fr-FR" sz="2000" b="0" i="1" smtClean="0">
                                  <a:latin typeface="Cambria Math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fr-FR" sz="2000" b="0" i="1" smtClean="0">
                                  <a:latin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fr-FR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𝑧</m:t>
                                  </m:r>
                                </m:e>
                              </m:d>
                              <m:f>
                                <m:fPr>
                                  <m:ctrlPr>
                                    <a:rPr lang="fr-FR" sz="2000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𝑧</m:t>
                                  </m:r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𝑧</m:t>
                                  </m:r>
                                  <m:r>
                                    <a:rPr lang="fr-FR" sz="2000" b="0" i="1" smtClean="0">
                                      <a:latin typeface="Cambria Math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  <m:r>
                            <a:rPr lang="fr-FR" sz="2000" b="0" i="1" smtClean="0">
                              <a:latin typeface="Cambria Math"/>
                            </a:rPr>
                            <m:t>𝑑𝑧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495" y="2560428"/>
                <a:ext cx="3132652" cy="7772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368495" y="3496532"/>
                <a:ext cx="2468112" cy="777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/>
                        </a:rPr>
                        <m:t>=</m:t>
                      </m:r>
                      <m:r>
                        <a:rPr lang="fr-FR" sz="2000" b="0" i="1" smtClean="0">
                          <a:latin typeface="Cambria Math"/>
                        </a:rPr>
                        <m:t>𝐿𝑜𝑔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  <a:ea typeface="Cambria Math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/>
                                </a:rPr>
                                <m:t>𝑞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fr-FR" sz="2000" i="1"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000" i="1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𝑝</m:t>
                                  </m:r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(</m:t>
                                  </m:r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𝑧</m:t>
                                  </m:r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𝑞</m:t>
                                  </m:r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(</m:t>
                                  </m:r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𝑧</m:t>
                                  </m:r>
                                  <m:r>
                                    <a:rPr lang="fr-FR" sz="2000" i="1">
                                      <a:latin typeface="Cambria Math"/>
                                      <a:ea typeface="Cambria Math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495" y="3496532"/>
                <a:ext cx="2468112" cy="7772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68495" y="4648660"/>
                <a:ext cx="5544082" cy="445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i="1" smtClean="0">
                        <a:latin typeface="Cambria Math"/>
                        <a:ea typeface="Cambria Math"/>
                      </a:rPr>
                      <m:t>≥</m:t>
                    </m:r>
                    <m:sSub>
                      <m:sSubPr>
                        <m:ctrlPr>
                          <a:rPr lang="fr-FR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/>
                            <a:ea typeface="Cambria Math"/>
                          </a:rPr>
                          <m:t>𝔼</m:t>
                        </m:r>
                      </m:e>
                      <m:sub>
                        <m:r>
                          <a:rPr lang="fr-FR" sz="2000" i="1">
                            <a:latin typeface="Cambria Math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2000" i="1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/>
                            <a:ea typeface="Cambria Math"/>
                          </a:rPr>
                          <m:t>𝐿𝑜𝑔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20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  <m:r>
                              <a:rPr lang="fr-FR" sz="2000" i="1">
                                <a:latin typeface="Cambria Math"/>
                                <a:ea typeface="Cambria Math"/>
                              </a:rPr>
                              <m:t>(</m:t>
                            </m:r>
                            <m:r>
                              <a:rPr lang="fr-FR" sz="20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fr-FR" sz="2000" i="1">
                                <a:latin typeface="Cambria Math"/>
                                <a:ea typeface="Cambria Math"/>
                              </a:rPr>
                              <m:t>,</m:t>
                            </m:r>
                            <m:r>
                              <a:rPr lang="fr-FR" sz="2000" i="1">
                                <a:latin typeface="Cambria Math"/>
                                <a:ea typeface="Cambria Math"/>
                              </a:rPr>
                              <m:t>𝑧</m:t>
                            </m:r>
                            <m:r>
                              <a:rPr lang="fr-FR" sz="2000" i="1"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lang="fr-FR" sz="2000" dirty="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/>
                            <a:ea typeface="Cambria Math"/>
                          </a:rPr>
                          <m:t>𝔼</m:t>
                        </m:r>
                      </m:e>
                      <m:sub>
                        <m:r>
                          <a:rPr lang="fr-FR" sz="2000" i="1">
                            <a:latin typeface="Cambria Math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2000" i="1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/>
                            <a:ea typeface="Cambria Math"/>
                          </a:rPr>
                          <m:t>𝐿𝑜𝑔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/>
                                <a:ea typeface="Cambria Math"/>
                              </a:rPr>
                              <m:t>𝑞</m:t>
                            </m:r>
                            <m:r>
                              <a:rPr lang="fr-FR" sz="2000" b="0" i="1" smtClean="0">
                                <a:latin typeface="Cambria Math"/>
                                <a:ea typeface="Cambria Math"/>
                              </a:rPr>
                              <m:t>(</m:t>
                            </m:r>
                            <m:r>
                              <a:rPr lang="fr-FR" sz="2000" b="0" i="1" smtClean="0">
                                <a:latin typeface="Cambria Math"/>
                                <a:ea typeface="Cambria Math"/>
                              </a:rPr>
                              <m:t>𝑧</m:t>
                            </m:r>
                            <m:r>
                              <a:rPr lang="fr-FR" sz="2000" b="0" i="1" smtClean="0"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a:rPr lang="fr-FR" sz="2000" b="0" i="1" smtClean="0">
                        <a:latin typeface="Cambria Math"/>
                        <a:ea typeface="Cambria Math"/>
                      </a:rPr>
                      <m:t> ≡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ELBO</m:t>
                    </m:r>
                    <m:r>
                      <a:rPr lang="fr-FR" sz="2000" b="0" i="0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p</m:t>
                    </m:r>
                    <m:r>
                      <a:rPr lang="fr-FR" sz="2000" b="0" i="0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q</m:t>
                    </m:r>
                    <m:r>
                      <a:rPr lang="fr-FR" sz="2000" b="0" i="0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fr-FR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495" y="4648660"/>
                <a:ext cx="5544082" cy="445891"/>
              </a:xfrm>
              <a:prstGeom prst="rect">
                <a:avLst/>
              </a:prstGeom>
              <a:blipFill rotWithShape="1">
                <a:blip r:embed="rId5"/>
                <a:stretch>
                  <a:fillRect t="-4110" b="-164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139248" y="1115426"/>
            <a:ext cx="2209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Z n’est pas observé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645225" y="1484758"/>
            <a:ext cx="501084" cy="427598"/>
          </a:xfrm>
          <a:prstGeom prst="straightConnector1">
            <a:avLst/>
          </a:prstGeom>
          <a:ln w="254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8224" y="1866026"/>
            <a:ext cx="1628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q(z) arbitraire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895767" y="2145031"/>
            <a:ext cx="1675668" cy="543039"/>
          </a:xfrm>
          <a:prstGeom prst="straightConnector1">
            <a:avLst/>
          </a:prstGeom>
          <a:ln w="254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70962" y="3835920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Jensen</a:t>
            </a:r>
          </a:p>
        </p:txBody>
      </p:sp>
      <p:cxnSp>
        <p:nvCxnSpPr>
          <p:cNvPr id="15" name="Straight Arrow Connector 14"/>
          <p:cNvCxnSpPr>
            <a:endCxn id="9" idx="1"/>
          </p:cNvCxnSpPr>
          <p:nvPr/>
        </p:nvCxnSpPr>
        <p:spPr>
          <a:xfrm>
            <a:off x="2136508" y="4205252"/>
            <a:ext cx="1231987" cy="666354"/>
          </a:xfrm>
          <a:prstGeom prst="straightConnector1">
            <a:avLst/>
          </a:prstGeom>
          <a:ln w="254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4181" y="1335134"/>
            <a:ext cx="1593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X est observé</a:t>
            </a:r>
          </a:p>
          <a:p>
            <a:r>
              <a:rPr lang="fr-FR" sz="1600" dirty="0"/>
              <a:t>Z est caché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027" y="1319745"/>
            <a:ext cx="1686756" cy="574832"/>
          </a:xfrm>
          <a:prstGeom prst="rect">
            <a:avLst/>
          </a:prstGeom>
          <a:solidFill>
            <a:srgbClr val="92D05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8" name="Left Brace 17"/>
          <p:cNvSpPr/>
          <p:nvPr/>
        </p:nvSpPr>
        <p:spPr>
          <a:xfrm rot="5400000">
            <a:off x="6157754" y="3880451"/>
            <a:ext cx="288034" cy="12961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19" name="TextBox 18"/>
          <p:cNvSpPr txBox="1"/>
          <p:nvPr/>
        </p:nvSpPr>
        <p:spPr>
          <a:xfrm>
            <a:off x="5728339" y="4045951"/>
            <a:ext cx="1545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Entropie de 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780" y="5367948"/>
            <a:ext cx="7946021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600" dirty="0"/>
              <a:t>Donc maximiser l'Esperance de la borne basse donne une borne basse sur </a:t>
            </a:r>
          </a:p>
          <a:p>
            <a:pPr algn="ctr"/>
            <a:r>
              <a:rPr lang="fr-FR" sz="1600" dirty="0"/>
              <a:t>la vraisemblance qui peut être une bonne approximation de celle-ci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96017" y="-252765"/>
            <a:ext cx="7114264" cy="1757337"/>
          </a:xfrm>
        </p:spPr>
        <p:txBody>
          <a:bodyPr/>
          <a:lstStyle/>
          <a:p>
            <a:pPr eaLnBrk="1" hangingPunct="1"/>
            <a:r>
              <a:rPr lang="fr-FR" dirty="0"/>
              <a:t>Relation avec la KL divergence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38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6016" y="4951641"/>
            <a:ext cx="6708290" cy="1008112"/>
          </a:xfrm>
          <a:prstGeom prst="rect">
            <a:avLst/>
          </a:prstGeom>
          <a:solidFill>
            <a:srgbClr val="92D050">
              <a:alpha val="24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13623" y="992444"/>
                <a:ext cx="5624921" cy="582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dirty="0"/>
                  <a:t>On veut approximer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fr-FR" sz="20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/>
                          </a:rPr>
                          <m:t>𝑧</m:t>
                        </m:r>
                      </m:e>
                      <m:e>
                        <m:r>
                          <a:rPr lang="fr-FR" sz="20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fr-FR" sz="20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fr-FR" sz="20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/>
                          </a:rPr>
                          <m:t>𝑝</m:t>
                        </m:r>
                        <m:r>
                          <a:rPr lang="fr-FR" sz="2000" b="0" i="1" smtClean="0">
                            <a:latin typeface="Cambria Math"/>
                          </a:rPr>
                          <m:t>(</m:t>
                        </m:r>
                        <m:r>
                          <a:rPr lang="fr-FR" sz="2000" b="0" i="1" smtClean="0">
                            <a:latin typeface="Cambria Math"/>
                          </a:rPr>
                          <m:t>𝑧</m:t>
                        </m:r>
                        <m:r>
                          <a:rPr lang="fr-FR" sz="2000" b="0" i="1" smtClean="0">
                            <a:latin typeface="Cambria Math"/>
                          </a:rPr>
                          <m:t>,</m:t>
                        </m:r>
                        <m:r>
                          <a:rPr lang="fr-FR" sz="2000" b="0" i="1" smtClean="0">
                            <a:latin typeface="Cambria Math"/>
                          </a:rPr>
                          <m:t>𝑥</m:t>
                        </m:r>
                        <m:r>
                          <a:rPr lang="fr-FR" sz="2000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fr-FR" sz="2000" b="0" i="1" smtClean="0">
                            <a:latin typeface="Cambria Math"/>
                          </a:rPr>
                          <m:t>𝑝</m:t>
                        </m:r>
                        <m:r>
                          <a:rPr lang="fr-FR" sz="2000" b="0" i="1" smtClean="0">
                            <a:latin typeface="Cambria Math"/>
                          </a:rPr>
                          <m:t>(</m:t>
                        </m:r>
                        <m:r>
                          <a:rPr lang="fr-FR" sz="2000" b="0" i="1" smtClean="0">
                            <a:latin typeface="Cambria Math"/>
                          </a:rPr>
                          <m:t>𝑥</m:t>
                        </m:r>
                        <m:r>
                          <a:rPr lang="fr-FR" sz="2000" b="0" i="1" smtClean="0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fr-FR" sz="1800" dirty="0"/>
                  <a:t> par </a:t>
                </a: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/>
                      </a:rPr>
                      <m:t>𝑞</m:t>
                    </m:r>
                    <m:r>
                      <a:rPr lang="fr-FR" sz="1800" b="0" i="1" smtClean="0">
                        <a:latin typeface="Cambria Math"/>
                      </a:rPr>
                      <m:t>(</m:t>
                    </m:r>
                    <m:r>
                      <a:rPr lang="fr-FR" sz="1800" b="0" i="1" smtClean="0">
                        <a:latin typeface="Cambria Math"/>
                      </a:rPr>
                      <m:t>𝑧</m:t>
                    </m:r>
                    <m:r>
                      <a:rPr lang="fr-FR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623" y="992444"/>
                <a:ext cx="5624921" cy="582660"/>
              </a:xfrm>
              <a:prstGeom prst="rect">
                <a:avLst/>
              </a:prstGeom>
              <a:blipFill rotWithShape="1">
                <a:blip r:embed="rId2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97600" y="2112621"/>
                <a:ext cx="4071691" cy="7087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i="1"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800" i="1"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fr-FR" sz="1800" i="1">
                              <a:latin typeface="Cambria Math"/>
                            </a:rPr>
                            <m:t>||</m:t>
                          </m:r>
                          <m:r>
                            <a:rPr lang="fr-FR" sz="1800" i="1">
                              <a:latin typeface="Cambria Math"/>
                            </a:rPr>
                            <m:t>𝑝</m:t>
                          </m:r>
                          <m:r>
                            <a:rPr lang="fr-FR" sz="1800" i="1">
                              <a:latin typeface="Cambria Math"/>
                            </a:rPr>
                            <m:t>(</m:t>
                          </m:r>
                          <m:r>
                            <a:rPr lang="fr-FR" sz="1800" i="1">
                              <a:latin typeface="Cambria Math"/>
                            </a:rPr>
                            <m:t>𝑧</m:t>
                          </m:r>
                          <m:r>
                            <a:rPr lang="fr-FR" sz="1800" i="1">
                              <a:latin typeface="Cambria Math"/>
                            </a:rPr>
                            <m:t>|</m:t>
                          </m:r>
                          <m:r>
                            <a:rPr lang="fr-FR" sz="1800" i="1">
                              <a:latin typeface="Cambria Math"/>
                            </a:rPr>
                            <m:t>𝑥</m:t>
                          </m:r>
                          <m:r>
                            <a:rPr lang="fr-FR" sz="1800" i="1"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fr-FR" sz="1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 </m:t>
                          </m:r>
                          <m:f>
                            <m:fPr>
                              <m:ctrlPr>
                                <a:rPr lang="fr-FR" sz="1800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fr-FR" sz="1800" b="0" i="1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fr-FR" sz="1800" b="0" i="1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 |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00" y="2112621"/>
                <a:ext cx="4071691" cy="7087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469125" y="1537917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Définition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085832" y="1895320"/>
            <a:ext cx="0" cy="571661"/>
          </a:xfrm>
          <a:prstGeom prst="straightConnector1">
            <a:avLst/>
          </a:prstGeom>
          <a:ln w="3175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97800" y="2821341"/>
                <a:ext cx="3762953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𝑞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fr-FR" sz="1800" b="0" i="0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</m:e>
                        <m:sub>
                          <m:r>
                            <a:rPr lang="fr-FR" sz="1800" i="1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|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0" y="2821341"/>
                <a:ext cx="3762953" cy="390748"/>
              </a:xfrm>
              <a:prstGeom prst="rect">
                <a:avLst/>
              </a:prstGeom>
              <a:blipFill rotWithShape="1">
                <a:blip r:embed="rId4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797800" y="3395421"/>
                <a:ext cx="4947765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𝑞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fr-FR" sz="1800" b="0" i="0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</m:e>
                        <m:sub>
                          <m:r>
                            <a:rPr lang="fr-FR" sz="1800" i="1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8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800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fr-FR" sz="1800" b="0" i="1" smtClean="0">
                          <a:latin typeface="Cambria Math"/>
                        </a:rPr>
                        <m:t>+</m:t>
                      </m:r>
                      <m:r>
                        <a:rPr lang="fr-FR" sz="1800" b="0" i="1" smtClean="0">
                          <a:latin typeface="Cambria Math"/>
                        </a:rPr>
                        <m:t>𝐿𝑜𝑔</m:t>
                      </m:r>
                      <m:r>
                        <a:rPr lang="fr-FR" sz="1800" b="0" i="1" smtClean="0">
                          <a:latin typeface="Cambria Math"/>
                        </a:rPr>
                        <m:t> </m:t>
                      </m:r>
                      <m:r>
                        <a:rPr lang="fr-FR" sz="1800" b="0" i="1" smtClean="0">
                          <a:latin typeface="Cambria Math"/>
                        </a:rPr>
                        <m:t>𝑝</m:t>
                      </m:r>
                      <m:r>
                        <a:rPr lang="fr-FR" sz="1800" b="0" i="1" smtClean="0">
                          <a:latin typeface="Cambria Math"/>
                        </a:rPr>
                        <m:t>(</m:t>
                      </m:r>
                      <m:r>
                        <a:rPr lang="fr-FR" sz="1800" b="0" i="1" smtClean="0">
                          <a:latin typeface="Cambria Math"/>
                        </a:rPr>
                        <m:t>𝑥</m:t>
                      </m:r>
                      <m:r>
                        <a:rPr lang="fr-FR" sz="18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0" y="3395421"/>
                <a:ext cx="4947765" cy="390748"/>
              </a:xfrm>
              <a:prstGeom prst="rect">
                <a:avLst/>
              </a:prstGeom>
              <a:blipFill rotWithShape="1"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97800" y="4364869"/>
                <a:ext cx="531248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/>
                        </a:rPr>
                        <m:t>=−(</m:t>
                      </m:r>
                      <m:sSub>
                        <m:sSubPr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</m:e>
                        <m:sub>
                          <m:r>
                            <a:rPr lang="fr-FR" sz="1800" i="1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i="1">
                              <a:latin typeface="Cambria Math"/>
                            </a:rPr>
                            <m:t>𝐿𝑜𝑔</m:t>
                          </m:r>
                          <m:r>
                            <a:rPr lang="fr-FR" sz="1800" i="1">
                              <a:latin typeface="Cambria Math"/>
                            </a:rPr>
                            <m:t> </m:t>
                          </m:r>
                          <m:r>
                            <a:rPr lang="fr-FR" sz="1800" i="1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800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fr-FR" sz="18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fr-FR" sz="18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fr-FR" sz="18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fr-FR" sz="1800" b="0" i="1" smtClean="0"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8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8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fr-FR" sz="1800" b="0" i="1" smtClean="0">
                          <a:latin typeface="Cambria Math"/>
                        </a:rPr>
                        <m:t>)+</m:t>
                      </m:r>
                      <m:r>
                        <a:rPr lang="fr-FR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𝐿𝑜𝑔</m:t>
                      </m:r>
                      <m:r>
                        <a:rPr lang="fr-FR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fr-FR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𝑝</m:t>
                      </m:r>
                      <m:r>
                        <a:rPr lang="fr-FR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fr-FR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fr-FR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0" y="4364869"/>
                <a:ext cx="5312480" cy="390748"/>
              </a:xfrm>
              <a:prstGeom prst="rect">
                <a:avLst/>
              </a:prstGeom>
              <a:blipFill rotWithShape="1">
                <a:blip r:embed="rId6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996016" y="5132531"/>
            <a:ext cx="6615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800" dirty="0"/>
              <a:t>En ne variant que q(z)</a:t>
            </a:r>
          </a:p>
          <a:p>
            <a:pPr algn="ctr"/>
            <a:r>
              <a:rPr lang="fr-FR" sz="1800" dirty="0"/>
              <a:t>Donc Minimiser l’ELBO   </a:t>
            </a:r>
            <a:r>
              <a:rPr lang="fr-FR" sz="1800" dirty="0">
                <a:sym typeface="Wingdings" panose="05000000000000000000" pitchFamily="2" charset="2"/>
              </a:rPr>
              <a:t>  Maximiser la KL divergence</a:t>
            </a:r>
            <a:endParaRPr lang="fr-FR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6211518" y="3728155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Ne dépends pas de q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7478320" y="3999290"/>
            <a:ext cx="0" cy="489595"/>
          </a:xfrm>
          <a:prstGeom prst="straightConnector1">
            <a:avLst/>
          </a:prstGeom>
          <a:ln w="3175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1710" y="4386285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Equation  K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0379" y="1082644"/>
                <a:ext cx="6271460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𝐿𝑜𝑔</m:t>
                          </m:r>
                          <m:r>
                            <a:rPr lang="fr-FR" sz="16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fr-FR" sz="16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fr-FR" sz="1600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fr-FR" sz="1600" i="1" dirty="0">
                              <a:latin typeface="Cambria Math"/>
                            </a:rPr>
                            <m:t>−</m:t>
                          </m:r>
                          <m:r>
                            <a:rPr lang="fr-FR" sz="16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fr-FR" sz="1600" i="1">
                              <a:latin typeface="Cambria Math"/>
                            </a:rPr>
                            <m:t>||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600" dirty="0"/>
                            <m:t> 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/>
                            </a:rPr>
                            <m:t>𝐿𝑜𝑔</m:t>
                          </m:r>
                          <m:r>
                            <a:rPr lang="fr-FR" sz="1600" i="1">
                              <a:latin typeface="Cambria Math"/>
                            </a:rPr>
                            <m:t> 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600" dirty="0"/>
                            <m:t> 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fr-FR" sz="16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fr-F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9" y="1082644"/>
                <a:ext cx="6271460" cy="357534"/>
              </a:xfrm>
              <a:prstGeom prst="rect">
                <a:avLst/>
              </a:prstGeom>
              <a:blipFill rotWithShape="0">
                <a:blip r:embed="rId2"/>
                <a:stretch>
                  <a:fillRect t="-84483" b="-1051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670122" y="32047"/>
            <a:ext cx="6936908" cy="110180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Inférence variationnelle (mécanique)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97" y="4953007"/>
            <a:ext cx="3313112" cy="360363"/>
          </a:xfrm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1197" y="4953007"/>
            <a:ext cx="288925" cy="360363"/>
          </a:xfrm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39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5461" y="3585326"/>
            <a:ext cx="7992888" cy="792088"/>
          </a:xfrm>
          <a:prstGeom prst="rect">
            <a:avLst/>
          </a:prstGeom>
          <a:solidFill>
            <a:srgbClr val="92D050">
              <a:alpha val="26000"/>
            </a:srgb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57863" y="1388988"/>
                <a:ext cx="23591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solidFill>
                      <a:srgbClr val="FF0000"/>
                    </a:solidFill>
                  </a:rPr>
                  <a:t>Or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fr-FR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𝑧</m:t>
                        </m:r>
                        <m:r>
                          <a:rPr lang="fr-FR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fr-FR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fr-FR" sz="1600" b="0" i="1" smtClean="0">
                        <a:latin typeface="Cambria Math"/>
                      </a:rPr>
                      <m:t>=</m:t>
                    </m:r>
                    <m:r>
                      <a:rPr lang="fr-FR" sz="16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fr-FR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e>
                        <m:r>
                          <a:rPr lang="fr-FR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fr-FR" sz="1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fr-FR" sz="1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𝑝</m:t>
                    </m:r>
                    <m:r>
                      <a:rPr lang="fr-FR" sz="1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fr-FR" sz="1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𝑧</m:t>
                    </m:r>
                    <m:r>
                      <a:rPr lang="fr-FR" sz="1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fr-FR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863" y="1388988"/>
                <a:ext cx="2359107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1292" t="-5455" b="-2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28349" y="1731410"/>
                <a:ext cx="7331109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𝐿𝑜𝑔</m:t>
                          </m:r>
                          <m:r>
                            <a:rPr lang="fr-FR" sz="16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fr-FR" sz="16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fr-FR" sz="1600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fr-FR" sz="1600" i="1" dirty="0">
                              <a:latin typeface="Cambria Math"/>
                            </a:rPr>
                            <m:t>−</m:t>
                          </m:r>
                          <m:r>
                            <a:rPr lang="fr-FR" sz="16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fr-FR" sz="1600" i="1">
                              <a:latin typeface="Cambria Math"/>
                            </a:rPr>
                            <m:t>||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= (</m:t>
                      </m:r>
                      <m:sSub>
                        <m:sSubPr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600" dirty="0"/>
                            <m:t> 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/>
                            </a:rPr>
                            <m:t>𝐿𝑜𝑔</m:t>
                          </m:r>
                          <m:r>
                            <a:rPr lang="fr-FR" sz="1600" i="1">
                              <a:latin typeface="Cambria Math"/>
                            </a:rPr>
                            <m:t> 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/>
                            </a:rPr>
                            <m:t>+</m:t>
                          </m:r>
                          <m:r>
                            <a:rPr lang="fr-FR" sz="16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𝐿𝑜𝑔</m:t>
                          </m:r>
                          <m:r>
                            <a:rPr lang="fr-FR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fr-FR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fr-FR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fr-FR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fr-FR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600" dirty="0"/>
                            <m:t> 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𝐿𝑜𝑔</m:t>
                          </m:r>
                          <m:r>
                            <a:rPr lang="fr-FR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fr-F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49" y="1731410"/>
                <a:ext cx="7331109" cy="357534"/>
              </a:xfrm>
              <a:prstGeom prst="rect">
                <a:avLst/>
              </a:prstGeom>
              <a:blipFill rotWithShape="1">
                <a:blip r:embed="rId4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045741" y="3043272"/>
            <a:ext cx="3316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On peut faire dépendre q de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83298" y="2535781"/>
                <a:ext cx="6290633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𝐿𝑜𝑔</m:t>
                          </m:r>
                          <m:r>
                            <a:rPr lang="fr-FR" sz="16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fr-FR" sz="16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fr-FR" sz="1600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fr-FR" sz="16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fr-FR" sz="16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fr-FR" sz="1600" i="1">
                              <a:latin typeface="Cambria Math"/>
                            </a:rPr>
                            <m:t>||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600" dirty="0"/>
                            <m:t> 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/>
                            </a:rPr>
                            <m:t>𝐿𝑜𝑔</m:t>
                          </m:r>
                          <m:r>
                            <a:rPr lang="fr-FR" sz="1600" i="1">
                              <a:latin typeface="Cambria Math"/>
                            </a:rPr>
                            <m:t> 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fr-FR" sz="1600" i="1">
                              <a:latin typeface="Cambria Math"/>
                            </a:rPr>
                            <m:t>|</m:t>
                          </m:r>
                          <m:r>
                            <a:rPr lang="fr-FR" sz="1600" b="0" i="1" smtClean="0">
                              <a:latin typeface="Cambria Math"/>
                            </a:rPr>
                            <m:t>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8" y="2535781"/>
                <a:ext cx="6290633" cy="357534"/>
              </a:xfrm>
              <a:prstGeom prst="rect">
                <a:avLst/>
              </a:prstGeom>
              <a:blipFill rotWithShape="1">
                <a:blip r:embed="rId5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96739" y="2088944"/>
                <a:ext cx="4869090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solidFill>
                      <a:srgbClr val="FF0000"/>
                    </a:solidFill>
                  </a:rPr>
                  <a:t>Or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fr-FR" sz="1600" i="1">
                            <a:latin typeface="Cambria Math"/>
                          </a:rPr>
                          <m:t>𝐾𝐿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60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𝑞</m:t>
                        </m:r>
                        <m:d>
                          <m:dPr>
                            <m:ctrlPr>
                              <a:rPr lang="fr-FR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𝑧</m:t>
                            </m:r>
                          </m:e>
                        </m:d>
                        <m:r>
                          <a:rPr lang="fr-FR" sz="1600" b="0" i="1" smtClean="0">
                            <a:latin typeface="Cambria Math"/>
                          </a:rPr>
                          <m:t>||</m:t>
                        </m:r>
                        <m:r>
                          <a:rPr lang="fr-FR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fr-FR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fr-FR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𝑧</m:t>
                        </m:r>
                        <m:r>
                          <a:rPr lang="fr-FR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</m:d>
                    <m:r>
                      <a:rPr lang="fr-FR" sz="1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/>
                            <a:ea typeface="Cambria Math"/>
                          </a:rPr>
                          <m:t>𝔼</m:t>
                        </m:r>
                        <m:r>
                          <m:rPr>
                            <m:nor/>
                          </m:rPr>
                          <a:rPr lang="fr-FR" sz="1600" dirty="0"/>
                          <m:t> </m:t>
                        </m:r>
                      </m:e>
                      <m:sub>
                        <m:r>
                          <a:rPr lang="fr-FR" sz="1600" i="1">
                            <a:latin typeface="Cambria Math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𝐿𝑜𝑔</m:t>
                        </m:r>
                        <m:r>
                          <a:rPr lang="fr-FR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fr-FR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fr-FR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fr-FR" sz="1600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fr-FR" sz="1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/>
                            <a:ea typeface="Cambria Math"/>
                          </a:rPr>
                          <m:t>𝔼</m:t>
                        </m:r>
                        <m:r>
                          <m:rPr>
                            <m:nor/>
                          </m:rPr>
                          <a:rPr lang="fr-FR" sz="1600" dirty="0"/>
                          <m:t> </m:t>
                        </m:r>
                      </m:e>
                      <m:sub>
                        <m:r>
                          <a:rPr lang="fr-FR" sz="1600" i="1">
                            <a:latin typeface="Cambria Math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𝐿𝑜𝑔</m:t>
                        </m:r>
                        <m:r>
                          <a:rPr lang="fr-FR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fr-FR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𝑞</m:t>
                        </m:r>
                        <m:d>
                          <m:dPr>
                            <m:ctrlPr>
                              <a:rPr lang="fr-FR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739" y="2088944"/>
                <a:ext cx="4869090" cy="357534"/>
              </a:xfrm>
              <a:prstGeom prst="rect">
                <a:avLst/>
              </a:prstGeom>
              <a:blipFill rotWithShape="1">
                <a:blip r:embed="rId6"/>
                <a:stretch>
                  <a:fillRect l="-751" t="-6897" b="-155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26297" y="3729342"/>
                <a:ext cx="6652526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𝐿𝑜𝑔</m:t>
                          </m:r>
                          <m:r>
                            <a:rPr lang="fr-FR" sz="16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fr-FR" sz="16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fr-FR" sz="1600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fr-FR" sz="1600" i="1" dirty="0">
                              <a:latin typeface="Cambria Math"/>
                            </a:rPr>
                            <m:t>−</m:t>
                          </m:r>
                          <m:r>
                            <a:rPr lang="fr-FR" sz="16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|</m:t>
                              </m:r>
                              <m: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1600" i="1">
                              <a:latin typeface="Cambria Math"/>
                            </a:rPr>
                            <m:t>||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600" dirty="0"/>
                            <m:t> 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/>
                            </a:rPr>
                            <m:t>𝐿𝑜𝑔</m:t>
                          </m:r>
                          <m:r>
                            <a:rPr lang="fr-FR" sz="1600" i="1">
                              <a:latin typeface="Cambria Math"/>
                            </a:rPr>
                            <m:t> 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fr-FR" sz="1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fr-FR" sz="16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60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fr-FR" sz="16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|</m:t>
                              </m:r>
                              <m:r>
                                <a:rPr lang="fr-FR" sz="16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/>
                            </a:rPr>
                            <m:t>|</m:t>
                          </m:r>
                          <m:r>
                            <a:rPr lang="fr-FR" sz="1600" i="1">
                              <a:latin typeface="Cambria Math"/>
                            </a:rPr>
                            <m:t>|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fr-FR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97" y="3729342"/>
                <a:ext cx="6652526" cy="357534"/>
              </a:xfrm>
              <a:prstGeom prst="rect">
                <a:avLst/>
              </a:prstGeom>
              <a:blipFill rotWithShape="1">
                <a:blip r:embed="rId7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4579334" y="2950275"/>
            <a:ext cx="1998222" cy="178026"/>
          </a:xfrm>
          <a:prstGeom prst="straightConnector1">
            <a:avLst/>
          </a:prstGeom>
          <a:ln w="34925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2596739" y="2947151"/>
            <a:ext cx="1979172" cy="179535"/>
          </a:xfrm>
          <a:prstGeom prst="straightConnector1">
            <a:avLst/>
          </a:prstGeom>
          <a:ln w="34925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6297" y="5178669"/>
            <a:ext cx="4631396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600" dirty="0"/>
              <a:t>Infos </a:t>
            </a:r>
            <a:r>
              <a:rPr lang="fr-FR" sz="1600" dirty="0" err="1"/>
              <a:t>spurieuse</a:t>
            </a:r>
            <a:r>
              <a:rPr lang="fr-FR" sz="1600" dirty="0"/>
              <a:t> lors de la construction de z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2873835" y="4120090"/>
            <a:ext cx="0" cy="104941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70854" y="4722065"/>
            <a:ext cx="3406702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600" dirty="0"/>
              <a:t>Infos nécessaires pour décoder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5061965" y="4120090"/>
            <a:ext cx="0" cy="617364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90106" y="5176963"/>
            <a:ext cx="3799438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600" dirty="0"/>
              <a:t>Infos nécessaires pour construire z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079850" y="4127551"/>
            <a:ext cx="0" cy="104941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4112" y="3423486"/>
            <a:ext cx="482824" cy="338554"/>
          </a:xfrm>
          <a:prstGeom prst="rect">
            <a:avLst/>
          </a:prstGeom>
          <a:solidFill>
            <a:srgbClr val="FF0000">
              <a:alpha val="19000"/>
            </a:srgbClr>
          </a:solidFill>
        </p:spPr>
        <p:txBody>
          <a:bodyPr wrap="none" rtlCol="0">
            <a:spAutoFit/>
          </a:bodyPr>
          <a:lstStyle/>
          <a:p>
            <a:r>
              <a:rPr lang="fr-FR" sz="1600" dirty="0"/>
              <a:t>&lt;0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309" y="3414489"/>
            <a:ext cx="482824" cy="338554"/>
          </a:xfrm>
          <a:prstGeom prst="rect">
            <a:avLst/>
          </a:prstGeom>
          <a:solidFill>
            <a:srgbClr val="FF0000">
              <a:alpha val="12000"/>
            </a:srgbClr>
          </a:solidFill>
        </p:spPr>
        <p:txBody>
          <a:bodyPr wrap="none" rtlCol="0">
            <a:spAutoFit/>
          </a:bodyPr>
          <a:lstStyle/>
          <a:p>
            <a:r>
              <a:rPr lang="fr-FR" sz="1600" dirty="0"/>
              <a:t>&lt;0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37" y="4552788"/>
            <a:ext cx="147187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600" dirty="0"/>
              <a:t>Infos totales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323860" y="4127551"/>
            <a:ext cx="0" cy="472559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107051"/>
            <a:ext cx="7219669" cy="935851"/>
          </a:xfrm>
        </p:spPr>
        <p:txBody>
          <a:bodyPr/>
          <a:lstStyle/>
          <a:p>
            <a:pPr eaLnBrk="1" hangingPunct="1"/>
            <a:r>
              <a:rPr lang="fr-FR" dirty="0"/>
              <a:t>HMM : </a:t>
            </a:r>
            <a:r>
              <a:rPr lang="fr-FR" dirty="0" err="1"/>
              <a:t>Hidden</a:t>
            </a:r>
            <a:r>
              <a:rPr lang="fr-FR" dirty="0"/>
              <a:t> Markov Model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40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73541" y="3887216"/>
                <a:ext cx="4102918" cy="83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fr-FR" sz="20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latin typeface="Cambria Math"/>
                              <a:ea typeface="Cambria Math"/>
                            </a:rPr>
                            <m:t>𝜃</m:t>
                          </m:r>
                          <m:r>
                            <a:rPr lang="fr-FR" sz="2000" i="1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fr-FR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fr-FR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20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fr-FR" sz="20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a:rPr lang="fr-FR" sz="2000" i="1">
                              <a:latin typeface="Cambria Math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20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sz="2000" i="1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fr-FR" sz="2000" i="1">
                                      <a:latin typeface="Cambria Math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fr-FR" sz="2000" i="1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fr-FR" sz="20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sz="20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fr-FR" sz="20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a:rPr lang="fr-FR" sz="2000" i="1">
                              <a:latin typeface="Cambria Math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20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sz="20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0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20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541" y="3887216"/>
                <a:ext cx="4102918" cy="83926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74168" y="5241357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prior</a:t>
            </a:r>
            <a:endParaRPr lang="fr-FR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181653" y="5213459"/>
            <a:ext cx="274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Probabilités de transition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3495" y="5213459"/>
            <a:ext cx="261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Probabilités d’ émission</a:t>
            </a:r>
          </a:p>
        </p:txBody>
      </p:sp>
      <p:cxnSp>
        <p:nvCxnSpPr>
          <p:cNvPr id="9" name="Straight Arrow Connector 8"/>
          <p:cNvCxnSpPr>
            <a:stCxn id="6" idx="0"/>
          </p:cNvCxnSpPr>
          <p:nvPr/>
        </p:nvCxnSpPr>
        <p:spPr>
          <a:xfrm flipV="1">
            <a:off x="1009356" y="4413485"/>
            <a:ext cx="1388321" cy="827872"/>
          </a:xfrm>
          <a:prstGeom prst="straightConnector1">
            <a:avLst/>
          </a:prstGeom>
          <a:ln w="381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0"/>
          </p:cNvCxnSpPr>
          <p:nvPr/>
        </p:nvCxnSpPr>
        <p:spPr>
          <a:xfrm flipV="1">
            <a:off x="3554593" y="4462021"/>
            <a:ext cx="0" cy="751438"/>
          </a:xfrm>
          <a:prstGeom prst="straightConnector1">
            <a:avLst/>
          </a:prstGeom>
          <a:ln w="381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8" idx="0"/>
          </p:cNvCxnSpPr>
          <p:nvPr/>
        </p:nvCxnSpPr>
        <p:spPr>
          <a:xfrm flipH="1" flipV="1">
            <a:off x="4684463" y="4462021"/>
            <a:ext cx="1724037" cy="751438"/>
          </a:xfrm>
          <a:prstGeom prst="straightConnector1">
            <a:avLst/>
          </a:prstGeom>
          <a:ln w="381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00496" y="1733188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3" name="Oval 12"/>
          <p:cNvSpPr/>
          <p:nvPr/>
        </p:nvSpPr>
        <p:spPr>
          <a:xfrm>
            <a:off x="2739695" y="1733188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14" name="Straight Arrow Connector 13"/>
          <p:cNvCxnSpPr>
            <a:stCxn id="13" idx="6"/>
            <a:endCxn id="12" idx="2"/>
          </p:cNvCxnSpPr>
          <p:nvPr/>
        </p:nvCxnSpPr>
        <p:spPr>
          <a:xfrm>
            <a:off x="3171743" y="1949212"/>
            <a:ext cx="228753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060975" y="1733188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16" name="Straight Arrow Connector 15"/>
          <p:cNvCxnSpPr>
            <a:endCxn id="15" idx="2"/>
          </p:cNvCxnSpPr>
          <p:nvPr/>
        </p:nvCxnSpPr>
        <p:spPr>
          <a:xfrm>
            <a:off x="3830359" y="1949212"/>
            <a:ext cx="230616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92203" y="1764546"/>
            <a:ext cx="352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…</a:t>
            </a:r>
          </a:p>
        </p:txBody>
      </p:sp>
      <p:sp>
        <p:nvSpPr>
          <p:cNvPr id="18" name="Oval 17"/>
          <p:cNvSpPr/>
          <p:nvPr/>
        </p:nvSpPr>
        <p:spPr>
          <a:xfrm>
            <a:off x="5323599" y="1764546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19" name="Straight Arrow Connector 18"/>
          <p:cNvCxnSpPr>
            <a:endCxn id="18" idx="2"/>
          </p:cNvCxnSpPr>
          <p:nvPr/>
        </p:nvCxnSpPr>
        <p:spPr>
          <a:xfrm>
            <a:off x="5092983" y="1980570"/>
            <a:ext cx="230616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723764" y="1764546"/>
                <a:ext cx="4569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764" y="1764546"/>
                <a:ext cx="456985" cy="3385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390877" y="1748986"/>
                <a:ext cx="4617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877" y="1748986"/>
                <a:ext cx="461728" cy="33855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044660" y="1769534"/>
                <a:ext cx="4617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660" y="1769534"/>
                <a:ext cx="461728" cy="33855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07668" y="1801427"/>
                <a:ext cx="47551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668" y="1801427"/>
                <a:ext cx="475515" cy="33855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stCxn id="13" idx="0"/>
          </p:cNvCxnSpPr>
          <p:nvPr/>
        </p:nvCxnSpPr>
        <p:spPr>
          <a:xfrm flipV="1">
            <a:off x="2955719" y="1508780"/>
            <a:ext cx="0" cy="224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707834" y="1096405"/>
                <a:ext cx="4541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834" y="1096405"/>
                <a:ext cx="454162" cy="33855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/>
          <p:cNvSpPr/>
          <p:nvPr/>
        </p:nvSpPr>
        <p:spPr>
          <a:xfrm>
            <a:off x="2713106" y="1076732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3590405" y="1497095"/>
            <a:ext cx="0" cy="224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342520" y="1084720"/>
                <a:ext cx="4589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520" y="1084720"/>
                <a:ext cx="458908" cy="33855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/>
          <p:cNvSpPr/>
          <p:nvPr/>
        </p:nvSpPr>
        <p:spPr>
          <a:xfrm>
            <a:off x="3347792" y="106504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4276999" y="1488666"/>
            <a:ext cx="0" cy="224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029114" y="1076291"/>
                <a:ext cx="4589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114" y="1076291"/>
                <a:ext cx="458908" cy="338554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/>
          <p:cNvSpPr/>
          <p:nvPr/>
        </p:nvSpPr>
        <p:spPr>
          <a:xfrm>
            <a:off x="4034386" y="1056618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5524344" y="1508339"/>
            <a:ext cx="0" cy="224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276459" y="1095964"/>
                <a:ext cx="4726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459" y="1095964"/>
                <a:ext cx="472694" cy="33855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5281731" y="1076291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28014" y="2795565"/>
                <a:ext cx="74174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  <m:r>
                          <a:rPr lang="fr-FR" sz="2000" b="0" i="1" smtClean="0">
                            <a:latin typeface="Cambria Math"/>
                            <a:ea typeface="Cambria Math"/>
                          </a:rPr>
                          <m:t>|</m:t>
                        </m:r>
                        <m:r>
                          <a:rPr lang="fr-FR" sz="2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fr-FR" sz="2000" b="0" i="1" smtClean="0">
                        <a:latin typeface="Cambria Math"/>
                      </a:rPr>
                      <m:t>=</m:t>
                    </m:r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sz="2000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sz="2000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fr-FR" sz="2000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2000" dirty="0"/>
                  <a:t> ..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fr-FR" sz="2000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𝑛</m:t>
                            </m:r>
                            <m:r>
                              <a:rPr lang="fr-FR" sz="2000" i="1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fr-FR" sz="2000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14" y="2795565"/>
                <a:ext cx="7417480" cy="400110"/>
              </a:xfrm>
              <a:prstGeom prst="rect">
                <a:avLst/>
              </a:prstGeom>
              <a:blipFill rotWithShape="1">
                <a:blip r:embed="rId11"/>
                <a:stretch>
                  <a:fillRect t="-7692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/>
          <p:cNvPicPr>
            <a:picLocks noChangeAspect="1"/>
          </p:cNvPicPr>
          <p:nvPr/>
        </p:nvPicPr>
        <p:blipFill>
          <a:blip r:embed="rId1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-38305"/>
            <a:ext cx="7057221" cy="103942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RBM : </a:t>
            </a:r>
            <a:r>
              <a:rPr lang="fr-FR" dirty="0" err="1"/>
              <a:t>Restricted</a:t>
            </a:r>
            <a:r>
              <a:rPr lang="fr-FR" dirty="0"/>
              <a:t> Boltzmann Machine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41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9750" y="3720265"/>
                <a:ext cx="7499604" cy="616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fr-FR" sz="2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800" i="1">
                              <a:latin typeface="Cambria Math"/>
                              <a:ea typeface="Cambria Math"/>
                            </a:rPr>
                            <m:t>𝜃</m:t>
                          </m:r>
                          <m:r>
                            <a:rPr lang="fr-FR" sz="2800" i="1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fr-FR" sz="28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fr-FR" sz="2800" b="0" i="1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latin typeface="Cambria Math"/>
                              <a:ea typeface="Cambria Math"/>
                            </a:rPr>
                            <m:t>𝑒</m:t>
                          </m:r>
                        </m:e>
                        <m:sup>
                          <m:nary>
                            <m:naryPr>
                              <m:chr m:val="∑"/>
                              <m:ctrlPr>
                                <a:rPr lang="fr-FR" sz="28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2800" b="0" i="1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fr-FR" sz="2800" b="0" i="1" smtClean="0">
                                  <a:latin typeface="Cambria Math"/>
                                  <a:ea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2800" b="0" i="1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fr-FR" sz="2800" b="0" i="1" smtClean="0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fr-FR" sz="2800" b="0" i="1" smtClean="0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r>
                                    <a:rPr lang="fr-FR" sz="2800" b="0" i="1" smtClean="0">
                                      <a:latin typeface="Cambria Math"/>
                                      <a:ea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fr-FR" sz="2800" b="0" i="1" smtClean="0">
                                      <a:latin typeface="Cambria Math"/>
                                      <a:ea typeface="Cambria Math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latin typeface="Cambria Math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,</m:t>
                                      </m:r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latin typeface="Cambria Math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latin typeface="Cambria Math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fr-FR" sz="2800" b="0" i="1" smtClean="0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fr-FR" sz="2800" b="0" i="1" smtClean="0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fr-FR" sz="2800" b="0" i="1" smtClean="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  <m:r>
                                    <a:rPr lang="fr-FR" sz="2800" b="0" i="1" smtClean="0">
                                      <a:latin typeface="Cambria Math"/>
                                      <a:ea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fr-FR" sz="2800" b="0" i="1" smtClean="0">
                                      <a:latin typeface="Cambria Math"/>
                                      <a:ea typeface="Cambria Math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latin typeface="Cambria Math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latin typeface="Cambria Math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800" b="0" i="1" smtClean="0"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fr-FR" sz="2800" b="0" i="1" smtClean="0">
                                          <a:latin typeface="Cambria Math" charset="0"/>
                                          <a:ea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𝑗</m:t>
                                      </m:r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fr-F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latin typeface="Cambria Math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latin typeface="Cambria Math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</m:e>
                          </m:nary>
                        </m:sup>
                      </m:sSup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720265"/>
                <a:ext cx="7499604" cy="61670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0" y="5146902"/>
            <a:ext cx="2309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Energie d’interaction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4477" y="5070468"/>
            <a:ext cx="30115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Biais des variables d’entrée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5574" y="5044417"/>
            <a:ext cx="3066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Biais des variables de sortie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064766" y="4179733"/>
            <a:ext cx="3021958" cy="967170"/>
          </a:xfrm>
          <a:prstGeom prst="straightConnector1">
            <a:avLst/>
          </a:prstGeom>
          <a:ln w="381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0"/>
          </p:cNvCxnSpPr>
          <p:nvPr/>
        </p:nvCxnSpPr>
        <p:spPr>
          <a:xfrm flipV="1">
            <a:off x="4040242" y="4179734"/>
            <a:ext cx="1545332" cy="890734"/>
          </a:xfrm>
          <a:prstGeom prst="straightConnector1">
            <a:avLst/>
          </a:prstGeom>
          <a:ln w="381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140534" y="1962161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Oval 11"/>
          <p:cNvSpPr/>
          <p:nvPr/>
        </p:nvSpPr>
        <p:spPr>
          <a:xfrm>
            <a:off x="2479733" y="1962161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3" name="Oval 12"/>
          <p:cNvSpPr/>
          <p:nvPr/>
        </p:nvSpPr>
        <p:spPr>
          <a:xfrm>
            <a:off x="3801013" y="1962161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4" name="TextBox 13"/>
          <p:cNvSpPr txBox="1"/>
          <p:nvPr/>
        </p:nvSpPr>
        <p:spPr>
          <a:xfrm>
            <a:off x="4432241" y="1993519"/>
            <a:ext cx="352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…</a:t>
            </a:r>
          </a:p>
        </p:txBody>
      </p:sp>
      <p:sp>
        <p:nvSpPr>
          <p:cNvPr id="15" name="Oval 14"/>
          <p:cNvSpPr/>
          <p:nvPr/>
        </p:nvSpPr>
        <p:spPr>
          <a:xfrm>
            <a:off x="5063637" y="199351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63802" y="1993519"/>
                <a:ext cx="4569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802" y="1993519"/>
                <a:ext cx="456984" cy="3385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30915" y="1977959"/>
                <a:ext cx="4617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915" y="1977959"/>
                <a:ext cx="461729" cy="33855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784698" y="1998507"/>
                <a:ext cx="4617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98" y="1998507"/>
                <a:ext cx="461729" cy="33855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47706" y="2030400"/>
                <a:ext cx="47551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706" y="2030400"/>
                <a:ext cx="475515" cy="33855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2" idx="0"/>
            <a:endCxn id="22" idx="4"/>
          </p:cNvCxnSpPr>
          <p:nvPr/>
        </p:nvCxnSpPr>
        <p:spPr>
          <a:xfrm flipV="1">
            <a:off x="2695757" y="1548099"/>
            <a:ext cx="0" cy="4140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474461" y="1135724"/>
                <a:ext cx="4541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461" y="1135724"/>
                <a:ext cx="454162" cy="33855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/>
          <p:cNvSpPr/>
          <p:nvPr/>
        </p:nvSpPr>
        <p:spPr>
          <a:xfrm>
            <a:off x="2479733" y="1116051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23" name="Straight Arrow Connector 22"/>
          <p:cNvCxnSpPr>
            <a:stCxn id="11" idx="0"/>
          </p:cNvCxnSpPr>
          <p:nvPr/>
        </p:nvCxnSpPr>
        <p:spPr>
          <a:xfrm flipV="1">
            <a:off x="3356558" y="1536414"/>
            <a:ext cx="474" cy="4257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109147" y="1124039"/>
                <a:ext cx="4589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147" y="1124039"/>
                <a:ext cx="458907" cy="33855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/>
          <p:cNvSpPr/>
          <p:nvPr/>
        </p:nvSpPr>
        <p:spPr>
          <a:xfrm>
            <a:off x="3114419" y="1104366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26" name="Straight Arrow Connector 25"/>
          <p:cNvCxnSpPr>
            <a:stCxn id="13" idx="0"/>
          </p:cNvCxnSpPr>
          <p:nvPr/>
        </p:nvCxnSpPr>
        <p:spPr>
          <a:xfrm flipV="1">
            <a:off x="4017037" y="1527985"/>
            <a:ext cx="26589" cy="434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795741" y="1115610"/>
                <a:ext cx="4589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741" y="1115610"/>
                <a:ext cx="458907" cy="338554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/>
          <p:cNvSpPr/>
          <p:nvPr/>
        </p:nvSpPr>
        <p:spPr>
          <a:xfrm>
            <a:off x="3801013" y="109593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9" name="Straight Arrow Connector 28"/>
          <p:cNvCxnSpPr>
            <a:stCxn id="15" idx="0"/>
          </p:cNvCxnSpPr>
          <p:nvPr/>
        </p:nvCxnSpPr>
        <p:spPr>
          <a:xfrm flipV="1">
            <a:off x="5279661" y="1547658"/>
            <a:ext cx="11310" cy="4458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43086" y="1135283"/>
                <a:ext cx="4726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086" y="1135283"/>
                <a:ext cx="472694" cy="33855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5048358" y="111561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27088" y="2662286"/>
                <a:ext cx="74648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  <m:r>
                          <a:rPr lang="fr-FR" sz="2000" b="0" i="1" smtClean="0">
                            <a:latin typeface="Cambria Math"/>
                            <a:ea typeface="Cambria Math"/>
                          </a:rPr>
                          <m:t>|</m:t>
                        </m:r>
                        <m:r>
                          <a:rPr lang="fr-FR" sz="2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fr-FR" sz="2000" b="0" i="1" smtClean="0">
                        <a:latin typeface="Cambria Math"/>
                      </a:rPr>
                      <m:t>=</m:t>
                    </m:r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sz="2000" b="0" i="1" smtClean="0">
                        <a:latin typeface="Cambria Math"/>
                      </a:rPr>
                      <m:t>..</m:t>
                    </m:r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sz="2000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sz="2000" b="0" i="1" smtClean="0">
                        <a:latin typeface="Cambria Math"/>
                      </a:rPr>
                      <m:t> ..</m:t>
                    </m:r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sz="2000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2000" dirty="0"/>
                  <a:t> ..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fr-FR" sz="2000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2000" dirty="0"/>
                  <a:t>..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sz="20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fr-FR" sz="2000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sz="20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88" y="2662286"/>
                <a:ext cx="7464800" cy="400110"/>
              </a:xfrm>
              <a:prstGeom prst="rect">
                <a:avLst/>
              </a:prstGeom>
              <a:blipFill rotWithShape="1">
                <a:blip r:embed="rId11"/>
                <a:stretch>
                  <a:fillRect t="-7692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>
            <a:stCxn id="11" idx="0"/>
            <a:endCxn id="22" idx="4"/>
          </p:cNvCxnSpPr>
          <p:nvPr/>
        </p:nvCxnSpPr>
        <p:spPr>
          <a:xfrm flipH="1" flipV="1">
            <a:off x="2695757" y="1548099"/>
            <a:ext cx="660801" cy="4140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3" idx="0"/>
            <a:endCxn id="22" idx="4"/>
          </p:cNvCxnSpPr>
          <p:nvPr/>
        </p:nvCxnSpPr>
        <p:spPr>
          <a:xfrm flipH="1" flipV="1">
            <a:off x="2695757" y="1548099"/>
            <a:ext cx="1321280" cy="4140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5" idx="0"/>
            <a:endCxn id="22" idx="4"/>
          </p:cNvCxnSpPr>
          <p:nvPr/>
        </p:nvCxnSpPr>
        <p:spPr>
          <a:xfrm flipH="1" flipV="1">
            <a:off x="2695757" y="1548099"/>
            <a:ext cx="2583904" cy="4454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0"/>
            <a:endCxn id="25" idx="4"/>
          </p:cNvCxnSpPr>
          <p:nvPr/>
        </p:nvCxnSpPr>
        <p:spPr>
          <a:xfrm flipV="1">
            <a:off x="2695757" y="1536414"/>
            <a:ext cx="634686" cy="4257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0"/>
            <a:endCxn id="25" idx="4"/>
          </p:cNvCxnSpPr>
          <p:nvPr/>
        </p:nvCxnSpPr>
        <p:spPr>
          <a:xfrm flipH="1" flipV="1">
            <a:off x="3330443" y="1536414"/>
            <a:ext cx="686594" cy="4257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0"/>
            <a:endCxn id="25" idx="4"/>
          </p:cNvCxnSpPr>
          <p:nvPr/>
        </p:nvCxnSpPr>
        <p:spPr>
          <a:xfrm flipH="1" flipV="1">
            <a:off x="3330443" y="1536414"/>
            <a:ext cx="1949218" cy="4571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1" idx="0"/>
            <a:endCxn id="28" idx="4"/>
          </p:cNvCxnSpPr>
          <p:nvPr/>
        </p:nvCxnSpPr>
        <p:spPr>
          <a:xfrm flipV="1">
            <a:off x="3356558" y="1527985"/>
            <a:ext cx="660479" cy="434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0"/>
            <a:endCxn id="28" idx="4"/>
          </p:cNvCxnSpPr>
          <p:nvPr/>
        </p:nvCxnSpPr>
        <p:spPr>
          <a:xfrm flipV="1">
            <a:off x="2695757" y="1527985"/>
            <a:ext cx="1321280" cy="434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5" idx="0"/>
            <a:endCxn id="28" idx="4"/>
          </p:cNvCxnSpPr>
          <p:nvPr/>
        </p:nvCxnSpPr>
        <p:spPr>
          <a:xfrm flipH="1" flipV="1">
            <a:off x="4017037" y="1527985"/>
            <a:ext cx="1262624" cy="465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0"/>
            <a:endCxn id="31" idx="4"/>
          </p:cNvCxnSpPr>
          <p:nvPr/>
        </p:nvCxnSpPr>
        <p:spPr>
          <a:xfrm flipV="1">
            <a:off x="4017037" y="1547658"/>
            <a:ext cx="1247345" cy="4145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1" idx="0"/>
            <a:endCxn id="31" idx="4"/>
          </p:cNvCxnSpPr>
          <p:nvPr/>
        </p:nvCxnSpPr>
        <p:spPr>
          <a:xfrm flipV="1">
            <a:off x="3356558" y="1547658"/>
            <a:ext cx="1907824" cy="4145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2" idx="0"/>
            <a:endCxn id="31" idx="4"/>
          </p:cNvCxnSpPr>
          <p:nvPr/>
        </p:nvCxnSpPr>
        <p:spPr>
          <a:xfrm flipV="1">
            <a:off x="2695757" y="1547658"/>
            <a:ext cx="2568625" cy="4145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8" idx="0"/>
          </p:cNvCxnSpPr>
          <p:nvPr/>
        </p:nvCxnSpPr>
        <p:spPr>
          <a:xfrm flipH="1" flipV="1">
            <a:off x="6665695" y="4179733"/>
            <a:ext cx="452895" cy="864684"/>
          </a:xfrm>
          <a:prstGeom prst="straightConnector1">
            <a:avLst/>
          </a:prstGeom>
          <a:ln w="381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699740" y="3789050"/>
            <a:ext cx="4879385" cy="390683"/>
          </a:xfrm>
          <a:prstGeom prst="rect">
            <a:avLst/>
          </a:prstGeom>
          <a:solidFill>
            <a:srgbClr val="92D050">
              <a:alpha val="14000"/>
            </a:srgb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TextBox 46"/>
          <p:cNvSpPr txBox="1"/>
          <p:nvPr/>
        </p:nvSpPr>
        <p:spPr>
          <a:xfrm>
            <a:off x="7098865" y="3223217"/>
            <a:ext cx="960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Energie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543090" y="3554717"/>
            <a:ext cx="0" cy="264975"/>
          </a:xfrm>
          <a:prstGeom prst="straightConnector1">
            <a:avLst/>
          </a:prstGeom>
          <a:ln w="22225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/>
          <p:cNvPicPr>
            <a:picLocks noChangeAspect="1"/>
          </p:cNvPicPr>
          <p:nvPr/>
        </p:nvPicPr>
        <p:blipFill>
          <a:blip r:embed="rId1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9306" y="101373"/>
            <a:ext cx="6741629" cy="836578"/>
          </a:xfrm>
        </p:spPr>
        <p:txBody>
          <a:bodyPr/>
          <a:lstStyle/>
          <a:p>
            <a:pPr eaLnBrk="1" hangingPunct="1"/>
            <a:r>
              <a:rPr lang="fr-FR" dirty="0"/>
              <a:t>HMM vs RBM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42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372273"/>
              </p:ext>
            </p:extLst>
          </p:nvPr>
        </p:nvGraphicFramePr>
        <p:xfrm>
          <a:off x="667663" y="1383378"/>
          <a:ext cx="8281784" cy="4724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5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025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185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901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RBM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0321">
                <a:tc>
                  <a:txBody>
                    <a:bodyPr/>
                    <a:lstStyle/>
                    <a:p>
                      <a:r>
                        <a:rPr lang="fr-FR" sz="1600" dirty="0"/>
                        <a:t>Learning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Une séquence d’</a:t>
                      </a:r>
                      <a:r>
                        <a:rPr lang="fr-FR" sz="1600" baseline="0" dirty="0"/>
                        <a:t>inputs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Un ensemble de couple {input, </a:t>
                      </a:r>
                      <a:r>
                        <a:rPr lang="fr-FR" sz="1600" baseline="0" dirty="0"/>
                        <a:t>output}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06579">
                <a:tc>
                  <a:txBody>
                    <a:bodyPr/>
                    <a:lstStyle/>
                    <a:p>
                      <a:r>
                        <a:rPr lang="fr-FR" sz="1600" dirty="0"/>
                        <a:t>Incertitudes</a:t>
                      </a:r>
                      <a:r>
                        <a:rPr lang="fr-FR" sz="1600" baseline="0" dirty="0"/>
                        <a:t> de distributions cachées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Matrice de transition, </a:t>
                      </a:r>
                      <a:r>
                        <a:rPr lang="fr-FR" sz="1600" dirty="0" err="1"/>
                        <a:t>prior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Matrice de covariance énergétique, biais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06579">
                <a:tc>
                  <a:txBody>
                    <a:bodyPr/>
                    <a:lstStyle/>
                    <a:p>
                      <a:r>
                        <a:rPr lang="fr-FR" sz="1600" dirty="0"/>
                        <a:t>Incertitudes dues</a:t>
                      </a:r>
                      <a:r>
                        <a:rPr lang="fr-FR" sz="1600" baseline="0" dirty="0"/>
                        <a:t> aux erreurs d’output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Principal objectif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602299">
                <a:tc>
                  <a:txBody>
                    <a:bodyPr/>
                    <a:lstStyle/>
                    <a:p>
                      <a:r>
                        <a:rPr lang="fr-FR" sz="1600" dirty="0"/>
                        <a:t>Principal e méthode  de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Exact : algorithme</a:t>
                      </a:r>
                      <a:r>
                        <a:rPr lang="fr-FR" sz="1600" baseline="0" dirty="0"/>
                        <a:t> forward/backward (de Baum-</a:t>
                      </a:r>
                      <a:r>
                        <a:rPr lang="fr-FR" sz="1600" baseline="0" dirty="0" err="1"/>
                        <a:t>Welch</a:t>
                      </a:r>
                      <a:r>
                        <a:rPr lang="fr-FR" sz="1600" baseline="0" dirty="0"/>
                        <a:t>)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Approché : </a:t>
                      </a:r>
                    </a:p>
                    <a:p>
                      <a:r>
                        <a:rPr lang="fr-FR" sz="1600" dirty="0"/>
                        <a:t>-    Contrastive divergence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600" dirty="0"/>
                        <a:t>Inférence </a:t>
                      </a:r>
                      <a:r>
                        <a:rPr lang="fr-FR" sz="1600" dirty="0" err="1"/>
                        <a:t>variationelle</a:t>
                      </a:r>
                      <a:endParaRPr lang="fr-FR" sz="16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600" dirty="0" err="1"/>
                        <a:t>Perturbative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96709" y="98792"/>
            <a:ext cx="7276834" cy="59247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Autoencodeur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43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90288" y="1779014"/>
            <a:ext cx="2652453" cy="745348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sp>
        <p:nvSpPr>
          <p:cNvPr id="6" name="Oval 5"/>
          <p:cNvSpPr/>
          <p:nvPr/>
        </p:nvSpPr>
        <p:spPr>
          <a:xfrm>
            <a:off x="3699823" y="2088411"/>
            <a:ext cx="184665" cy="2003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Oval 6"/>
          <p:cNvSpPr/>
          <p:nvPr/>
        </p:nvSpPr>
        <p:spPr>
          <a:xfrm>
            <a:off x="3038267" y="2057666"/>
            <a:ext cx="200093" cy="2003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Oval 7"/>
          <p:cNvSpPr/>
          <p:nvPr/>
        </p:nvSpPr>
        <p:spPr>
          <a:xfrm>
            <a:off x="4729767" y="2114616"/>
            <a:ext cx="200093" cy="16958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85092" y="1973164"/>
                <a:ext cx="4479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092" y="1973164"/>
                <a:ext cx="447978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69746" y="1995143"/>
                <a:ext cx="498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746" y="1995143"/>
                <a:ext cx="498085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50440" y="2004033"/>
                <a:ext cx="508152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440" y="2004033"/>
                <a:ext cx="508152" cy="390748"/>
              </a:xfrm>
              <a:prstGeom prst="rect">
                <a:avLst/>
              </a:prstGeom>
              <a:blipFill rotWithShape="1"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7" idx="0"/>
            <a:endCxn id="14" idx="4"/>
          </p:cNvCxnSpPr>
          <p:nvPr/>
        </p:nvCxnSpPr>
        <p:spPr>
          <a:xfrm flipV="1">
            <a:off x="3138314" y="1512048"/>
            <a:ext cx="0" cy="5456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17018" y="1099673"/>
                <a:ext cx="491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018" y="1099673"/>
                <a:ext cx="491288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2922290" y="108000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cxnSp>
        <p:nvCxnSpPr>
          <p:cNvPr id="15" name="Straight Arrow Connector 14"/>
          <p:cNvCxnSpPr>
            <a:stCxn id="6" idx="0"/>
          </p:cNvCxnSpPr>
          <p:nvPr/>
        </p:nvCxnSpPr>
        <p:spPr>
          <a:xfrm flipV="1">
            <a:off x="3792156" y="1430945"/>
            <a:ext cx="124165" cy="657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51704" y="1087988"/>
                <a:ext cx="4966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704" y="1087988"/>
                <a:ext cx="496611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3556976" y="106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cxnSp>
        <p:nvCxnSpPr>
          <p:cNvPr id="18" name="Straight Arrow Connector 17"/>
          <p:cNvCxnSpPr>
            <a:stCxn id="8" idx="0"/>
            <a:endCxn id="20" idx="4"/>
          </p:cNvCxnSpPr>
          <p:nvPr/>
        </p:nvCxnSpPr>
        <p:spPr>
          <a:xfrm flipV="1">
            <a:off x="4829814" y="1491934"/>
            <a:ext cx="13655" cy="6226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622173" y="1079559"/>
                <a:ext cx="4966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173" y="1079559"/>
                <a:ext cx="496611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4627445" y="1059886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869518" y="1099232"/>
                <a:ext cx="497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518" y="1099232"/>
                <a:ext cx="497444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/>
          <p:cNvSpPr/>
          <p:nvPr/>
        </p:nvSpPr>
        <p:spPr>
          <a:xfrm>
            <a:off x="5874790" y="107955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cxnSp>
        <p:nvCxnSpPr>
          <p:cNvPr id="23" name="Straight Arrow Connector 22"/>
          <p:cNvCxnSpPr>
            <a:stCxn id="6" idx="0"/>
            <a:endCxn id="14" idx="4"/>
          </p:cNvCxnSpPr>
          <p:nvPr/>
        </p:nvCxnSpPr>
        <p:spPr>
          <a:xfrm flipH="1" flipV="1">
            <a:off x="3138314" y="1512048"/>
            <a:ext cx="653842" cy="5763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8" idx="0"/>
            <a:endCxn id="14" idx="4"/>
          </p:cNvCxnSpPr>
          <p:nvPr/>
        </p:nvCxnSpPr>
        <p:spPr>
          <a:xfrm flipH="1" flipV="1">
            <a:off x="3138314" y="1512048"/>
            <a:ext cx="1691500" cy="6025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0"/>
            <a:endCxn id="17" idx="4"/>
          </p:cNvCxnSpPr>
          <p:nvPr/>
        </p:nvCxnSpPr>
        <p:spPr>
          <a:xfrm flipV="1">
            <a:off x="3138314" y="1500363"/>
            <a:ext cx="634686" cy="5573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0"/>
            <a:endCxn id="17" idx="4"/>
          </p:cNvCxnSpPr>
          <p:nvPr/>
        </p:nvCxnSpPr>
        <p:spPr>
          <a:xfrm flipH="1" flipV="1">
            <a:off x="3773000" y="1500363"/>
            <a:ext cx="1056814" cy="6142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6" idx="0"/>
            <a:endCxn id="20" idx="4"/>
          </p:cNvCxnSpPr>
          <p:nvPr/>
        </p:nvCxnSpPr>
        <p:spPr>
          <a:xfrm flipV="1">
            <a:off x="3792156" y="1491934"/>
            <a:ext cx="1051313" cy="596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7" idx="0"/>
            <a:endCxn id="20" idx="4"/>
          </p:cNvCxnSpPr>
          <p:nvPr/>
        </p:nvCxnSpPr>
        <p:spPr>
          <a:xfrm flipV="1">
            <a:off x="3138314" y="1491934"/>
            <a:ext cx="1705155" cy="5657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" idx="0"/>
            <a:endCxn id="22" idx="4"/>
          </p:cNvCxnSpPr>
          <p:nvPr/>
        </p:nvCxnSpPr>
        <p:spPr>
          <a:xfrm flipV="1">
            <a:off x="4829814" y="1511607"/>
            <a:ext cx="1261000" cy="6030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0"/>
            <a:endCxn id="22" idx="4"/>
          </p:cNvCxnSpPr>
          <p:nvPr/>
        </p:nvCxnSpPr>
        <p:spPr>
          <a:xfrm flipV="1">
            <a:off x="3792156" y="1511607"/>
            <a:ext cx="2298658" cy="5768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7" idx="0"/>
            <a:endCxn id="22" idx="4"/>
          </p:cNvCxnSpPr>
          <p:nvPr/>
        </p:nvCxnSpPr>
        <p:spPr>
          <a:xfrm flipV="1">
            <a:off x="3138314" y="1511607"/>
            <a:ext cx="2952500" cy="5460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567160" y="2793574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3" name="Oval 32"/>
          <p:cNvSpPr/>
          <p:nvPr/>
        </p:nvSpPr>
        <p:spPr>
          <a:xfrm>
            <a:off x="2906359" y="2793574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4" name="Oval 33"/>
          <p:cNvSpPr/>
          <p:nvPr/>
        </p:nvSpPr>
        <p:spPr>
          <a:xfrm>
            <a:off x="4611514" y="2793574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5" name="TextBox 34"/>
          <p:cNvSpPr txBox="1"/>
          <p:nvPr/>
        </p:nvSpPr>
        <p:spPr>
          <a:xfrm>
            <a:off x="5242742" y="282493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…</a:t>
            </a:r>
          </a:p>
        </p:txBody>
      </p:sp>
      <p:sp>
        <p:nvSpPr>
          <p:cNvPr id="36" name="Oval 35"/>
          <p:cNvSpPr/>
          <p:nvPr/>
        </p:nvSpPr>
        <p:spPr>
          <a:xfrm>
            <a:off x="5874138" y="2824932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890428" y="2824932"/>
                <a:ext cx="4896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428" y="2824932"/>
                <a:ext cx="489621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557541" y="2809372"/>
                <a:ext cx="4949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41" y="2809372"/>
                <a:ext cx="494944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595199" y="2829920"/>
                <a:ext cx="4949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199" y="2829920"/>
                <a:ext cx="494944" cy="369332"/>
              </a:xfrm>
              <a:prstGeom prst="rect">
                <a:avLst/>
              </a:prstGeom>
              <a:blipFill rotWithShape="1"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858207" y="2861813"/>
                <a:ext cx="509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207" y="2861813"/>
                <a:ext cx="509050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endCxn id="7" idx="4"/>
          </p:cNvCxnSpPr>
          <p:nvPr/>
        </p:nvCxnSpPr>
        <p:spPr>
          <a:xfrm flipV="1">
            <a:off x="3133070" y="2257994"/>
            <a:ext cx="5244" cy="5327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6" idx="4"/>
          </p:cNvCxnSpPr>
          <p:nvPr/>
        </p:nvCxnSpPr>
        <p:spPr>
          <a:xfrm flipH="1" flipV="1">
            <a:off x="3792156" y="2288739"/>
            <a:ext cx="1715" cy="5019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4838225" y="2356554"/>
            <a:ext cx="26589" cy="434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7" idx="4"/>
          </p:cNvCxnSpPr>
          <p:nvPr/>
        </p:nvCxnSpPr>
        <p:spPr>
          <a:xfrm flipH="1" flipV="1">
            <a:off x="3138314" y="2257994"/>
            <a:ext cx="655558" cy="5327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7" idx="4"/>
          </p:cNvCxnSpPr>
          <p:nvPr/>
        </p:nvCxnSpPr>
        <p:spPr>
          <a:xfrm flipH="1" flipV="1">
            <a:off x="3138314" y="2257994"/>
            <a:ext cx="1699912" cy="5327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6" idx="4"/>
          </p:cNvCxnSpPr>
          <p:nvPr/>
        </p:nvCxnSpPr>
        <p:spPr>
          <a:xfrm flipV="1">
            <a:off x="3133070" y="2288739"/>
            <a:ext cx="659086" cy="5019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6" idx="4"/>
          </p:cNvCxnSpPr>
          <p:nvPr/>
        </p:nvCxnSpPr>
        <p:spPr>
          <a:xfrm flipH="1" flipV="1">
            <a:off x="3792156" y="2288739"/>
            <a:ext cx="1046070" cy="5019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8" idx="4"/>
          </p:cNvCxnSpPr>
          <p:nvPr/>
        </p:nvCxnSpPr>
        <p:spPr>
          <a:xfrm flipV="1">
            <a:off x="3793871" y="2284199"/>
            <a:ext cx="1035943" cy="5065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8" idx="4"/>
          </p:cNvCxnSpPr>
          <p:nvPr/>
        </p:nvCxnSpPr>
        <p:spPr>
          <a:xfrm flipV="1">
            <a:off x="3133070" y="2284199"/>
            <a:ext cx="1696744" cy="5065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6" idx="0"/>
            <a:endCxn id="8" idx="4"/>
          </p:cNvCxnSpPr>
          <p:nvPr/>
        </p:nvCxnSpPr>
        <p:spPr>
          <a:xfrm flipH="1" flipV="1">
            <a:off x="4829814" y="2284199"/>
            <a:ext cx="1260348" cy="5407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6" idx="0"/>
            <a:endCxn id="6" idx="4"/>
          </p:cNvCxnSpPr>
          <p:nvPr/>
        </p:nvCxnSpPr>
        <p:spPr>
          <a:xfrm flipH="1" flipV="1">
            <a:off x="3792156" y="2288739"/>
            <a:ext cx="2298006" cy="5361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36" idx="0"/>
            <a:endCxn id="7" idx="4"/>
          </p:cNvCxnSpPr>
          <p:nvPr/>
        </p:nvCxnSpPr>
        <p:spPr>
          <a:xfrm flipH="1" flipV="1">
            <a:off x="3138314" y="2257994"/>
            <a:ext cx="2951848" cy="566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161146" y="1819243"/>
            <a:ext cx="2220480" cy="830997"/>
          </a:xfrm>
          <a:prstGeom prst="rect">
            <a:avLst/>
          </a:prstGeom>
          <a:solidFill>
            <a:srgbClr val="FF0000">
              <a:alpha val="24000"/>
            </a:srgbClr>
          </a:solidFill>
          <a:ln w="444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1600" dirty="0"/>
              <a:t>Ce ne sont pas des </a:t>
            </a:r>
          </a:p>
          <a:p>
            <a:pPr algn="ctr"/>
            <a:r>
              <a:rPr lang="fr-FR" sz="1600" dirty="0"/>
              <a:t>nœuds cachés, </a:t>
            </a:r>
          </a:p>
          <a:p>
            <a:pPr algn="ctr"/>
            <a:r>
              <a:rPr lang="fr-FR" sz="1600" dirty="0"/>
              <a:t>juste des états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5242742" y="2188575"/>
            <a:ext cx="1229504" cy="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042125" y="196702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671958" y="4700073"/>
                <a:ext cx="5777223" cy="4072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Regularisation</a:t>
                </a:r>
                <a:r>
                  <a:rPr lang="fr-FR" sz="2000" dirty="0"/>
                  <a:t> 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/>
                      </a:rPr>
                      <m:t>𝑀𝑖𝑛</m:t>
                    </m:r>
                    <m:d>
                      <m:dPr>
                        <m:begChr m:val="{"/>
                        <m:endChr m:val="}"/>
                        <m:ctrlPr>
                          <a:rPr lang="fr-FR" sz="2000" b="0" i="1" smtClean="0">
                            <a:latin typeface="Cambria Math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fr-FR" sz="2000" b="0" i="1" smtClean="0"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20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fr-FR" sz="20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fr-FR" sz="2000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FR" sz="2000" b="0" i="1" smtClean="0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sz="20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b="0" i="1" smtClean="0">
                                            <a:latin typeface="Cambria Math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fr-FR" sz="2000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sz="2000" i="1" smtClean="0">
                                            <a:latin typeface="Cambria Math"/>
                                            <a:ea typeface="Cambria Math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r>
                                      <a:rPr lang="fr-FR" sz="20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fr-FR" sz="20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fr-FR" sz="2000" b="0" i="1" smtClean="0">
                            <a:latin typeface="Cambria Math"/>
                          </a:rPr>
                          <m:t>+</m:t>
                        </m:r>
                        <m:r>
                          <a:rPr lang="fr-FR" sz="2000" b="0" i="1" smtClean="0">
                            <a:latin typeface="Cambria Math"/>
                            <a:ea typeface="Cambria Math"/>
                          </a:rPr>
                          <m:t>𝜆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fr-FR" sz="20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958" y="4700073"/>
                <a:ext cx="5777223" cy="407291"/>
              </a:xfrm>
              <a:prstGeom prst="rect">
                <a:avLst/>
              </a:prstGeom>
              <a:blipFill rotWithShape="1">
                <a:blip r:embed="rId13"/>
                <a:stretch>
                  <a:fillRect l="-844" t="-117910" b="-1805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908086" y="3815006"/>
                <a:ext cx="27658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fr-FR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/>
                            </a:rPr>
                            <m:t>,…,</m:t>
                          </m:r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fr-FR" sz="20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086" y="3815006"/>
                <a:ext cx="2765822" cy="400110"/>
              </a:xfrm>
              <a:prstGeom prst="rect">
                <a:avLst/>
              </a:prstGeom>
              <a:blipFill rotWithShape="1">
                <a:blip r:embed="rId1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541659" y="3815006"/>
                <a:ext cx="2836418" cy="445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fr-FR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/>
                            </a:rPr>
                            <m:t>,…,</m:t>
                          </m:r>
                          <m:sSub>
                            <m:sSubPr>
                              <m:ctrlPr>
                                <a:rPr lang="fr-FR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fr-FR" sz="20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659" y="3815006"/>
                <a:ext cx="2836418" cy="445891"/>
              </a:xfrm>
              <a:prstGeom prst="rect">
                <a:avLst/>
              </a:prstGeom>
              <a:blipFill rotWithShape="1">
                <a:blip r:embed="rId15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67590" y="2057666"/>
                <a:ext cx="835870" cy="369332"/>
              </a:xfrm>
              <a:prstGeom prst="rect">
                <a:avLst/>
              </a:prstGeom>
              <a:solidFill>
                <a:srgbClr val="00B050">
                  <a:alpha val="32000"/>
                </a:srgbClr>
              </a:solidFill>
              <a:ln w="41275"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/>
                        </a:rPr>
                        <m:t>𝑝</m:t>
                      </m:r>
                      <m:r>
                        <a:rPr lang="fr-FR" sz="1800" b="0" i="1" smtClean="0">
                          <a:latin typeface="Cambria Math"/>
                        </a:rPr>
                        <m:t>&lt;</m:t>
                      </m:r>
                      <m:r>
                        <a:rPr lang="fr-FR" sz="1800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90" y="2057666"/>
                <a:ext cx="835870" cy="369332"/>
              </a:xfrm>
              <a:prstGeom prst="rect">
                <a:avLst/>
              </a:prstGeom>
              <a:blipFill rotWithShape="1">
                <a:blip r:embed="rId16"/>
                <a:stretch>
                  <a:fillRect b="-2985"/>
                </a:stretch>
              </a:blipFill>
              <a:ln w="412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/>
          <p:cNvSpPr txBox="1"/>
          <p:nvPr/>
        </p:nvSpPr>
        <p:spPr>
          <a:xfrm>
            <a:off x="316937" y="1654646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compression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17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98278" y="175311"/>
            <a:ext cx="6858802" cy="934032"/>
          </a:xfrm>
        </p:spPr>
        <p:txBody>
          <a:bodyPr/>
          <a:lstStyle/>
          <a:p>
            <a:pPr eaLnBrk="1" hangingPunct="1"/>
            <a:r>
              <a:rPr lang="fr-FR" dirty="0"/>
              <a:t>Autoencodeur variationnel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44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09932" y="1171292"/>
            <a:ext cx="3096344" cy="1524183"/>
          </a:xfrm>
          <a:prstGeom prst="rect">
            <a:avLst/>
          </a:prstGeom>
          <a:solidFill>
            <a:srgbClr val="00B05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97683" y="3758871"/>
                <a:ext cx="3900683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  <a:ea typeface="Cambria Math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</m:e>
                        <m:sub>
                          <m:r>
                            <a:rPr lang="fr-FR" sz="1800" i="1">
                              <a:latin typeface="Cambria Math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i="1">
                              <a:latin typeface="Cambria Math"/>
                            </a:rPr>
                            <m:t>𝐿𝑜𝑔</m:t>
                          </m:r>
                          <m:r>
                            <a:rPr lang="fr-FR" sz="1800" i="1">
                              <a:latin typeface="Cambria Math"/>
                            </a:rPr>
                            <m:t> </m:t>
                          </m:r>
                          <m:r>
                            <a:rPr lang="fr-FR" sz="1800" i="1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fr-FR" sz="1800" i="1"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fr-FR" sz="1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fr-FR" sz="1800" i="1">
                              <a:latin typeface="Cambria Math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fr-FR" sz="1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fr-FR" sz="1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|</m:t>
                              </m:r>
                              <m:r>
                                <a:rPr lang="fr-FR" sz="1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1800" i="1">
                              <a:latin typeface="Cambria Math"/>
                            </a:rPr>
                            <m:t>||</m:t>
                          </m:r>
                          <m:r>
                            <a:rPr lang="fr-FR" sz="1800" i="1">
                              <a:latin typeface="Cambria Math"/>
                            </a:rPr>
                            <m:t>𝑝</m:t>
                          </m:r>
                          <m:r>
                            <a:rPr lang="fr-FR" sz="1800" i="1">
                              <a:latin typeface="Cambria Math"/>
                            </a:rPr>
                            <m:t>(</m:t>
                          </m:r>
                          <m:r>
                            <a:rPr lang="fr-FR" sz="1800" i="1">
                              <a:latin typeface="Cambria Math"/>
                            </a:rPr>
                            <m:t>𝑧</m:t>
                          </m:r>
                          <m:r>
                            <a:rPr lang="fr-FR" sz="1800" i="1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683" y="3758871"/>
                <a:ext cx="3900683" cy="390748"/>
              </a:xfrm>
              <a:prstGeom prst="rect">
                <a:avLst/>
              </a:prstGeom>
              <a:blipFill rotWithShape="1">
                <a:blip r:embed="rId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8020" y="3574205"/>
                <a:ext cx="835870" cy="369332"/>
              </a:xfrm>
              <a:prstGeom prst="rect">
                <a:avLst/>
              </a:prstGeom>
              <a:solidFill>
                <a:srgbClr val="00B050">
                  <a:alpha val="32000"/>
                </a:srgbClr>
              </a:solidFill>
              <a:ln w="41275"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/>
                        </a:rPr>
                        <m:t>𝑝</m:t>
                      </m:r>
                      <m:r>
                        <a:rPr lang="fr-FR" sz="1800" b="0" i="1" smtClean="0">
                          <a:latin typeface="Cambria Math"/>
                        </a:rPr>
                        <m:t>&lt;</m:t>
                      </m:r>
                      <m:r>
                        <a:rPr lang="fr-FR" sz="1800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20" y="3574205"/>
                <a:ext cx="835870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471"/>
                </a:stretch>
              </a:blipFill>
              <a:ln w="412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67367" y="3171185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compression</a:t>
            </a:r>
          </a:p>
        </p:txBody>
      </p:sp>
      <p:sp>
        <p:nvSpPr>
          <p:cNvPr id="9" name="Oval 8"/>
          <p:cNvSpPr/>
          <p:nvPr/>
        </p:nvSpPr>
        <p:spPr>
          <a:xfrm>
            <a:off x="3405153" y="2557462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0" name="Oval 9"/>
          <p:cNvSpPr/>
          <p:nvPr/>
        </p:nvSpPr>
        <p:spPr>
          <a:xfrm>
            <a:off x="2744352" y="2557462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1" name="Oval 10"/>
          <p:cNvSpPr/>
          <p:nvPr/>
        </p:nvSpPr>
        <p:spPr>
          <a:xfrm>
            <a:off x="4432951" y="259724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extBox 11"/>
          <p:cNvSpPr txBox="1"/>
          <p:nvPr/>
        </p:nvSpPr>
        <p:spPr>
          <a:xfrm>
            <a:off x="5064179" y="262860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…</a:t>
            </a:r>
          </a:p>
        </p:txBody>
      </p:sp>
      <p:sp>
        <p:nvSpPr>
          <p:cNvPr id="13" name="Oval 12"/>
          <p:cNvSpPr/>
          <p:nvPr/>
        </p:nvSpPr>
        <p:spPr>
          <a:xfrm>
            <a:off x="5695575" y="262860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728421" y="2588820"/>
                <a:ext cx="4896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421" y="2588820"/>
                <a:ext cx="489621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95534" y="2573260"/>
                <a:ext cx="4949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534" y="2573260"/>
                <a:ext cx="494944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416636" y="2633595"/>
                <a:ext cx="4949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636" y="2633595"/>
                <a:ext cx="494944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679644" y="2665488"/>
                <a:ext cx="509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644" y="2665488"/>
                <a:ext cx="509050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739080" y="1731025"/>
                <a:ext cx="475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080" y="1731025"/>
                <a:ext cx="475002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760283" y="1711352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373766" y="1719340"/>
                <a:ext cx="480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766" y="1719340"/>
                <a:ext cx="480323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3379038" y="169966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427679" y="1750698"/>
                <a:ext cx="490391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679" y="1750698"/>
                <a:ext cx="490391" cy="390748"/>
              </a:xfrm>
              <a:prstGeom prst="rect">
                <a:avLst/>
              </a:prstGeom>
              <a:blipFill rotWithShape="1">
                <a:blip r:embed="rId10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/>
          <p:cNvSpPr/>
          <p:nvPr/>
        </p:nvSpPr>
        <p:spPr>
          <a:xfrm>
            <a:off x="4432951" y="173102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4" name="TextBox 23"/>
          <p:cNvSpPr txBox="1"/>
          <p:nvPr/>
        </p:nvSpPr>
        <p:spPr>
          <a:xfrm>
            <a:off x="3963394" y="259724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3394" y="173102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…</a:t>
            </a:r>
          </a:p>
        </p:txBody>
      </p:sp>
      <p:cxnSp>
        <p:nvCxnSpPr>
          <p:cNvPr id="26" name="Straight Connector 25"/>
          <p:cNvCxnSpPr>
            <a:stCxn id="19" idx="4"/>
            <a:endCxn id="10" idx="0"/>
          </p:cNvCxnSpPr>
          <p:nvPr/>
        </p:nvCxnSpPr>
        <p:spPr>
          <a:xfrm flipH="1">
            <a:off x="2960376" y="2143400"/>
            <a:ext cx="15931" cy="414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1" idx="4"/>
            <a:endCxn id="9" idx="0"/>
          </p:cNvCxnSpPr>
          <p:nvPr/>
        </p:nvCxnSpPr>
        <p:spPr>
          <a:xfrm>
            <a:off x="3595062" y="2131715"/>
            <a:ext cx="26115" cy="425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3" idx="4"/>
            <a:endCxn id="11" idx="0"/>
          </p:cNvCxnSpPr>
          <p:nvPr/>
        </p:nvCxnSpPr>
        <p:spPr>
          <a:xfrm>
            <a:off x="4648975" y="2163073"/>
            <a:ext cx="0" cy="434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3" idx="4"/>
            <a:endCxn id="13" idx="0"/>
          </p:cNvCxnSpPr>
          <p:nvPr/>
        </p:nvCxnSpPr>
        <p:spPr>
          <a:xfrm>
            <a:off x="4648975" y="2163073"/>
            <a:ext cx="1262624" cy="465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3" idx="4"/>
            <a:endCxn id="9" idx="0"/>
          </p:cNvCxnSpPr>
          <p:nvPr/>
        </p:nvCxnSpPr>
        <p:spPr>
          <a:xfrm flipH="1">
            <a:off x="3621177" y="2163073"/>
            <a:ext cx="1027798" cy="394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3" idx="4"/>
            <a:endCxn id="10" idx="0"/>
          </p:cNvCxnSpPr>
          <p:nvPr/>
        </p:nvCxnSpPr>
        <p:spPr>
          <a:xfrm flipH="1">
            <a:off x="2960376" y="2163073"/>
            <a:ext cx="1688599" cy="394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9" idx="4"/>
            <a:endCxn id="9" idx="0"/>
          </p:cNvCxnSpPr>
          <p:nvPr/>
        </p:nvCxnSpPr>
        <p:spPr>
          <a:xfrm>
            <a:off x="2976307" y="2143400"/>
            <a:ext cx="644870" cy="414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9" idx="4"/>
            <a:endCxn id="11" idx="0"/>
          </p:cNvCxnSpPr>
          <p:nvPr/>
        </p:nvCxnSpPr>
        <p:spPr>
          <a:xfrm>
            <a:off x="2976307" y="2143400"/>
            <a:ext cx="1672668" cy="453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9" idx="4"/>
            <a:endCxn id="13" idx="0"/>
          </p:cNvCxnSpPr>
          <p:nvPr/>
        </p:nvCxnSpPr>
        <p:spPr>
          <a:xfrm>
            <a:off x="2976307" y="2143400"/>
            <a:ext cx="2935292" cy="485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1" idx="4"/>
            <a:endCxn id="11" idx="0"/>
          </p:cNvCxnSpPr>
          <p:nvPr/>
        </p:nvCxnSpPr>
        <p:spPr>
          <a:xfrm>
            <a:off x="3595062" y="2131715"/>
            <a:ext cx="1053913" cy="465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1" idx="4"/>
            <a:endCxn id="10" idx="0"/>
          </p:cNvCxnSpPr>
          <p:nvPr/>
        </p:nvCxnSpPr>
        <p:spPr>
          <a:xfrm flipH="1">
            <a:off x="2960376" y="2131715"/>
            <a:ext cx="634686" cy="425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1" idx="4"/>
            <a:endCxn id="13" idx="0"/>
          </p:cNvCxnSpPr>
          <p:nvPr/>
        </p:nvCxnSpPr>
        <p:spPr>
          <a:xfrm>
            <a:off x="3595062" y="2131715"/>
            <a:ext cx="2316537" cy="496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086396" y="2691323"/>
                <a:ext cx="1339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Entrée : </a:t>
                </a: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/>
                      </a:rPr>
                      <m:t>𝑥</m:t>
                    </m:r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396" y="2691323"/>
                <a:ext cx="1339406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3636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798364" y="1802367"/>
                <a:ext cx="22420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Nœuds cachés : </a:t>
                </a: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/>
                      </a:rPr>
                      <m:t>𝑧</m:t>
                    </m:r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364" y="1802367"/>
                <a:ext cx="2242089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Arc 39"/>
          <p:cNvSpPr/>
          <p:nvPr/>
        </p:nvSpPr>
        <p:spPr>
          <a:xfrm>
            <a:off x="2960375" y="1332241"/>
            <a:ext cx="646435" cy="797567"/>
          </a:xfrm>
          <a:prstGeom prst="arc">
            <a:avLst>
              <a:gd name="adj1" fmla="val 11063922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1" name="Arc 40"/>
          <p:cNvSpPr/>
          <p:nvPr/>
        </p:nvSpPr>
        <p:spPr>
          <a:xfrm>
            <a:off x="3608119" y="1370984"/>
            <a:ext cx="1040856" cy="747139"/>
          </a:xfrm>
          <a:prstGeom prst="arc">
            <a:avLst>
              <a:gd name="adj1" fmla="val 11063922"/>
              <a:gd name="adj2" fmla="val 5641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2" name="Arc 41"/>
          <p:cNvSpPr/>
          <p:nvPr/>
        </p:nvSpPr>
        <p:spPr>
          <a:xfrm>
            <a:off x="2960211" y="1171292"/>
            <a:ext cx="1674944" cy="1080120"/>
          </a:xfrm>
          <a:prstGeom prst="arc">
            <a:avLst>
              <a:gd name="adj1" fmla="val 11063922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3" name="Right Arrow 42"/>
          <p:cNvSpPr/>
          <p:nvPr/>
        </p:nvSpPr>
        <p:spPr>
          <a:xfrm>
            <a:off x="2193374" y="2165765"/>
            <a:ext cx="740664" cy="391697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44" name="TextBox 43"/>
          <p:cNvSpPr txBox="1"/>
          <p:nvPr/>
        </p:nvSpPr>
        <p:spPr>
          <a:xfrm>
            <a:off x="245405" y="2049144"/>
            <a:ext cx="1947969" cy="646331"/>
          </a:xfrm>
          <a:prstGeom prst="rect">
            <a:avLst/>
          </a:prstGeom>
          <a:solidFill>
            <a:srgbClr val="00B050">
              <a:alpha val="30000"/>
            </a:srgbClr>
          </a:solidFill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fr-FR" sz="1800" dirty="0"/>
              <a:t>Connexions</a:t>
            </a:r>
          </a:p>
          <a:p>
            <a:r>
              <a:rPr lang="fr-FR" sz="1800" dirty="0"/>
              <a:t>bidirectionnelle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8921" y="3758871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maximiser 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18020" y="4539337"/>
                <a:ext cx="5456622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habituellement : </a:t>
                </a: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/>
                      </a:rPr>
                      <m:t>𝑞</m:t>
                    </m:r>
                    <m:d>
                      <m:dPr>
                        <m:ctrlPr>
                          <a:rPr lang="fr-FR" sz="18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/>
                          </a:rPr>
                          <m:t>𝑧</m:t>
                        </m:r>
                      </m:e>
                      <m:e>
                        <m:r>
                          <a:rPr lang="fr-FR" sz="18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fr-FR" sz="1800" b="0" i="1" smtClean="0">
                        <a:latin typeface="Cambria Math"/>
                      </a:rPr>
                      <m:t>= </m:t>
                    </m:r>
                    <m:r>
                      <a:rPr lang="fr-FR" sz="1800" b="0" i="1" smtClean="0">
                        <a:latin typeface="Cambria Math"/>
                        <a:ea typeface="Cambria Math"/>
                      </a:rPr>
                      <m:t>𝒩</m:t>
                    </m:r>
                    <m:d>
                      <m:dPr>
                        <m:ctrlPr>
                          <a:rPr lang="fr-FR" sz="1800" b="0" i="1" smtClean="0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/>
                            <a:ea typeface="Cambria Math"/>
                          </a:rPr>
                          <m:t>𝑧</m:t>
                        </m:r>
                        <m:r>
                          <a:rPr lang="fr-FR" sz="1800" b="0" i="1" smtClean="0">
                            <a:latin typeface="Cambria Math"/>
                            <a:ea typeface="Cambria Math"/>
                          </a:rPr>
                          <m:t> | </m:t>
                        </m:r>
                        <m:r>
                          <a:rPr lang="fr-FR" sz="1800" b="0" i="1" smtClean="0">
                            <a:latin typeface="Cambria Math"/>
                            <a:ea typeface="Cambria Math"/>
                          </a:rPr>
                          <m:t>𝜇</m:t>
                        </m:r>
                        <m:d>
                          <m:dPr>
                            <m:ctrlPr>
                              <a:rPr lang="fr-FR" sz="18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18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fr-FR" sz="1800" b="0" i="1" smtClean="0">
                                <a:latin typeface="Cambria Math"/>
                                <a:ea typeface="Cambria Math"/>
                              </a:rPr>
                              <m:t>;</m:t>
                            </m:r>
                            <m:r>
                              <a:rPr lang="fr-FR" sz="18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d>
                        <m:r>
                          <a:rPr lang="fr-FR" sz="18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sz="1800" b="0" i="1" smtClean="0">
                            <a:latin typeface="Cambria Math"/>
                            <a:ea typeface="Cambria Math"/>
                          </a:rPr>
                          <m:t>Σ</m:t>
                        </m:r>
                        <m:d>
                          <m:dPr>
                            <m:ctrlPr>
                              <a:rPr lang="el-GR" sz="18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18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fr-FR" sz="1800" b="0" i="1" smtClean="0">
                                <a:latin typeface="Cambria Math"/>
                                <a:ea typeface="Cambria Math"/>
                              </a:rPr>
                              <m:t>;</m:t>
                            </m:r>
                            <m:r>
                              <a:rPr lang="fr-FR" sz="18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lang="fr-FR" sz="1800" dirty="0"/>
                  <a:t> </a:t>
                </a: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20" y="4539337"/>
                <a:ext cx="5456622" cy="404983"/>
              </a:xfrm>
              <a:prstGeom prst="rect">
                <a:avLst/>
              </a:prstGeom>
              <a:blipFill rotWithShape="1">
                <a:blip r:embed="rId13"/>
                <a:stretch>
                  <a:fillRect l="-1006" t="-4545" b="-181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79447" y="4944320"/>
                <a:ext cx="60129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800" i="1" smtClean="0">
                        <a:latin typeface="Cambria Math"/>
                        <a:ea typeface="Cambria Math"/>
                      </a:rPr>
                      <m:t>𝜇</m:t>
                    </m:r>
                  </m:oMath>
                </a14:m>
                <a:r>
                  <a:rPr lang="fr-FR" sz="1800" dirty="0"/>
                  <a:t> 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  <a:ea typeface="Cambria Math"/>
                      </a:rPr>
                      <m:t>Σ</m:t>
                    </m:r>
                  </m:oMath>
                </a14:m>
                <a:r>
                  <a:rPr lang="fr-FR" sz="1800" dirty="0"/>
                  <a:t> implémenté comme des réseaux neuronaux</a:t>
                </a: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47" y="4944320"/>
                <a:ext cx="6012993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304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6366438" y="4210655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(borne inférieure)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907" y="373553"/>
            <a:ext cx="7963429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Autoencodeur variationnel: fonctionnement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45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750" y="2078970"/>
            <a:ext cx="2593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Modèle d’inférence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157" y="2078970"/>
            <a:ext cx="23282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Modèle génératif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1838" y="4527242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x</a:t>
            </a:r>
          </a:p>
        </p:txBody>
      </p:sp>
      <p:cxnSp>
        <p:nvCxnSpPr>
          <p:cNvPr id="8" name="Straight Arrow Connector 7"/>
          <p:cNvCxnSpPr>
            <a:stCxn id="7" idx="0"/>
          </p:cNvCxnSpPr>
          <p:nvPr/>
        </p:nvCxnSpPr>
        <p:spPr>
          <a:xfrm flipH="1" flipV="1">
            <a:off x="1473864" y="4095194"/>
            <a:ext cx="26450" cy="43204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99790" y="3951178"/>
            <a:ext cx="1152128" cy="0"/>
          </a:xfrm>
          <a:prstGeom prst="line">
            <a:avLst/>
          </a:prstGeom>
          <a:ln w="889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488667" y="3375114"/>
            <a:ext cx="0" cy="43204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97800" y="3231098"/>
            <a:ext cx="1152128" cy="0"/>
          </a:xfrm>
          <a:prstGeom prst="line">
            <a:avLst/>
          </a:prstGeom>
          <a:ln w="889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33198" y="2755478"/>
                <a:ext cx="9852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/>
                        </a:rPr>
                        <m:t>𝑞</m:t>
                      </m:r>
                      <m:r>
                        <a:rPr lang="fr-FR" sz="2000" b="0" i="1" smtClean="0">
                          <a:latin typeface="Cambria Math"/>
                        </a:rPr>
                        <m:t>(</m:t>
                      </m:r>
                      <m:r>
                        <a:rPr lang="fr-FR" sz="2000" b="0" i="1" smtClean="0">
                          <a:latin typeface="Cambria Math"/>
                        </a:rPr>
                        <m:t>𝑧</m:t>
                      </m:r>
                      <m:r>
                        <a:rPr lang="fr-FR" sz="2000" b="0" i="1" smtClean="0">
                          <a:latin typeface="Cambria Math"/>
                        </a:rPr>
                        <m:t>|</m:t>
                      </m:r>
                      <m:r>
                        <a:rPr lang="fr-FR" sz="2000" b="0" i="1" smtClean="0">
                          <a:latin typeface="Cambria Math"/>
                        </a:rPr>
                        <m:t>𝑥</m:t>
                      </m:r>
                      <m:r>
                        <a:rPr lang="fr-FR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98" y="2755478"/>
                <a:ext cx="985206" cy="400110"/>
              </a:xfrm>
              <a:prstGeom prst="rect">
                <a:avLst/>
              </a:prstGeom>
              <a:blipFill rotWithShape="1"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54841" y="4527242"/>
                <a:ext cx="2691634" cy="8376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fr-FR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a:rPr lang="fr-FR" sz="2000" b="0" i="1" smtClean="0">
                              <a:latin typeface="Cambria Math"/>
                            </a:rPr>
                            <m:t>𝑧</m:t>
                          </m:r>
                        </m:sub>
                        <m:sup>
                          <m:r>
                            <a:rPr lang="fr-FR" sz="2000" b="0" i="1" smtClean="0">
                              <a:latin typeface="Cambria Math"/>
                            </a:rPr>
                            <m:t> </m:t>
                          </m:r>
                        </m:sup>
                        <m:e>
                          <m:r>
                            <a:rPr lang="fr-FR" sz="2000" b="0" i="1" smtClean="0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20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fr-FR" sz="2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fr-FR" sz="2000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fr-FR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fr-FR" sz="2000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fr-FR" sz="2000" b="0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4841" y="4527242"/>
                <a:ext cx="2691634" cy="83760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4375141" y="3951178"/>
            <a:ext cx="1152128" cy="0"/>
          </a:xfrm>
          <a:prstGeom prst="line">
            <a:avLst/>
          </a:prstGeom>
          <a:ln w="889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951205" y="3375114"/>
            <a:ext cx="12813" cy="43204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373151" y="3231098"/>
            <a:ext cx="1152128" cy="0"/>
          </a:xfrm>
          <a:prstGeom prst="line">
            <a:avLst/>
          </a:prstGeom>
          <a:ln w="889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08549" y="2755478"/>
                <a:ext cx="7596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/>
                        </a:rPr>
                        <m:t>𝑝</m:t>
                      </m:r>
                      <m:r>
                        <a:rPr lang="fr-FR" sz="2000" b="0" i="1" smtClean="0">
                          <a:latin typeface="Cambria Math"/>
                        </a:rPr>
                        <m:t>(</m:t>
                      </m:r>
                      <m:r>
                        <a:rPr lang="fr-FR" sz="2000" b="0" i="1" smtClean="0">
                          <a:latin typeface="Cambria Math"/>
                        </a:rPr>
                        <m:t>𝑧</m:t>
                      </m:r>
                      <m:r>
                        <a:rPr lang="fr-FR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49" y="2755478"/>
                <a:ext cx="759632" cy="400110"/>
              </a:xfrm>
              <a:prstGeom prst="rect">
                <a:avLst/>
              </a:prstGeom>
              <a:blipFill rotWithShape="1"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79705" y="3807162"/>
                <a:ext cx="98539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/>
                        </a:rPr>
                        <m:t>𝑝</m:t>
                      </m:r>
                      <m:r>
                        <a:rPr lang="fr-FR" sz="2000" b="0" i="1" smtClean="0">
                          <a:latin typeface="Cambria Math"/>
                        </a:rPr>
                        <m:t>(</m:t>
                      </m:r>
                      <m:r>
                        <a:rPr lang="fr-FR" sz="2000" b="0" i="1" smtClean="0">
                          <a:latin typeface="Cambria Math"/>
                        </a:rPr>
                        <m:t>𝑥</m:t>
                      </m:r>
                      <m:r>
                        <a:rPr lang="fr-FR" sz="2000" b="0" i="1" smtClean="0">
                          <a:latin typeface="Cambria Math"/>
                        </a:rPr>
                        <m:t>|</m:t>
                      </m:r>
                      <m:r>
                        <a:rPr lang="fr-FR" sz="2000" b="0" i="1" smtClean="0">
                          <a:latin typeface="Cambria Math"/>
                        </a:rPr>
                        <m:t>𝑧</m:t>
                      </m:r>
                      <m:r>
                        <a:rPr lang="fr-FR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705" y="3807162"/>
                <a:ext cx="985398" cy="400110"/>
              </a:xfrm>
              <a:prstGeom prst="rect">
                <a:avLst/>
              </a:prstGeom>
              <a:blipFill rotWithShape="1">
                <a:blip r:embed="rId5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>
            <a:off x="4951205" y="4095194"/>
            <a:ext cx="12813" cy="43204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5032" y="1443643"/>
            <a:ext cx="7296998" cy="400110"/>
          </a:xfrm>
          <a:prstGeom prst="rect">
            <a:avLst/>
          </a:prstGeom>
          <a:solidFill>
            <a:srgbClr val="00B050">
              <a:alpha val="18000"/>
            </a:srgbClr>
          </a:solidFill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/>
              <a:t>Z est une variable gaussienne standardisée de </a:t>
            </a:r>
            <a:r>
              <a:rPr lang="fr-FR" sz="2000" dirty="0" err="1"/>
              <a:t>dim</a:t>
            </a:r>
            <a:r>
              <a:rPr lang="fr-FR" sz="2000" dirty="0"/>
              <a:t> = n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336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412811"/>
            <a:ext cx="8064500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Autoencodeur vs Autoencodeur variationnel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46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968603"/>
              </p:ext>
            </p:extLst>
          </p:nvPr>
        </p:nvGraphicFramePr>
        <p:xfrm>
          <a:off x="684212" y="1471644"/>
          <a:ext cx="7788577" cy="4744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92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204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3882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2543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Autoencodeur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Autoencodeur variationnel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2722">
                <a:tc>
                  <a:txBody>
                    <a:bodyPr/>
                    <a:lstStyle/>
                    <a:p>
                      <a:r>
                        <a:rPr lang="fr-FR" dirty="0"/>
                        <a:t>Learning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Une séquence d’</a:t>
                      </a:r>
                      <a:r>
                        <a:rPr lang="fr-FR" baseline="0" dirty="0"/>
                        <a:t>inputs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Une séquence d’</a:t>
                      </a:r>
                      <a:r>
                        <a:rPr lang="fr-FR" baseline="0" dirty="0"/>
                        <a:t>inputs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90942">
                <a:tc>
                  <a:txBody>
                    <a:bodyPr/>
                    <a:lstStyle/>
                    <a:p>
                      <a:r>
                        <a:rPr lang="fr-FR" dirty="0"/>
                        <a:t>Incertitude</a:t>
                      </a:r>
                      <a:r>
                        <a:rPr lang="fr-FR" baseline="0" dirty="0"/>
                        <a:t> de distributions cachées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aucune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Matrice</a:t>
                      </a:r>
                      <a:r>
                        <a:rPr lang="fr-FR" baseline="0" dirty="0"/>
                        <a:t> de corrélation, un vecteur de moyenne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2618">
                <a:tc>
                  <a:txBody>
                    <a:bodyPr/>
                    <a:lstStyle/>
                    <a:p>
                      <a:r>
                        <a:rPr lang="fr-FR" dirty="0"/>
                        <a:t>Principale méthode  de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Approché</a:t>
                      </a:r>
                      <a:r>
                        <a:rPr lang="fr-FR" baseline="0" dirty="0"/>
                        <a:t> 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-    Contrastive divergence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Approché 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Inférence variationnelle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42618">
                <a:tc>
                  <a:txBody>
                    <a:bodyPr/>
                    <a:lstStyle/>
                    <a:p>
                      <a:r>
                        <a:rPr lang="fr-FR" dirty="0"/>
                        <a:t>Utilisation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Compression d’information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Modèle génératif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181" y="173168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745" y="29957"/>
            <a:ext cx="7150190" cy="953310"/>
          </a:xfrm>
        </p:spPr>
        <p:txBody>
          <a:bodyPr>
            <a:normAutofit fontScale="90000"/>
          </a:bodyPr>
          <a:lstStyle/>
          <a:p>
            <a:r>
              <a:rPr lang="fr-FR" dirty="0"/>
              <a:t>Autoencodeur variationnel : exemple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47</a:t>
            </a:fld>
            <a:endParaRPr lang="fr-FR" altLang="fr-FR"/>
          </a:p>
        </p:txBody>
      </p:sp>
      <p:pic>
        <p:nvPicPr>
          <p:cNvPr id="7170" name="Picture 2" descr="http://deeplearning.jp/wp-content/uploads/2016/04/over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097681"/>
            <a:ext cx="8530746" cy="484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877" y="0"/>
            <a:ext cx="7145158" cy="1177239"/>
          </a:xfrm>
        </p:spPr>
        <p:txBody>
          <a:bodyPr/>
          <a:lstStyle/>
          <a:p>
            <a:r>
              <a:rPr lang="fr-FR" dirty="0"/>
              <a:t>Routage sémantique de texte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48</a:t>
            </a:fld>
            <a:endParaRPr lang="fr-FR" alt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77239"/>
            <a:ext cx="4296032" cy="3273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727" y="988893"/>
            <a:ext cx="3551478" cy="261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4213" y="4614178"/>
            <a:ext cx="37571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Data : Reuter </a:t>
            </a:r>
            <a:r>
              <a:rPr lang="fr-FR" sz="1200" dirty="0" err="1"/>
              <a:t>text</a:t>
            </a:r>
            <a:r>
              <a:rPr lang="fr-FR" sz="1200" dirty="0"/>
              <a:t> classification test collection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253" y="4237546"/>
            <a:ext cx="4228022" cy="158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0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0472"/>
            <a:ext cx="8064500" cy="495300"/>
          </a:xfrm>
        </p:spPr>
        <p:txBody>
          <a:bodyPr>
            <a:normAutofit fontScale="90000"/>
          </a:bodyPr>
          <a:lstStyle/>
          <a:p>
            <a:r>
              <a:rPr lang="fr-FR" dirty="0"/>
              <a:t>Représentation du langage naturel en IA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49</a:t>
            </a:fld>
            <a:endParaRPr lang="fr-FR" altLang="fr-FR"/>
          </a:p>
        </p:txBody>
      </p:sp>
      <p:pic>
        <p:nvPicPr>
          <p:cNvPr id="2052" name="Picture 4" descr="Image associ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611" y="1016678"/>
            <a:ext cx="6305910" cy="487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0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-223565" y="219098"/>
            <a:ext cx="8064500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Représentation de la dimension du temps</a:t>
            </a:r>
            <a:endParaRPr lang="fr-FR" altLang="fr-FR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893680" y="4155335"/>
            <a:ext cx="5722695" cy="1420238"/>
          </a:xfrm>
          <a:solidFill>
            <a:srgbClr val="FF0000">
              <a:alpha val="26000"/>
            </a:srgbClr>
          </a:solidFill>
          <a:ln w="28575">
            <a:solidFill>
              <a:srgbClr val="FF0000"/>
            </a:solidFill>
          </a:ln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fr-FR" sz="1600" b="0" dirty="0"/>
              <a:t>c’est un réseau profond. Donc problèmes lié a l’apprentissage des réseaux profonds : gradients nuls et divergents..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600" b="0" dirty="0"/>
              <a:t>Difficulté des réseaux profonds d’apprendre des relations temporelles lointaines: </a:t>
            </a:r>
          </a:p>
          <a:p>
            <a:pPr lvl="1"/>
            <a:endParaRPr lang="fr-FR" sz="1600" b="0" dirty="0"/>
          </a:p>
          <a:p>
            <a:endParaRPr lang="fr-FR" sz="1600" b="0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50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2294" y="1276706"/>
            <a:ext cx="6098276" cy="830997"/>
          </a:xfrm>
          <a:prstGeom prst="rect">
            <a:avLst/>
          </a:prstGeom>
          <a:solidFill>
            <a:srgbClr val="00B050">
              <a:alpha val="18000"/>
            </a:srgbClr>
          </a:solidFill>
          <a:ln w="317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u="sng" dirty="0"/>
              <a:t>RNN (</a:t>
            </a:r>
            <a:r>
              <a:rPr lang="fr-FR" sz="1600" u="sng" dirty="0" err="1"/>
              <a:t>recurent</a:t>
            </a:r>
            <a:r>
              <a:rPr lang="fr-FR" sz="1600" u="sng" dirty="0"/>
              <a:t> neural network) : </a:t>
            </a:r>
          </a:p>
          <a:p>
            <a:pPr algn="ctr"/>
            <a:r>
              <a:rPr lang="fr-FR" sz="1600" u="sng" dirty="0"/>
              <a:t>séquence de neurones associé a un modèle générique</a:t>
            </a:r>
          </a:p>
          <a:p>
            <a:pPr algn="ctr"/>
            <a:endParaRPr lang="fr-FR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749665" y="2566645"/>
            <a:ext cx="6663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Analyse de séries temporelles, textes, musiques, vidéo,</a:t>
            </a:r>
          </a:p>
          <a:p>
            <a:r>
              <a:rPr lang="fr-FR" sz="1800" dirty="0"/>
              <a:t> compréhension de séquences d’actions.</a:t>
            </a:r>
          </a:p>
          <a:p>
            <a:endParaRPr lang="fr-FR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309505" y="2670011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Utilisation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490" y="3574757"/>
            <a:ext cx="156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Exemples 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9665" y="3587204"/>
            <a:ext cx="4278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HMM , LSTM , GRU, GTM, GTMM,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764" y="4487941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Problèmes :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809154" y="172904"/>
            <a:ext cx="7072369" cy="69594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LSTM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xfrm>
            <a:off x="809154" y="5754271"/>
            <a:ext cx="3313112" cy="360363"/>
          </a:xfrm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77354" y="5754271"/>
            <a:ext cx="288925" cy="360363"/>
          </a:xfrm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51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2" descr="TR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66" y="900113"/>
            <a:ext cx="4536504" cy="378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095" y="2457346"/>
            <a:ext cx="4087759" cy="3065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80112" y="1333218"/>
            <a:ext cx="2561727" cy="584775"/>
          </a:xfrm>
          <a:prstGeom prst="rect">
            <a:avLst/>
          </a:prstGeom>
          <a:solidFill>
            <a:srgbClr val="00B050">
              <a:alpha val="21000"/>
            </a:srgbClr>
          </a:solidFill>
        </p:spPr>
        <p:txBody>
          <a:bodyPr wrap="none" rtlCol="0">
            <a:spAutoFit/>
          </a:bodyPr>
          <a:lstStyle/>
          <a:p>
            <a:r>
              <a:rPr lang="fr-FR" sz="1600" dirty="0"/>
              <a:t>Pas d’état distribution,</a:t>
            </a:r>
          </a:p>
          <a:p>
            <a:r>
              <a:rPr lang="fr-FR" sz="1600" dirty="0"/>
              <a:t>Que des états vecteurs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552" y="4913138"/>
            <a:ext cx="1562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Avantages  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9712" y="4691645"/>
            <a:ext cx="3006290" cy="830997"/>
          </a:xfrm>
          <a:prstGeom prst="rect">
            <a:avLst/>
          </a:prstGeom>
          <a:solidFill>
            <a:srgbClr val="00B050">
              <a:alpha val="14000"/>
            </a:srgbClr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/>
              <a:t>Mémoire long terme</a:t>
            </a:r>
          </a:p>
          <a:p>
            <a:pPr marL="285750" indent="-285750">
              <a:buFontTx/>
              <a:buChar char="-"/>
            </a:pPr>
            <a:r>
              <a:rPr lang="fr-FR" sz="1600" dirty="0"/>
              <a:t>Pas de gradients nuls ni divergents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656" y="5596012"/>
            <a:ext cx="18674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Inconvénients 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9712" y="5596012"/>
            <a:ext cx="2164375" cy="338554"/>
          </a:xfrm>
          <a:prstGeom prst="rect">
            <a:avLst/>
          </a:prstGeom>
          <a:solidFill>
            <a:srgbClr val="FF0000">
              <a:alpha val="37000"/>
            </a:srgbClr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fr-FR" sz="1600" dirty="0"/>
              <a:t>Apprend lentement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http://colah.github.io/posts/2015-08-Understanding-LSTMs/img/LSTM2-not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956" y="4930356"/>
            <a:ext cx="4716860" cy="87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2165230" y="5409072"/>
            <a:ext cx="1388853" cy="4001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37316" y="142275"/>
            <a:ext cx="6975093" cy="749500"/>
          </a:xfrm>
        </p:spPr>
        <p:txBody>
          <a:bodyPr/>
          <a:lstStyle/>
          <a:p>
            <a:pPr eaLnBrk="1" hangingPunct="1"/>
            <a:r>
              <a:rPr lang="fr-FR" dirty="0"/>
              <a:t>RNN  -&gt;   LSTM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52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2" descr="http://colah.github.io/posts/2015-08-Understanding-LSTMs/img/LSTM3-SimpleRN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782" y="1129478"/>
            <a:ext cx="4063624" cy="152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640608" y="2515168"/>
            <a:ext cx="4148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RNN standard avec une simple couche</a:t>
            </a:r>
          </a:p>
        </p:txBody>
      </p:sp>
      <p:pic>
        <p:nvPicPr>
          <p:cNvPr id="7" name="Picture 4" descr="A LSTM neural network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782" y="2853722"/>
            <a:ext cx="4477151" cy="168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640608" y="4592508"/>
            <a:ext cx="463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LSTM avec ses 4 niveaux de modification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5384" y="6150831"/>
            <a:ext cx="120481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Copie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8816" y="2087053"/>
            <a:ext cx="1394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Operateur </a:t>
            </a:r>
          </a:p>
          <a:p>
            <a:r>
              <a:rPr lang="fr-FR" sz="1600" dirty="0"/>
              <a:t>non linéaire</a:t>
            </a:r>
          </a:p>
        </p:txBody>
      </p:sp>
      <p:cxnSp>
        <p:nvCxnSpPr>
          <p:cNvPr id="15" name="Straight Arrow Connector 14"/>
          <p:cNvCxnSpPr>
            <a:stCxn id="14" idx="1"/>
          </p:cNvCxnSpPr>
          <p:nvPr/>
        </p:nvCxnSpPr>
        <p:spPr>
          <a:xfrm flipH="1" flipV="1">
            <a:off x="4424863" y="1838739"/>
            <a:ext cx="2573953" cy="5407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69209" y="5409073"/>
            <a:ext cx="85571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000" dirty="0"/>
              <a:t>Opération</a:t>
            </a:r>
          </a:p>
          <a:p>
            <a:r>
              <a:rPr lang="fr-FR" sz="1000" dirty="0"/>
              <a:t>Ponctuelle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680" y="548601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000" dirty="0"/>
              <a:t>Transformation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5831" y="5409072"/>
            <a:ext cx="85571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000" dirty="0"/>
              <a:t>Transfert</a:t>
            </a:r>
          </a:p>
          <a:p>
            <a:r>
              <a:rPr lang="fr-FR" sz="1000" dirty="0"/>
              <a:t>Vectoriel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0140" y="5409073"/>
            <a:ext cx="120481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000" dirty="0"/>
              <a:t>Concaténation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333" y="5409073"/>
            <a:ext cx="120481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000" dirty="0"/>
              <a:t>Copie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217" y="149390"/>
            <a:ext cx="7243976" cy="900767"/>
          </a:xfrm>
        </p:spPr>
        <p:txBody>
          <a:bodyPr/>
          <a:lstStyle/>
          <a:p>
            <a:pPr eaLnBrk="1" hangingPunct="1"/>
            <a:r>
              <a:rPr lang="fr-FR" dirty="0"/>
              <a:t>LSTM : fonctionnement (1)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53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2" descr="http://colah.github.io/posts/2015-08-Understanding-LSTMs/img/LSTM3-C-lin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046" y="1398752"/>
            <a:ext cx="6835146" cy="2111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3335" y="3564353"/>
                <a:ext cx="84501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/>
                  <a:t>L’ état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sz="1600" dirty="0"/>
                  <a:t> est un convoyeur qui traverse les cellules avec quelques interactions ..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35" y="3564353"/>
                <a:ext cx="8450134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361" t="-5455" b="-2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 descr="http://colah.github.io/posts/2015-08-Understanding-LSTMs/img/LSTM3-gat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567" y="4068409"/>
            <a:ext cx="1244831" cy="152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93335" y="4644473"/>
            <a:ext cx="20794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Une porte : (</a:t>
            </a:r>
            <a:r>
              <a:rPr lang="fr-FR" sz="1600" dirty="0" err="1"/>
              <a:t>gate</a:t>
            </a:r>
            <a:r>
              <a:rPr lang="fr-FR" sz="1600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2061" y="4251502"/>
            <a:ext cx="4224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Multiplication dimension par dimension</a:t>
            </a:r>
          </a:p>
        </p:txBody>
      </p:sp>
      <p:cxnSp>
        <p:nvCxnSpPr>
          <p:cNvPr id="10" name="Straight Arrow Connector 9"/>
          <p:cNvCxnSpPr>
            <a:stCxn id="9" idx="1"/>
          </p:cNvCxnSpPr>
          <p:nvPr/>
        </p:nvCxnSpPr>
        <p:spPr>
          <a:xfrm flipH="1" flipV="1">
            <a:off x="3173655" y="4356442"/>
            <a:ext cx="888406" cy="643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71911" y="5148529"/>
                <a:ext cx="5182637" cy="7909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/>
                  <a:t>Sigmoid : création d’un vecteur de  probabilités </a:t>
                </a:r>
              </a:p>
              <a:p>
                <a:pPr algn="ctr"/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i="1" smtClean="0">
                        <a:latin typeface="Cambria Math"/>
                        <a:ea typeface="Cambria Math"/>
                      </a:rPr>
                      <m:t>𝜎</m:t>
                    </m:r>
                    <m:d>
                      <m:dPr>
                        <m:ctrlPr>
                          <a:rPr lang="fr-FR" sz="1600" i="1" smtClean="0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fr-FR" sz="1600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charset="0"/>
                            <a:ea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1600" i="1">
                                <a:latin typeface="Cambria Math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fr-FR" sz="1600" i="1"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fr-FR" sz="16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/>
                                    <a:ea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/>
                                    <a:ea typeface="Cambria Math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fr-FR" sz="16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  <m: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FR" sz="1600" b="0" i="1" smtClean="0">
                                    <a:latin typeface="Cambria Math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/>
                                    <a:ea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charset="0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/>
                                        <a:ea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11" y="5148529"/>
                <a:ext cx="5182637" cy="790986"/>
              </a:xfrm>
              <a:prstGeom prst="rect">
                <a:avLst/>
              </a:prstGeom>
              <a:blipFill rotWithShape="1">
                <a:blip r:embed="rId5"/>
                <a:stretch>
                  <a:fillRect l="-588" t="-2326" b="-511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1" idx="1"/>
          </p:cNvCxnSpPr>
          <p:nvPr/>
        </p:nvCxnSpPr>
        <p:spPr>
          <a:xfrm flipH="1" flipV="1">
            <a:off x="3317671" y="5148530"/>
            <a:ext cx="554240" cy="3954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112" y="102393"/>
            <a:ext cx="6663807" cy="1047549"/>
          </a:xfrm>
        </p:spPr>
        <p:txBody>
          <a:bodyPr/>
          <a:lstStyle/>
          <a:p>
            <a:pPr eaLnBrk="1" hangingPunct="1"/>
            <a:r>
              <a:rPr lang="fr-FR" dirty="0"/>
              <a:t>LSTM fonctionnement (2)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54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2" descr="http://colah.github.io/posts/2015-08-Understanding-LSTMs/img/LSTM3-focus-f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136" y="971254"/>
            <a:ext cx="7328624" cy="226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99496" y="3583690"/>
                <a:ext cx="22081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sz="1800" dirty="0"/>
                  <a:t>: facteur d’oubli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496" y="3583690"/>
                <a:ext cx="220810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552" t="-8333" r="-1934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43112" y="3287195"/>
                <a:ext cx="2803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  <m:r>
                          <a:rPr lang="fr-FR" sz="18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fr-FR" sz="1800" dirty="0"/>
                  <a:t>: output précèdent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12" y="3287195"/>
                <a:ext cx="2803588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739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59136" y="3952010"/>
                <a:ext cx="20319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sz="1800" dirty="0"/>
                  <a:t> : input actuel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136" y="3952010"/>
                <a:ext cx="2031903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2102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3"/>
            <a:endCxn id="6" idx="1"/>
          </p:cNvCxnSpPr>
          <p:nvPr/>
        </p:nvCxnSpPr>
        <p:spPr>
          <a:xfrm>
            <a:off x="3846700" y="3471861"/>
            <a:ext cx="652796" cy="296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8" idx="3"/>
          </p:cNvCxnSpPr>
          <p:nvPr/>
        </p:nvCxnSpPr>
        <p:spPr>
          <a:xfrm flipV="1">
            <a:off x="3291039" y="3768356"/>
            <a:ext cx="1208457" cy="368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9016" y="5128045"/>
            <a:ext cx="879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Langage : Un nouveau sujet engendre l’oubli du genre du sujet précédent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5053" y="100693"/>
            <a:ext cx="6426842" cy="889843"/>
          </a:xfrm>
        </p:spPr>
        <p:txBody>
          <a:bodyPr/>
          <a:lstStyle/>
          <a:p>
            <a:pPr eaLnBrk="1" hangingPunct="1"/>
            <a:r>
              <a:rPr lang="fr-FR" dirty="0"/>
              <a:t>LSTM : fonctionnement (3)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55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2" descr="http://colah.github.io/posts/2015-08-Understanding-LSTMs/img/LSTM3-focus-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82" y="890980"/>
            <a:ext cx="6687206" cy="206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62755" y="3290699"/>
                <a:ext cx="16462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Intensité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755" y="3290699"/>
                <a:ext cx="164622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63" t="-8333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44578" y="4062874"/>
                <a:ext cx="3522567" cy="378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Variation d’ état proposé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18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18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578" y="4062874"/>
                <a:ext cx="3522567" cy="378052"/>
              </a:xfrm>
              <a:prstGeom prst="rect">
                <a:avLst/>
              </a:prstGeom>
              <a:blipFill rotWithShape="1">
                <a:blip r:embed="rId4"/>
                <a:stretch>
                  <a:fillRect l="-1384" t="-6452" r="-8997" b="-241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920244" y="5621977"/>
            <a:ext cx="5519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Langage : un nouveau mot fait son apparition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2629" y="4090123"/>
                <a:ext cx="12865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Input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29" y="4090123"/>
                <a:ext cx="1286506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791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9" idx="3"/>
            <a:endCxn id="6" idx="1"/>
          </p:cNvCxnSpPr>
          <p:nvPr/>
        </p:nvCxnSpPr>
        <p:spPr>
          <a:xfrm flipV="1">
            <a:off x="1679135" y="3475365"/>
            <a:ext cx="4083620" cy="7994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9" idx="3"/>
            <a:endCxn id="7" idx="1"/>
          </p:cNvCxnSpPr>
          <p:nvPr/>
        </p:nvCxnSpPr>
        <p:spPr>
          <a:xfrm flipV="1">
            <a:off x="1679135" y="4251900"/>
            <a:ext cx="3565443" cy="228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18108" y="3320101"/>
                <a:ext cx="29270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Output précédent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  <m:r>
                          <a:rPr lang="fr-FR" sz="18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08" y="3320101"/>
                <a:ext cx="2927020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875" t="-8333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12" idx="3"/>
            <a:endCxn id="6" idx="1"/>
          </p:cNvCxnSpPr>
          <p:nvPr/>
        </p:nvCxnSpPr>
        <p:spPr>
          <a:xfrm flipV="1">
            <a:off x="3145128" y="3475365"/>
            <a:ext cx="2617627" cy="294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" idx="3"/>
            <a:endCxn id="7" idx="1"/>
          </p:cNvCxnSpPr>
          <p:nvPr/>
        </p:nvCxnSpPr>
        <p:spPr>
          <a:xfrm>
            <a:off x="3145128" y="3504767"/>
            <a:ext cx="2099450" cy="7471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7688" y="4785300"/>
            <a:ext cx="7019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Langage : prise en compte de la nouvelle information pour</a:t>
            </a:r>
          </a:p>
          <a:p>
            <a:r>
              <a:rPr lang="fr-FR" sz="1800" dirty="0"/>
              <a:t>                  générer une proposition de changement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00666" y="2700313"/>
                <a:ext cx="53495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800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fr-FR" sz="1800" i="1" smtClean="0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/>
                            <a:ea typeface="Cambria Math"/>
                          </a:rPr>
                          <m:t>−∞,∞</m:t>
                        </m:r>
                      </m:e>
                    </m:d>
                  </m:oMath>
                </a14:m>
                <a:r>
                  <a:rPr lang="fr-FR" sz="1800" dirty="0"/>
                  <a:t> : Permet de retirer de la puissance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666" y="2700313"/>
                <a:ext cx="534954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342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6" idx="0"/>
          </p:cNvCxnSpPr>
          <p:nvPr/>
        </p:nvCxnSpPr>
        <p:spPr>
          <a:xfrm flipH="1" flipV="1">
            <a:off x="4754612" y="2340273"/>
            <a:ext cx="1520825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https://cdn-images-1.medium.com/max/800/1*a0LOUiBzyKB6J-wSFwwQ1Q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944" y="678672"/>
            <a:ext cx="1580208" cy="158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846743" y="41051"/>
            <a:ext cx="5794455" cy="1430542"/>
          </a:xfrm>
        </p:spPr>
        <p:txBody>
          <a:bodyPr/>
          <a:lstStyle/>
          <a:p>
            <a:pPr eaLnBrk="1" hangingPunct="1"/>
            <a:r>
              <a:rPr lang="fr-FR" dirty="0"/>
              <a:t>LSTM Fonctionnement (4)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56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2" descr="http://colah.github.io/posts/2015-08-Understanding-LSTMs/img/LSTM3-focus-C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430" y="1427192"/>
            <a:ext cx="5919441" cy="182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364718" y="3179266"/>
            <a:ext cx="1883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Facteur d’oubli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1198" y="3088971"/>
            <a:ext cx="2524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Nouvel état proposé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584" y="3861905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Intensité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150478" y="2503045"/>
            <a:ext cx="353712" cy="6762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8" idx="0"/>
          </p:cNvCxnSpPr>
          <p:nvPr/>
        </p:nvCxnSpPr>
        <p:spPr>
          <a:xfrm flipV="1">
            <a:off x="6415084" y="2503045"/>
            <a:ext cx="97218" cy="13588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0"/>
          </p:cNvCxnSpPr>
          <p:nvPr/>
        </p:nvCxnSpPr>
        <p:spPr>
          <a:xfrm flipH="1" flipV="1">
            <a:off x="6857222" y="2503045"/>
            <a:ext cx="1046277" cy="5859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79854" y="4580050"/>
            <a:ext cx="547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On fabrique le nouvel état a partir de l’ancien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088" y="5239349"/>
            <a:ext cx="7743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Langage : on update le genre attendu sujet ou le mode du verbe</a:t>
            </a:r>
          </a:p>
        </p:txBody>
      </p:sp>
      <p:pic>
        <p:nvPicPr>
          <p:cNvPr id="14" name="Picture 2" descr="https://cdn-images-1.medium.com/max/800/1*oS5taVAKcIII1qNduYnLJA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06" y="2839270"/>
            <a:ext cx="1515567" cy="1533088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cxnSp>
        <p:nvCxnSpPr>
          <p:cNvPr id="16" name="Straight Arrow Connector 15"/>
          <p:cNvCxnSpPr/>
          <p:nvPr/>
        </p:nvCxnSpPr>
        <p:spPr>
          <a:xfrm flipH="1">
            <a:off x="3197584" y="1337060"/>
            <a:ext cx="3913461" cy="5996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4" idx="3"/>
          </p:cNvCxnSpPr>
          <p:nvPr/>
        </p:nvCxnSpPr>
        <p:spPr>
          <a:xfrm flipV="1">
            <a:off x="1763173" y="1998990"/>
            <a:ext cx="716681" cy="16068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3"/>
          </p:cNvCxnSpPr>
          <p:nvPr/>
        </p:nvCxnSpPr>
        <p:spPr>
          <a:xfrm flipV="1">
            <a:off x="1763173" y="2359029"/>
            <a:ext cx="1364753" cy="12467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colah.github.io/posts/2015-08-Understanding-LSTMs/img/LSTM3-focus-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639" y="1074273"/>
            <a:ext cx="6608163" cy="204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763430" y="298762"/>
            <a:ext cx="6765780" cy="844888"/>
          </a:xfrm>
        </p:spPr>
        <p:txBody>
          <a:bodyPr/>
          <a:lstStyle/>
          <a:p>
            <a:pPr eaLnBrk="1" hangingPunct="1"/>
            <a:r>
              <a:rPr lang="fr-FR" dirty="0"/>
              <a:t>LSTM fonctionnement (5)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57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71722" y="3701621"/>
                <a:ext cx="34350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𝑜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sz="1800" dirty="0"/>
                  <a:t> extrait brut pout l’ output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722" y="3701621"/>
                <a:ext cx="3435043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888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86403" y="3441245"/>
                <a:ext cx="18161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sz="1800" dirty="0"/>
                  <a:t> output final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03" y="3441245"/>
                <a:ext cx="1816138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2013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3"/>
            <a:endCxn id="7" idx="1"/>
          </p:cNvCxnSpPr>
          <p:nvPr/>
        </p:nvCxnSpPr>
        <p:spPr>
          <a:xfrm flipV="1">
            <a:off x="6906765" y="3625911"/>
            <a:ext cx="79638" cy="260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2172" y="4362688"/>
                <a:ext cx="12865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Input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72" y="4362688"/>
                <a:ext cx="1286506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791" t="-8333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7651" y="3592666"/>
                <a:ext cx="29270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Output précédent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  <m:r>
                          <a:rPr lang="fr-FR" sz="18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51" y="3592666"/>
                <a:ext cx="2927020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875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10" idx="3"/>
            <a:endCxn id="6" idx="1"/>
          </p:cNvCxnSpPr>
          <p:nvPr/>
        </p:nvCxnSpPr>
        <p:spPr>
          <a:xfrm>
            <a:off x="3144671" y="3777332"/>
            <a:ext cx="327051" cy="1089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9" idx="3"/>
            <a:endCxn id="6" idx="1"/>
          </p:cNvCxnSpPr>
          <p:nvPr/>
        </p:nvCxnSpPr>
        <p:spPr>
          <a:xfrm flipV="1">
            <a:off x="1678678" y="3886287"/>
            <a:ext cx="1793044" cy="6610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46043" y="4201168"/>
                <a:ext cx="2594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Etat de la cellule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043" y="4201168"/>
                <a:ext cx="2594493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2118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3" idx="3"/>
            <a:endCxn id="7" idx="1"/>
          </p:cNvCxnSpPr>
          <p:nvPr/>
        </p:nvCxnSpPr>
        <p:spPr>
          <a:xfrm flipV="1">
            <a:off x="6340536" y="3625911"/>
            <a:ext cx="645867" cy="7599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93915" y="5213857"/>
            <a:ext cx="4465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Langage : Le mot suivant est généré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868" y="309714"/>
            <a:ext cx="4893487" cy="4953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Réseaux convolutionnels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58</a:t>
            </a:fld>
            <a:endParaRPr lang="fr-FR" altLang="fr-FR"/>
          </a:p>
        </p:txBody>
      </p:sp>
      <p:pic>
        <p:nvPicPr>
          <p:cNvPr id="1026" name="Picture 2" descr="Résultat de recherche d'images pour &quot;convolutional neural network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78" y="1379981"/>
            <a:ext cx="6800850" cy="245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29412" y="4159116"/>
            <a:ext cx="2157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Convolution: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510229" y="3966147"/>
                <a:ext cx="4896699" cy="8476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571E74"/>
                          </a:solidFill>
                          <a:latin typeface="Cambria Math"/>
                        </a:rPr>
                        <m:t>𝑓</m:t>
                      </m:r>
                      <m:r>
                        <a:rPr lang="fr-FR" b="0" i="1" smtClean="0">
                          <a:solidFill>
                            <a:srgbClr val="571E74"/>
                          </a:solidFill>
                          <a:latin typeface="Cambria Math"/>
                          <a:ea typeface="Cambria Math"/>
                        </a:rPr>
                        <m:t>∗</m:t>
                      </m:r>
                      <m:r>
                        <a:rPr lang="fr-FR" b="0" i="1" smtClean="0">
                          <a:solidFill>
                            <a:srgbClr val="571E74"/>
                          </a:solidFill>
                          <a:latin typeface="Cambria Math"/>
                          <a:ea typeface="Cambria Math"/>
                        </a:rPr>
                        <m:t>𝑔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571E74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</m:sub>
                        <m:sup>
                          <m: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</m:sup>
                        <m:e>
                          <m: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/>
                              <a:ea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fr-FR" b="0" i="1" smtClean="0">
                                  <a:solidFill>
                                    <a:srgbClr val="571E74"/>
                                  </a:solidFill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solidFill>
                                    <a:srgbClr val="571E74"/>
                                  </a:solidFill>
                                  <a:latin typeface="Cambria Math"/>
                                  <a:ea typeface="Cambria Math"/>
                                </a:rPr>
                                <m:t>𝑧</m:t>
                              </m:r>
                              <m:r>
                                <a:rPr lang="fr-FR" b="0" i="1" smtClean="0">
                                  <a:solidFill>
                                    <a:srgbClr val="571E74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solidFill>
                                    <a:srgbClr val="571E74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/>
                              <a:ea typeface="Cambria Math"/>
                            </a:rPr>
                            <m:t>𝑔</m:t>
                          </m:r>
                          <m: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/>
                              <a:ea typeface="Cambria Math"/>
                            </a:rPr>
                            <m:t>𝑧</m:t>
                          </m:r>
                          <m: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  <m:r>
                            <a:rPr lang="fr-FR" b="0" i="1" smtClean="0">
                              <a:solidFill>
                                <a:srgbClr val="571E74"/>
                              </a:solidFill>
                              <a:latin typeface="Cambria Math"/>
                              <a:ea typeface="Cambria Math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229" y="3966147"/>
                <a:ext cx="4896699" cy="84760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627765" y="5455448"/>
            <a:ext cx="2661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Noyau de la convolution</a:t>
            </a:r>
            <a:endParaRPr lang="fr-FR" sz="1600" dirty="0"/>
          </a:p>
        </p:txBody>
      </p:sp>
      <p:cxnSp>
        <p:nvCxnSpPr>
          <p:cNvPr id="11" name="Straight Arrow Connector 10"/>
          <p:cNvCxnSpPr>
            <a:stCxn id="9" idx="0"/>
          </p:cNvCxnSpPr>
          <p:nvPr/>
        </p:nvCxnSpPr>
        <p:spPr bwMode="auto">
          <a:xfrm flipH="1" flipV="1">
            <a:off x="4728065" y="4620781"/>
            <a:ext cx="1230513" cy="834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>
            <a:stCxn id="9" idx="0"/>
          </p:cNvCxnSpPr>
          <p:nvPr/>
        </p:nvCxnSpPr>
        <p:spPr bwMode="auto">
          <a:xfrm flipV="1">
            <a:off x="5958578" y="4614614"/>
            <a:ext cx="1330813" cy="8408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944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Classification par convolutions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59</a:t>
            </a:fld>
            <a:endParaRPr lang="fr-FR" altLang="fr-FR"/>
          </a:p>
        </p:txBody>
      </p:sp>
      <p:pic>
        <p:nvPicPr>
          <p:cNvPr id="2050" name="Picture 2" descr="http://cs231n.github.io/assets/cnn/convnet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319" y="1951041"/>
            <a:ext cx="7519482" cy="360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851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0726" y="412811"/>
            <a:ext cx="6613451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 smtClean="0"/>
              <a:t>Comparaison CNN  </a:t>
            </a:r>
            <a:r>
              <a:rPr lang="fr-FR" dirty="0"/>
              <a:t>et RNN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60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877634"/>
              </p:ext>
            </p:extLst>
          </p:nvPr>
        </p:nvGraphicFramePr>
        <p:xfrm>
          <a:off x="684213" y="1101993"/>
          <a:ext cx="7788577" cy="475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92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204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3882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2543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Réseaux convolutionnels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Réseaux récurrents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2722">
                <a:tc>
                  <a:txBody>
                    <a:bodyPr/>
                    <a:lstStyle/>
                    <a:p>
                      <a:r>
                        <a:rPr lang="fr-FR" dirty="0" smtClean="0"/>
                        <a:t>Profondeur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Finie et limitée (quelques dizaines)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Théoriquement infinie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90942">
                <a:tc>
                  <a:txBody>
                    <a:bodyPr/>
                    <a:lstStyle/>
                    <a:p>
                      <a:r>
                        <a:rPr lang="fr-FR" dirty="0" smtClean="0"/>
                        <a:t>Problèmes types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Reconnaissance d’ images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Traduction entre langues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2618">
                <a:tc>
                  <a:txBody>
                    <a:bodyPr/>
                    <a:lstStyle/>
                    <a:p>
                      <a:r>
                        <a:rPr lang="fr-FR" dirty="0" smtClean="0"/>
                        <a:t>Adapté</a:t>
                      </a:r>
                      <a:r>
                        <a:rPr lang="fr-FR" baseline="0" dirty="0" smtClean="0"/>
                        <a:t> a la </a:t>
                      </a:r>
                      <a:r>
                        <a:rPr lang="fr-FR" baseline="0" dirty="0" err="1" smtClean="0"/>
                        <a:t>parallélisations</a:t>
                      </a:r>
                      <a:r>
                        <a:rPr lang="fr-FR" baseline="0" dirty="0" smtClean="0"/>
                        <a:t> des calculs (</a:t>
                      </a:r>
                      <a:r>
                        <a:rPr lang="fr-FR" baseline="0" dirty="0" err="1" smtClean="0"/>
                        <a:t>GPUs</a:t>
                      </a:r>
                      <a:r>
                        <a:rPr lang="fr-FR" baseline="0" dirty="0" smtClean="0"/>
                        <a:t>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Oui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42618">
                <a:tc>
                  <a:txBody>
                    <a:bodyPr/>
                    <a:lstStyle/>
                    <a:p>
                      <a:r>
                        <a:rPr lang="fr-FR" dirty="0" smtClean="0"/>
                        <a:t>Mécanisme d’attention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Naturel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Dédié</a:t>
                      </a:r>
                      <a:r>
                        <a:rPr lang="fr-FR" baseline="0" dirty="0" smtClean="0"/>
                        <a:t> à des taches spécifiques (contrôleur)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181" y="173168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5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486" y="54135"/>
            <a:ext cx="7183696" cy="109212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Comment lire l’</a:t>
            </a:r>
            <a:r>
              <a:rPr lang="fr-FR" dirty="0"/>
              <a:t>é</a:t>
            </a:r>
            <a:r>
              <a:rPr lang="fr-FR" dirty="0" smtClean="0"/>
              <a:t>criture extraterrestre ?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61</a:t>
            </a:fld>
            <a:endParaRPr lang="fr-FR" alt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056" y="2190750"/>
            <a:ext cx="25812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098630"/>
            <a:ext cx="31337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331" y="3505200"/>
            <a:ext cx="222885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0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040" y="67326"/>
            <a:ext cx="7033458" cy="904671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L’écriture extraterrestre : analyse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62</a:t>
            </a:fld>
            <a:endParaRPr lang="fr-FR" altLang="fr-F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99" y="1189235"/>
            <a:ext cx="5739898" cy="34825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82089" y="4925085"/>
            <a:ext cx="4161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dirty="0" smtClean="0"/>
              <a:t>Pas d’alphabet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dirty="0" smtClean="0"/>
              <a:t>Ensemble de connotations explicite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dirty="0" smtClean="0"/>
              <a:t>Symétrie passé-futur</a:t>
            </a:r>
            <a:endParaRPr lang="fr-FR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198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588" y="145147"/>
            <a:ext cx="7130735" cy="74902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Avec un LSTM bidirectionnel bien sur !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63</a:t>
            </a:fld>
            <a:endParaRPr lang="fr-FR" alt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530" y="1086840"/>
            <a:ext cx="396240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68" y="1086840"/>
            <a:ext cx="3208059" cy="4314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177922" y="4833496"/>
            <a:ext cx="4572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000" dirty="0"/>
              <a:t>M. </a:t>
            </a:r>
            <a:r>
              <a:rPr lang="fr-FR" sz="1000" dirty="0" err="1"/>
              <a:t>Woellmer</a:t>
            </a:r>
            <a:r>
              <a:rPr lang="fr-FR" sz="1000" dirty="0"/>
              <a:t>, F. </a:t>
            </a:r>
            <a:r>
              <a:rPr lang="fr-FR" sz="1000" dirty="0" err="1"/>
              <a:t>Eyben</a:t>
            </a:r>
            <a:r>
              <a:rPr lang="fr-FR" sz="1000" dirty="0"/>
              <a:t>, A. Graves, B. Schuller, and G. </a:t>
            </a:r>
            <a:r>
              <a:rPr lang="fr-FR" sz="1000" dirty="0" err="1"/>
              <a:t>Rigoll</a:t>
            </a:r>
            <a:r>
              <a:rPr lang="fr-FR" sz="1000" dirty="0"/>
              <a:t>. </a:t>
            </a:r>
            <a:r>
              <a:rPr lang="fr-FR" sz="1000" dirty="0" err="1"/>
              <a:t>Bidirectional</a:t>
            </a:r>
            <a:r>
              <a:rPr lang="fr-FR" sz="1000" dirty="0"/>
              <a:t> LSTM networks for </a:t>
            </a:r>
            <a:r>
              <a:rPr lang="fr-FR" sz="1000" dirty="0" err="1"/>
              <a:t>context</a:t>
            </a:r>
            <a:r>
              <a:rPr lang="fr-FR" sz="1000" dirty="0"/>
              <a:t>-sensitive keyword </a:t>
            </a:r>
            <a:r>
              <a:rPr lang="fr-FR" sz="1000" dirty="0" err="1"/>
              <a:t>detection</a:t>
            </a:r>
            <a:r>
              <a:rPr lang="fr-FR" sz="1000" dirty="0"/>
              <a:t> in a cognitive </a:t>
            </a:r>
            <a:r>
              <a:rPr lang="fr-FR" sz="1000" dirty="0" err="1"/>
              <a:t>virtual</a:t>
            </a:r>
            <a:r>
              <a:rPr lang="fr-FR" sz="1000" dirty="0"/>
              <a:t> agent </a:t>
            </a:r>
            <a:r>
              <a:rPr lang="fr-FR" sz="1000" dirty="0" err="1"/>
              <a:t>framework</a:t>
            </a:r>
            <a:r>
              <a:rPr lang="fr-FR" sz="1000" dirty="0"/>
              <a:t>. </a:t>
            </a:r>
            <a:r>
              <a:rPr lang="fr-FR" sz="1000" i="1" dirty="0"/>
              <a:t>Cognitive Computation, </a:t>
            </a:r>
            <a:r>
              <a:rPr lang="fr-FR" sz="1000" i="1" dirty="0" err="1"/>
              <a:t>Special</a:t>
            </a:r>
            <a:r>
              <a:rPr lang="fr-FR" sz="1000" i="1" dirty="0"/>
              <a:t> Issue on Non-</a:t>
            </a:r>
            <a:r>
              <a:rPr lang="fr-FR" sz="1000" i="1" dirty="0" err="1"/>
              <a:t>Linear</a:t>
            </a:r>
            <a:r>
              <a:rPr lang="fr-FR" sz="1000" i="1" dirty="0"/>
              <a:t> and Non-</a:t>
            </a:r>
            <a:r>
              <a:rPr lang="fr-FR" sz="1000" i="1" dirty="0" err="1"/>
              <a:t>Conventional</a:t>
            </a:r>
            <a:r>
              <a:rPr lang="fr-FR" sz="1000" i="1" dirty="0"/>
              <a:t> Speech Processing</a:t>
            </a:r>
            <a:r>
              <a:rPr lang="fr-FR" sz="1000" dirty="0"/>
              <a:t>, 2010. [ </a:t>
            </a:r>
            <a:r>
              <a:rPr lang="fr-FR" sz="1000" dirty="0">
                <a:hlinkClick r:id="rId4"/>
              </a:rPr>
              <a:t>DOI</a:t>
            </a:r>
            <a:r>
              <a:rPr lang="fr-FR" sz="1000" dirty="0"/>
              <a:t> | </a:t>
            </a:r>
            <a:r>
              <a:rPr lang="fr-FR" sz="1000" dirty="0">
                <a:hlinkClick r:id="rId5"/>
              </a:rPr>
              <a:t>.bib</a:t>
            </a:r>
            <a:r>
              <a:rPr lang="fr-FR" sz="1000" dirty="0"/>
              <a:t> | </a:t>
            </a:r>
            <a:r>
              <a:rPr lang="fr-FR" sz="1000" dirty="0">
                <a:hlinkClick r:id="rId6"/>
              </a:rPr>
              <a:t>.</a:t>
            </a:r>
            <a:r>
              <a:rPr lang="fr-FR" sz="1000" dirty="0" err="1">
                <a:hlinkClick r:id="rId6"/>
              </a:rPr>
              <a:t>pdf</a:t>
            </a:r>
            <a:r>
              <a:rPr lang="fr-FR" sz="1000" dirty="0"/>
              <a:t> ]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4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3565" y="272012"/>
            <a:ext cx="8064500" cy="4953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La neuvième porte : la lecture des oracles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64</a:t>
            </a:fld>
            <a:endParaRPr lang="fr-FR" altLang="fr-FR"/>
          </a:p>
        </p:txBody>
      </p:sp>
      <p:pic>
        <p:nvPicPr>
          <p:cNvPr id="1026" name="Picture 2" descr="Résultat de recherche d'images pour &quot;neuvieme porte film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77925"/>
            <a:ext cx="2912434" cy="421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ésultat de recherche d'images pour &quot;neuvieme porte film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647" y="1477925"/>
            <a:ext cx="5216910" cy="293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pic>
        <p:nvPicPr>
          <p:cNvPr id="1030" name="Picture 6" descr="Résultat de recherche d'images pour &quot;bidirectional lstm&quot;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4464636"/>
            <a:ext cx="3874164" cy="136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0791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14" descr="Résultat de recherche d'images pour &quot;bidirectional lstm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82" y="1860941"/>
            <a:ext cx="7987561" cy="366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82" y="92385"/>
            <a:ext cx="7704667" cy="5927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Le destin même écrit , s’accomplit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65</a:t>
            </a:fld>
            <a:endParaRPr lang="fr-FR" altLang="fr-FR"/>
          </a:p>
        </p:txBody>
      </p:sp>
      <p:pic>
        <p:nvPicPr>
          <p:cNvPr id="2052" name="Picture 4" descr="Résultat de recherche d'images pour &quot;neuvieme porte film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74" y="4078843"/>
            <a:ext cx="2983614" cy="186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1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417" y="1254785"/>
            <a:ext cx="3049790" cy="164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ésultat de recherche d'images pour &quot;neuvieme porte film&quot;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353" y="1291320"/>
            <a:ext cx="1843729" cy="240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pic>
        <p:nvPicPr>
          <p:cNvPr id="2060" name="Picture 12" descr="Roman Polanski-Emma­nuelle Seigner: un couple face au scan­dal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377" y="5132764"/>
            <a:ext cx="3124385" cy="136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2906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113" y="84676"/>
            <a:ext cx="7648684" cy="1415903"/>
          </a:xfrm>
        </p:spPr>
        <p:txBody>
          <a:bodyPr/>
          <a:lstStyle/>
          <a:p>
            <a:r>
              <a:rPr lang="fr-FR" dirty="0" smtClean="0"/>
              <a:t>Le LSTM Bidirectionnel 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66</a:t>
            </a:fld>
            <a:endParaRPr lang="fr-FR" altLang="fr-FR"/>
          </a:p>
        </p:txBody>
      </p:sp>
      <p:pic>
        <p:nvPicPr>
          <p:cNvPr id="3074" name="Picture 2" descr="Résultat de recherche d'images pour &quot;bidirectional lstm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49" y="1616148"/>
            <a:ext cx="3236265" cy="397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063779" y="4270159"/>
            <a:ext cx="464679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400" b="1" dirty="0" err="1">
                <a:solidFill>
                  <a:srgbClr val="571E74"/>
                </a:solidFill>
              </a:rPr>
              <a:t>Hybrid</a:t>
            </a:r>
            <a:r>
              <a:rPr lang="fr-FR" sz="1400" b="1" dirty="0">
                <a:solidFill>
                  <a:srgbClr val="571E74"/>
                </a:solidFill>
              </a:rPr>
              <a:t> speech recognition </a:t>
            </a:r>
            <a:r>
              <a:rPr lang="fr-FR" sz="1400" b="1" dirty="0" err="1">
                <a:solidFill>
                  <a:srgbClr val="571E74"/>
                </a:solidFill>
              </a:rPr>
              <a:t>with</a:t>
            </a:r>
            <a:r>
              <a:rPr lang="fr-FR" sz="1400" b="1" dirty="0">
                <a:solidFill>
                  <a:srgbClr val="571E74"/>
                </a:solidFill>
              </a:rPr>
              <a:t> </a:t>
            </a:r>
            <a:r>
              <a:rPr lang="fr-FR" sz="1400" b="1" dirty="0" err="1">
                <a:solidFill>
                  <a:srgbClr val="571E74"/>
                </a:solidFill>
              </a:rPr>
              <a:t>Deep</a:t>
            </a:r>
            <a:r>
              <a:rPr lang="fr-FR" sz="1400" b="1" dirty="0">
                <a:solidFill>
                  <a:srgbClr val="571E74"/>
                </a:solidFill>
              </a:rPr>
              <a:t> </a:t>
            </a:r>
            <a:r>
              <a:rPr lang="fr-FR" sz="1400" b="1" dirty="0" err="1">
                <a:solidFill>
                  <a:srgbClr val="571E74"/>
                </a:solidFill>
              </a:rPr>
              <a:t>Bidirectional</a:t>
            </a:r>
            <a:r>
              <a:rPr lang="fr-FR" sz="1400" b="1" dirty="0">
                <a:solidFill>
                  <a:srgbClr val="571E74"/>
                </a:solidFill>
              </a:rPr>
              <a:t> LSTM</a:t>
            </a:r>
          </a:p>
          <a:p>
            <a:pPr lvl="0"/>
            <a:r>
              <a:rPr lang="fr-FR" sz="1400" dirty="0">
                <a:solidFill>
                  <a:srgbClr val="571E74"/>
                </a:solidFill>
                <a:hlinkClick r:id="rId3"/>
              </a:rPr>
              <a:t>Alex Graves</a:t>
            </a:r>
            <a:r>
              <a:rPr lang="fr-FR" sz="1400" dirty="0">
                <a:solidFill>
                  <a:srgbClr val="571E74"/>
                </a:solidFill>
              </a:rPr>
              <a:t>, </a:t>
            </a:r>
            <a:r>
              <a:rPr lang="fr-FR" sz="1400" dirty="0" err="1">
                <a:solidFill>
                  <a:srgbClr val="571E74"/>
                </a:solidFill>
                <a:hlinkClick r:id="rId4"/>
              </a:rPr>
              <a:t>Navdeep</a:t>
            </a:r>
            <a:r>
              <a:rPr lang="fr-FR" sz="1400" dirty="0">
                <a:solidFill>
                  <a:srgbClr val="571E74"/>
                </a:solidFill>
                <a:hlinkClick r:id="rId4"/>
              </a:rPr>
              <a:t> </a:t>
            </a:r>
            <a:r>
              <a:rPr lang="fr-FR" sz="1400" dirty="0" err="1">
                <a:solidFill>
                  <a:srgbClr val="571E74"/>
                </a:solidFill>
                <a:hlinkClick r:id="rId4"/>
              </a:rPr>
              <a:t>Jaitly</a:t>
            </a:r>
            <a:r>
              <a:rPr lang="fr-FR" sz="1400" dirty="0">
                <a:solidFill>
                  <a:srgbClr val="571E74"/>
                </a:solidFill>
              </a:rPr>
              <a:t>, </a:t>
            </a:r>
            <a:r>
              <a:rPr lang="fr-FR" sz="1400" dirty="0">
                <a:solidFill>
                  <a:srgbClr val="571E74"/>
                </a:solidFill>
                <a:hlinkClick r:id="rId5"/>
              </a:rPr>
              <a:t>Abdel-</a:t>
            </a:r>
            <a:r>
              <a:rPr lang="fr-FR" sz="1400" dirty="0" err="1">
                <a:solidFill>
                  <a:srgbClr val="571E74"/>
                </a:solidFill>
                <a:hlinkClick r:id="rId5"/>
              </a:rPr>
              <a:t>rahman</a:t>
            </a:r>
            <a:r>
              <a:rPr lang="fr-FR" sz="1400" dirty="0">
                <a:solidFill>
                  <a:srgbClr val="571E74"/>
                </a:solidFill>
                <a:hlinkClick r:id="rId5"/>
              </a:rPr>
              <a:t> Mohamed</a:t>
            </a:r>
            <a:endParaRPr lang="fr-FR" sz="1400" dirty="0">
              <a:solidFill>
                <a:srgbClr val="571E74"/>
              </a:solidFill>
            </a:endParaRPr>
          </a:p>
          <a:p>
            <a:pPr lvl="0"/>
            <a:r>
              <a:rPr lang="fr-FR" sz="1400" dirty="0" smtClean="0">
                <a:solidFill>
                  <a:srgbClr val="571E74"/>
                </a:solidFill>
              </a:rPr>
              <a:t>ASRU 2013</a:t>
            </a:r>
            <a:endParaRPr lang="fr-FR" sz="1400" dirty="0">
              <a:solidFill>
                <a:srgbClr val="571E74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553910"/>
              </p:ext>
            </p:extLst>
          </p:nvPr>
        </p:nvGraphicFramePr>
        <p:xfrm>
          <a:off x="4416609" y="2169042"/>
          <a:ext cx="3941135" cy="177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9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97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985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554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89915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System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WER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FER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CE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DBLSTM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11,7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30,0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1,15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DBLSTM(noise)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12,0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28,2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1,12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DNN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12,3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44,6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1,68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 err="1" smtClean="0"/>
                        <a:t>sGMM+HMM</a:t>
                      </a:r>
                      <a:r>
                        <a:rPr lang="fr-FR" sz="1200" dirty="0" smtClean="0"/>
                        <a:t>(</a:t>
                      </a:r>
                      <a:r>
                        <a:rPr lang="fr-FR" sz="1200" dirty="0" err="1" smtClean="0"/>
                        <a:t>basline</a:t>
                      </a:r>
                      <a:r>
                        <a:rPr lang="fr-FR" sz="1200" dirty="0" smtClean="0"/>
                        <a:t>)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13,1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-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-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16609" y="1743739"/>
            <a:ext cx="3941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Wall Street </a:t>
            </a:r>
            <a:r>
              <a:rPr lang="en-US" sz="1400" dirty="0"/>
              <a:t>Journal (WSJ) speech corpus</a:t>
            </a:r>
          </a:p>
          <a:p>
            <a:endParaRPr lang="fr-FR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5680870"/>
            <a:ext cx="45159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smtClean="0"/>
              <a:t>Word </a:t>
            </a:r>
            <a:r>
              <a:rPr lang="fr-FR" sz="1000" dirty="0" err="1" smtClean="0"/>
              <a:t>Error</a:t>
            </a:r>
            <a:r>
              <a:rPr lang="fr-FR" sz="1000" dirty="0" smtClean="0"/>
              <a:t> Rate :WER , Frame </a:t>
            </a:r>
            <a:r>
              <a:rPr lang="fr-FR" sz="1000" dirty="0" err="1"/>
              <a:t>E</a:t>
            </a:r>
            <a:r>
              <a:rPr lang="fr-FR" sz="1000" dirty="0" err="1" smtClean="0"/>
              <a:t>rror</a:t>
            </a:r>
            <a:r>
              <a:rPr lang="fr-FR" sz="1000" dirty="0" smtClean="0"/>
              <a:t> Rate :FER , </a:t>
            </a:r>
            <a:r>
              <a:rPr lang="fr-FR" sz="1000" dirty="0" err="1" smtClean="0"/>
              <a:t>Entropy</a:t>
            </a:r>
            <a:r>
              <a:rPr lang="fr-FR" sz="1000" dirty="0" smtClean="0"/>
              <a:t> </a:t>
            </a:r>
            <a:r>
              <a:rPr lang="fr-FR" sz="1000" dirty="0" err="1"/>
              <a:t>E</a:t>
            </a:r>
            <a:r>
              <a:rPr lang="fr-FR" sz="1000" dirty="0" err="1" smtClean="0"/>
              <a:t>rror</a:t>
            </a:r>
            <a:r>
              <a:rPr lang="fr-FR" sz="1000" dirty="0" smtClean="0"/>
              <a:t> :CE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4158072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8593" y="168463"/>
            <a:ext cx="6858802" cy="70039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Graphes conceptuels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4865E-B9CA-4A3B-A83C-DA702D5C3417}" type="datetime4">
              <a:rPr lang="fr-FR" altLang="fr-FR" smtClean="0"/>
              <a:pPr>
                <a:defRPr/>
              </a:pPr>
              <a:t>28 septembre 2017</a:t>
            </a:fld>
            <a:endParaRPr lang="fr-FR" alt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87A55-3E48-4BFD-BEC3-9698C6810382}" type="slidenum">
              <a:rPr lang="fr-FR" altLang="fr-FR" smtClean="0"/>
              <a:pPr>
                <a:defRPr/>
              </a:pPr>
              <a:t>67</a:t>
            </a:fld>
            <a:endParaRPr lang="fr-FR" altLang="fr-FR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275" y="1017071"/>
            <a:ext cx="2710749" cy="369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44" y="1807535"/>
            <a:ext cx="4106169" cy="325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293" y="3055088"/>
            <a:ext cx="2892056" cy="258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8708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867222" y="97879"/>
            <a:ext cx="7363838" cy="64674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RNN avec neurones cachés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68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8379" y="1951964"/>
            <a:ext cx="1813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Avantage: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2555" y="1944606"/>
            <a:ext cx="6484246" cy="584775"/>
          </a:xfrm>
          <a:prstGeom prst="rect">
            <a:avLst/>
          </a:prstGeom>
          <a:solidFill>
            <a:srgbClr val="00B050">
              <a:alpha val="15000"/>
            </a:srgbClr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/>
              <a:t>Génératifs</a:t>
            </a:r>
          </a:p>
          <a:p>
            <a:pPr marL="285750" indent="-285750">
              <a:buFontTx/>
              <a:buChar char="-"/>
            </a:pPr>
            <a:r>
              <a:rPr lang="fr-FR" sz="1600" dirty="0"/>
              <a:t>Modularité: peut être un des composant d’un système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7665" y="2824788"/>
            <a:ext cx="2110245" cy="34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Inconvénients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4008" y="2821603"/>
            <a:ext cx="3902289" cy="344925"/>
          </a:xfrm>
          <a:prstGeom prst="rect">
            <a:avLst/>
          </a:prstGeom>
          <a:solidFill>
            <a:srgbClr val="FF0000">
              <a:alpha val="14000"/>
            </a:srgbClr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Inférence variationnelle seulement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5099205" y="3389245"/>
                <a:ext cx="2865875" cy="477656"/>
              </a:xfrm>
              <a:prstGeom prst="roundRect">
                <a:avLst/>
              </a:prstGeom>
              <a:solidFill>
                <a:schemeClr val="tx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600" dirty="0"/>
                  <a:t>Decodeur 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/>
                          </a:rPr>
                          <m:t>𝑥</m:t>
                        </m:r>
                        <m:r>
                          <a:rPr lang="fr-FR" sz="1600" b="0" i="1" smtClean="0">
                            <a:latin typeface="Cambria Math"/>
                          </a:rPr>
                          <m:t>|</m:t>
                        </m:r>
                        <m:r>
                          <a:rPr lang="fr-FR" sz="1600" b="0" i="1" smtClean="0">
                            <a:latin typeface="Cambria Math"/>
                          </a:rPr>
                          <m:t>𝑧</m:t>
                        </m:r>
                        <m:r>
                          <a:rPr lang="fr-FR" sz="1600" b="0" i="1" smtClean="0">
                            <a:latin typeface="Cambria Math"/>
                          </a:rPr>
                          <m:t>,</m:t>
                        </m:r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</m:d>
                  </m:oMath>
                </a14:m>
                <a:r>
                  <a:rPr lang="fr-FR" sz="1600" dirty="0"/>
                  <a:t> </a:t>
                </a:r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205" y="3389245"/>
                <a:ext cx="2865875" cy="477656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096757" y="1259467"/>
            <a:ext cx="959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But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2554" y="1120968"/>
            <a:ext cx="6331921" cy="584775"/>
          </a:xfrm>
          <a:prstGeom prst="rect">
            <a:avLst/>
          </a:prstGeom>
          <a:solidFill>
            <a:srgbClr val="00B050">
              <a:alpha val="14000"/>
            </a:srgbClr>
          </a:solidFill>
          <a:ln w="412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Comprendre la séquence de données</a:t>
            </a:r>
          </a:p>
          <a:p>
            <a:r>
              <a:rPr lang="fr-FR" sz="1600" dirty="0"/>
              <a:t>Sans répondre a une question particulière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5122641" y="5049817"/>
                <a:ext cx="2832967" cy="343531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600" dirty="0"/>
                  <a:t>Encodeur 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/>
                          </a:rPr>
                          <m:t>𝑧</m:t>
                        </m:r>
                        <m:r>
                          <a:rPr lang="fr-FR" sz="1600" b="0" i="1" smtClean="0">
                            <a:latin typeface="Cambria Math"/>
                          </a:rPr>
                          <m:t>|</m:t>
                        </m:r>
                        <m:r>
                          <a:rPr lang="fr-FR" sz="1600" b="0" i="1" smtClean="0">
                            <a:latin typeface="Cambria Math"/>
                          </a:rPr>
                          <m:t>𝑥</m:t>
                        </m:r>
                        <m:r>
                          <a:rPr lang="fr-FR" sz="1600" b="0" i="1" smtClean="0">
                            <a:latin typeface="Cambria Math"/>
                          </a:rPr>
                          <m:t>,</m:t>
                        </m:r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𝜑</m:t>
                        </m:r>
                      </m:e>
                    </m:d>
                  </m:oMath>
                </a14:m>
                <a:r>
                  <a:rPr lang="fr-FR" sz="1600" dirty="0"/>
                  <a:t> </a:t>
                </a: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641" y="5049817"/>
                <a:ext cx="2832967" cy="343531"/>
              </a:xfrm>
              <a:prstGeom prst="roundRect">
                <a:avLst/>
              </a:prstGeom>
              <a:blipFill rotWithShape="1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5099205" y="4229017"/>
                <a:ext cx="1739384" cy="398289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600" dirty="0"/>
                  <a:t>Prior 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205" y="4229017"/>
                <a:ext cx="1739384" cy="398289"/>
              </a:xfrm>
              <a:prstGeom prst="ellipse">
                <a:avLst/>
              </a:prstGeom>
              <a:blipFill rotWithShape="1">
                <a:blip r:embed="rId4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 flipV="1">
            <a:off x="5968501" y="4627306"/>
            <a:ext cx="1" cy="42251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794116" y="4281116"/>
            <a:ext cx="1" cy="11534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/>
              <p:cNvSpPr/>
              <p:nvPr/>
            </p:nvSpPr>
            <p:spPr>
              <a:xfrm>
                <a:off x="1585867" y="3389244"/>
                <a:ext cx="3078251" cy="488934"/>
              </a:xfrm>
              <a:prstGeom prst="roundRect">
                <a:avLst/>
              </a:prstGeom>
              <a:solidFill>
                <a:schemeClr val="tx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600" dirty="0"/>
                  <a:t>Decodeur: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</a:rPr>
                          <m:t>𝑛</m:t>
                        </m:r>
                        <m:r>
                          <a:rPr lang="fr-FR" sz="16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/>
                          </a:rPr>
                          <m:t>𝑥</m:t>
                        </m:r>
                        <m:r>
                          <a:rPr lang="fr-FR" sz="1600" b="0" i="1" smtClean="0">
                            <a:latin typeface="Cambria Math"/>
                          </a:rPr>
                          <m:t>|</m:t>
                        </m:r>
                        <m:r>
                          <a:rPr lang="fr-FR" sz="1600" b="0" i="1" smtClean="0">
                            <a:latin typeface="Cambria Math"/>
                          </a:rPr>
                          <m:t>𝑧</m:t>
                        </m:r>
                        <m:r>
                          <a:rPr lang="fr-FR" sz="1600" b="0" i="1" smtClean="0">
                            <a:latin typeface="Cambria Math"/>
                          </a:rPr>
                          <m:t>,</m:t>
                        </m:r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</m:d>
                  </m:oMath>
                </a14:m>
                <a:r>
                  <a:rPr lang="fr-FR" sz="1600" dirty="0"/>
                  <a:t> </a:t>
                </a:r>
              </a:p>
            </p:txBody>
          </p:sp>
        </mc:Choice>
        <mc:Fallback xmlns=""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7" y="3389244"/>
                <a:ext cx="3078251" cy="488934"/>
              </a:xfrm>
              <a:prstGeom prst="round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1525054" y="5050555"/>
                <a:ext cx="3061797" cy="343531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600" dirty="0"/>
                  <a:t>Encodeur: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</a:rPr>
                          <m:t>𝑛</m:t>
                        </m:r>
                        <m:r>
                          <a:rPr lang="fr-FR" sz="16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/>
                          </a:rPr>
                          <m:t>𝑧</m:t>
                        </m:r>
                        <m:r>
                          <a:rPr lang="fr-FR" sz="1600" b="0" i="1" smtClean="0">
                            <a:latin typeface="Cambria Math"/>
                          </a:rPr>
                          <m:t>|</m:t>
                        </m:r>
                        <m:r>
                          <a:rPr lang="fr-FR" sz="1600" b="0" i="1" smtClean="0">
                            <a:latin typeface="Cambria Math"/>
                          </a:rPr>
                          <m:t>𝑥</m:t>
                        </m:r>
                        <m:r>
                          <a:rPr lang="fr-FR" sz="1600" b="0" i="1" smtClean="0">
                            <a:latin typeface="Cambria Math"/>
                          </a:rPr>
                          <m:t>,</m:t>
                        </m:r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𝜑</m:t>
                        </m:r>
                      </m:e>
                    </m:d>
                  </m:oMath>
                </a14:m>
                <a:r>
                  <a:rPr lang="fr-FR" sz="1600" dirty="0"/>
                  <a:t> </a:t>
                </a:r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54" y="5050555"/>
                <a:ext cx="3061797" cy="343531"/>
              </a:xfrm>
              <a:prstGeom prst="roundRect">
                <a:avLst/>
              </a:prstGeom>
              <a:blipFill rotWithShape="1">
                <a:blip r:embed="rId6"/>
                <a:stretch>
                  <a:fillRect t="-1667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2362731" y="4229017"/>
                <a:ext cx="2032272" cy="398289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600" dirty="0"/>
                  <a:t>Prior: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</a:rPr>
                          <m:t>𝑛</m:t>
                        </m:r>
                        <m:r>
                          <a:rPr lang="fr-FR" sz="16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731" y="4229017"/>
                <a:ext cx="2032272" cy="398289"/>
              </a:xfrm>
              <a:prstGeom prst="ellipse">
                <a:avLst/>
              </a:prstGeom>
              <a:blipFill rotWithShape="1">
                <a:blip r:embed="rId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H="1" flipV="1">
            <a:off x="3378866" y="4627306"/>
            <a:ext cx="1" cy="42251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3174655" y="4281116"/>
            <a:ext cx="1" cy="11534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ight Arrow 21"/>
          <p:cNvSpPr/>
          <p:nvPr/>
        </p:nvSpPr>
        <p:spPr>
          <a:xfrm>
            <a:off x="4395003" y="4402518"/>
            <a:ext cx="705609" cy="115422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23" name="Right Arrow 22"/>
          <p:cNvSpPr/>
          <p:nvPr/>
        </p:nvSpPr>
        <p:spPr>
          <a:xfrm>
            <a:off x="970260" y="4386580"/>
            <a:ext cx="1392471" cy="115422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24" name="Right Arrow 23"/>
          <p:cNvSpPr/>
          <p:nvPr/>
        </p:nvSpPr>
        <p:spPr>
          <a:xfrm>
            <a:off x="6838589" y="4402518"/>
            <a:ext cx="1392471" cy="115422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25" name="TextBox 24"/>
          <p:cNvSpPr txBox="1"/>
          <p:nvPr/>
        </p:nvSpPr>
        <p:spPr>
          <a:xfrm>
            <a:off x="4378398" y="4101995"/>
            <a:ext cx="1009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LSTM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125206" y="5605198"/>
                <a:ext cx="23193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fr-FR" sz="1600" b="0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fr-FR" sz="1600" i="1">
                          <a:latin typeface="Cambria Math"/>
                          <a:ea typeface="Cambria Math"/>
                        </a:rPr>
                        <m:t>𝒩</m:t>
                      </m:r>
                      <m:d>
                        <m:dPr>
                          <m:ctrlPr>
                            <a:rPr lang="fr-FR" sz="1600" i="1"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600" i="1">
                              <a:latin typeface="Cambria Math"/>
                              <a:ea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00" i="1">
                                  <a:latin typeface="Cambria Math"/>
                                  <a:ea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l-GR" sz="160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206" y="5605198"/>
                <a:ext cx="2319390" cy="338554"/>
              </a:xfrm>
              <a:prstGeom prst="rect">
                <a:avLst/>
              </a:prstGeom>
              <a:blipFill rotWithShape="1">
                <a:blip r:embed="rId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954949" y="5606185"/>
            <a:ext cx="1907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En général: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3655" y="5605197"/>
            <a:ext cx="3747875" cy="408611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29" name="TextBox 28"/>
          <p:cNvSpPr txBox="1"/>
          <p:nvPr/>
        </p:nvSpPr>
        <p:spPr>
          <a:xfrm>
            <a:off x="238389" y="3813518"/>
            <a:ext cx="753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rgbClr val="00B050"/>
                </a:solidFill>
              </a:rPr>
              <a:t>…</a:t>
            </a:r>
          </a:p>
        </p:txBody>
      </p:sp>
      <p:cxnSp>
        <p:nvCxnSpPr>
          <p:cNvPr id="36" name="Straight Arrow Connector 35"/>
          <p:cNvCxnSpPr>
            <a:stCxn id="14" idx="0"/>
          </p:cNvCxnSpPr>
          <p:nvPr/>
        </p:nvCxnSpPr>
        <p:spPr>
          <a:xfrm flipV="1">
            <a:off x="5968897" y="3878178"/>
            <a:ext cx="0" cy="3508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9" idx="0"/>
          </p:cNvCxnSpPr>
          <p:nvPr/>
        </p:nvCxnSpPr>
        <p:spPr>
          <a:xfrm flipV="1">
            <a:off x="3378867" y="3890463"/>
            <a:ext cx="0" cy="33855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9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28617" y="2798059"/>
            <a:ext cx="2796375" cy="368469"/>
          </a:xfrm>
          <a:prstGeom prst="rect">
            <a:avLst/>
          </a:prstGeom>
          <a:solidFill>
            <a:srgbClr val="00B050">
              <a:alpha val="17000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  <a:latin typeface="Verdana" pitchFamily="34" charset="0"/>
                <a:cs typeface="Arial" charset="0"/>
              </a:rPr>
              <a:t>VRNN = RNN + VAE</a:t>
            </a:r>
          </a:p>
        </p:txBody>
      </p:sp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106305" y="226611"/>
            <a:ext cx="6734630" cy="67052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Système génératif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69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2" descr="Résultat de recherche d'images pour &quot;petit princ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63" y="1930536"/>
            <a:ext cx="685800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58763" y="1438208"/>
            <a:ext cx="3193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i="1" dirty="0"/>
              <a:t>Dessine moi un mouton ! </a:t>
            </a:r>
          </a:p>
        </p:txBody>
      </p:sp>
      <p:sp>
        <p:nvSpPr>
          <p:cNvPr id="7" name="Freeform 6"/>
          <p:cNvSpPr/>
          <p:nvPr/>
        </p:nvSpPr>
        <p:spPr>
          <a:xfrm>
            <a:off x="827088" y="1026573"/>
            <a:ext cx="3897634" cy="1558881"/>
          </a:xfrm>
          <a:custGeom>
            <a:avLst/>
            <a:gdLst>
              <a:gd name="connsiteX0" fmla="*/ 3897634 w 3897634"/>
              <a:gd name="connsiteY0" fmla="*/ 1267029 h 1267029"/>
              <a:gd name="connsiteX1" fmla="*/ 3564259 w 3897634"/>
              <a:gd name="connsiteY1" fmla="*/ 1086054 h 1267029"/>
              <a:gd name="connsiteX2" fmla="*/ 3211834 w 3897634"/>
              <a:gd name="connsiteY2" fmla="*/ 647904 h 1267029"/>
              <a:gd name="connsiteX3" fmla="*/ 2897509 w 3897634"/>
              <a:gd name="connsiteY3" fmla="*/ 228804 h 1267029"/>
              <a:gd name="connsiteX4" fmla="*/ 2240284 w 3897634"/>
              <a:gd name="connsiteY4" fmla="*/ 76404 h 1267029"/>
              <a:gd name="connsiteX5" fmla="*/ 1402084 w 3897634"/>
              <a:gd name="connsiteY5" fmla="*/ 204 h 1267029"/>
              <a:gd name="connsiteX6" fmla="*/ 335284 w 3897634"/>
              <a:gd name="connsiteY6" fmla="*/ 66879 h 1267029"/>
              <a:gd name="connsiteX7" fmla="*/ 40009 w 3897634"/>
              <a:gd name="connsiteY7" fmla="*/ 371679 h 1267029"/>
              <a:gd name="connsiteX8" fmla="*/ 30484 w 3897634"/>
              <a:gd name="connsiteY8" fmla="*/ 743154 h 1267029"/>
              <a:gd name="connsiteX9" fmla="*/ 297184 w 3897634"/>
              <a:gd name="connsiteY9" fmla="*/ 981279 h 1267029"/>
              <a:gd name="connsiteX10" fmla="*/ 1202059 w 3897634"/>
              <a:gd name="connsiteY10" fmla="*/ 1000329 h 1267029"/>
              <a:gd name="connsiteX11" fmla="*/ 2097409 w 3897634"/>
              <a:gd name="connsiteY11" fmla="*/ 943179 h 1267029"/>
              <a:gd name="connsiteX12" fmla="*/ 2907034 w 3897634"/>
              <a:gd name="connsiteY12" fmla="*/ 686004 h 1267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97634" h="1267029">
                <a:moveTo>
                  <a:pt x="3897634" y="1267029"/>
                </a:moveTo>
                <a:cubicBezTo>
                  <a:pt x="3788096" y="1228135"/>
                  <a:pt x="3678559" y="1189241"/>
                  <a:pt x="3564259" y="1086054"/>
                </a:cubicBezTo>
                <a:cubicBezTo>
                  <a:pt x="3449959" y="982866"/>
                  <a:pt x="3322959" y="790779"/>
                  <a:pt x="3211834" y="647904"/>
                </a:cubicBezTo>
                <a:cubicBezTo>
                  <a:pt x="3100709" y="505029"/>
                  <a:pt x="3059434" y="324054"/>
                  <a:pt x="2897509" y="228804"/>
                </a:cubicBezTo>
                <a:cubicBezTo>
                  <a:pt x="2735584" y="133554"/>
                  <a:pt x="2489522" y="114504"/>
                  <a:pt x="2240284" y="76404"/>
                </a:cubicBezTo>
                <a:cubicBezTo>
                  <a:pt x="1991046" y="38304"/>
                  <a:pt x="1719584" y="1792"/>
                  <a:pt x="1402084" y="204"/>
                </a:cubicBezTo>
                <a:cubicBezTo>
                  <a:pt x="1084584" y="-1384"/>
                  <a:pt x="562296" y="4967"/>
                  <a:pt x="335284" y="66879"/>
                </a:cubicBezTo>
                <a:cubicBezTo>
                  <a:pt x="108272" y="128791"/>
                  <a:pt x="90809" y="258967"/>
                  <a:pt x="40009" y="371679"/>
                </a:cubicBezTo>
                <a:cubicBezTo>
                  <a:pt x="-10791" y="484391"/>
                  <a:pt x="-12379" y="641554"/>
                  <a:pt x="30484" y="743154"/>
                </a:cubicBezTo>
                <a:cubicBezTo>
                  <a:pt x="73346" y="844754"/>
                  <a:pt x="101921" y="938416"/>
                  <a:pt x="297184" y="981279"/>
                </a:cubicBezTo>
                <a:cubicBezTo>
                  <a:pt x="492446" y="1024141"/>
                  <a:pt x="902022" y="1006679"/>
                  <a:pt x="1202059" y="1000329"/>
                </a:cubicBezTo>
                <a:cubicBezTo>
                  <a:pt x="1502096" y="993979"/>
                  <a:pt x="1813246" y="995566"/>
                  <a:pt x="2097409" y="943179"/>
                </a:cubicBezTo>
                <a:cubicBezTo>
                  <a:pt x="2381571" y="890791"/>
                  <a:pt x="2768922" y="739979"/>
                  <a:pt x="2907034" y="68600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784591" y="170472"/>
            <a:ext cx="7704667" cy="1050362"/>
          </a:xfrm>
        </p:spPr>
        <p:txBody>
          <a:bodyPr/>
          <a:lstStyle/>
          <a:p>
            <a:pPr eaLnBrk="1" hangingPunct="1"/>
            <a:r>
              <a:rPr lang="fr-FR" dirty="0"/>
              <a:t>Dessine moi une maison !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70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6265" y="3256486"/>
            <a:ext cx="420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400X300 pixels X 3couleurs = 360 000 réels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546" y="3887317"/>
            <a:ext cx="727237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Contraintes :</a:t>
            </a:r>
          </a:p>
          <a:p>
            <a:r>
              <a:rPr lang="fr-FR" sz="1600" dirty="0"/>
              <a:t>-    Les Pixels adjacent sont en général similaires</a:t>
            </a:r>
          </a:p>
          <a:p>
            <a:pPr marL="285750" indent="-285750">
              <a:buFontTx/>
              <a:buChar char="-"/>
            </a:pPr>
            <a:r>
              <a:rPr lang="fr-FR" sz="1600" dirty="0"/>
              <a:t>La partie haute de l’image est couleur ciel</a:t>
            </a:r>
          </a:p>
          <a:p>
            <a:pPr marL="285750" indent="-285750">
              <a:buFontTx/>
              <a:buChar char="-"/>
            </a:pPr>
            <a:r>
              <a:rPr lang="fr-FR" sz="1600" dirty="0"/>
              <a:t>Le toit et le corps de la maison ont des couleurs différentes</a:t>
            </a:r>
          </a:p>
          <a:p>
            <a:pPr marL="285750" indent="-285750">
              <a:buFontTx/>
              <a:buChar char="-"/>
            </a:pPr>
            <a:r>
              <a:rPr lang="fr-FR" sz="1600" dirty="0"/>
              <a:t>Les fenêtres reflètent en général le ciel</a:t>
            </a:r>
          </a:p>
          <a:p>
            <a:pPr marL="285750" indent="-285750">
              <a:buFontTx/>
              <a:buChar char="-"/>
            </a:pPr>
            <a:r>
              <a:rPr lang="fr-FR" sz="1600" dirty="0"/>
              <a:t>La maison doit être structurellement stable</a:t>
            </a:r>
          </a:p>
          <a:p>
            <a:pPr marL="285750" indent="-285750">
              <a:buFontTx/>
              <a:buChar char="-"/>
            </a:pPr>
            <a:r>
              <a:rPr lang="fr-FR" sz="1600" dirty="0"/>
              <a:t>La maison doit être faite de briques, pierre ou ciment plutôt que Cotton ou viande</a:t>
            </a:r>
          </a:p>
          <a:p>
            <a:pPr marL="285750" indent="-285750">
              <a:buFontTx/>
              <a:buChar char="-"/>
            </a:pPr>
            <a:endParaRPr lang="fr-FR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pic>
        <p:nvPicPr>
          <p:cNvPr id="9" name="Picture 2" descr="http://i.imgur.com/H8OGv2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67" y="1520926"/>
            <a:ext cx="8716758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72406" y="52735"/>
            <a:ext cx="7111280" cy="933854"/>
          </a:xfrm>
        </p:spPr>
        <p:txBody>
          <a:bodyPr/>
          <a:lstStyle/>
          <a:p>
            <a:pPr eaLnBrk="1" hangingPunct="1"/>
            <a:r>
              <a:rPr lang="fr-FR" dirty="0"/>
              <a:t>Raffinement progressif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71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50473" y="1047156"/>
                <a:ext cx="7195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fr-FR" b="0" i="1" smtClean="0">
                        <a:latin typeface="Cambria Math"/>
                      </a:rPr>
                      <m:t>=</m:t>
                    </m:r>
                    <m:r>
                      <a:rPr lang="fr-FR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𝑇</m:t>
                            </m:r>
                          </m:sub>
                        </m:sSub>
                        <m:r>
                          <a:rPr lang="fr-FR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𝑇</m:t>
                            </m:r>
                            <m:r>
                              <a:rPr lang="fr-FR" i="1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𝑇</m:t>
                            </m:r>
                            <m:r>
                              <a:rPr lang="fr-FR" b="0" i="1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𝑇</m:t>
                            </m:r>
                            <m:r>
                              <a:rPr lang="fr-FR" i="1">
                                <a:latin typeface="Cambria Math"/>
                              </a:rPr>
                              <m:t>−2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/>
                      </a:rPr>
                      <m:t>…</m:t>
                    </m:r>
                    <m:r>
                      <a:rPr lang="fr-FR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473" y="1047156"/>
                <a:ext cx="7195859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254" b="-1973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http://i.imgur.com/STegpL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550" y="1551212"/>
            <a:ext cx="12573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885234" y="2169268"/>
            <a:ext cx="2688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Génération progressive</a:t>
            </a:r>
          </a:p>
          <a:p>
            <a:r>
              <a:rPr lang="fr-FR" sz="1600" dirty="0"/>
              <a:t>d’une variable complexe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649568" y="78911"/>
            <a:ext cx="7704667" cy="924127"/>
          </a:xfrm>
        </p:spPr>
        <p:txBody>
          <a:bodyPr/>
          <a:lstStyle/>
          <a:p>
            <a:pPr eaLnBrk="1" hangingPunct="1"/>
            <a:r>
              <a:rPr lang="fr-FR" dirty="0"/>
              <a:t>Mécanisme d’attention spatiale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72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2" descr="http://i.imgur.com/YQbvWq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277" y="986158"/>
            <a:ext cx="1728192" cy="192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magorographics.files.wordpress.com/2015/07/34-1kim-jung-g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79304"/>
            <a:ext cx="60960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44525" y="1761599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Plus facile de dessiner un petite partie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9857" y="3497259"/>
            <a:ext cx="2254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Que toute l’image</a:t>
            </a:r>
          </a:p>
          <a:p>
            <a:r>
              <a:rPr lang="fr-FR" sz="1800" dirty="0"/>
              <a:t> d’un coup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0999" y="5687703"/>
            <a:ext cx="4593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Question : de quelle partie  s’agit-il ?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816849" y="-55024"/>
            <a:ext cx="7276834" cy="1166866"/>
          </a:xfrm>
        </p:spPr>
        <p:txBody>
          <a:bodyPr/>
          <a:lstStyle/>
          <a:p>
            <a:pPr eaLnBrk="1" hangingPunct="1"/>
            <a:r>
              <a:rPr lang="fr-FR" dirty="0"/>
              <a:t>Mécanisme d’attention : DRAW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73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2" descr="https://qph.ec.quoracdn.net/main-qimg-158a35df2e4e66b464f1d30b120ff57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85" y="1691516"/>
            <a:ext cx="40481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95185" y="4406718"/>
            <a:ext cx="6339556" cy="9233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1800" dirty="0"/>
              <a:t>Attention / Porte : </a:t>
            </a:r>
          </a:p>
          <a:p>
            <a:r>
              <a:rPr lang="fr-FR" sz="1800" dirty="0"/>
              <a:t>-  Attention          -&gt; une fonction portée dynamique</a:t>
            </a:r>
          </a:p>
          <a:p>
            <a:r>
              <a:rPr lang="fr-FR" sz="1800" dirty="0"/>
              <a:t>-  Porte (</a:t>
            </a:r>
            <a:r>
              <a:rPr lang="fr-FR" sz="1800" dirty="0" err="1"/>
              <a:t>gate</a:t>
            </a:r>
            <a:r>
              <a:rPr lang="fr-FR" sz="1800" dirty="0"/>
              <a:t>)      -&gt; une fonction portée statique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75705" y="2123564"/>
                <a:ext cx="31402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dirty="0"/>
                  <a:t>Fonction Attention  </a:t>
                </a:r>
              </a:p>
              <a:p>
                <a:r>
                  <a:rPr lang="fr-FR" sz="1800" dirty="0">
                    <a:ea typeface="Cambria Math"/>
                  </a:rPr>
                  <a:t>Image </a:t>
                </a:r>
                <a14:m>
                  <m:oMath xmlns:m="http://schemas.openxmlformats.org/officeDocument/2006/math">
                    <m:r>
                      <a:rPr lang="fr-FR" sz="1800" i="1" smtClean="0">
                        <a:latin typeface="Cambria Math"/>
                        <a:ea typeface="Cambria Math"/>
                      </a:rPr>
                      <m:t>→</m:t>
                    </m:r>
                    <m:sSup>
                      <m:sSupPr>
                        <m:ctrlPr>
                          <a:rPr lang="fr-FR" sz="180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fr-FR" sz="1800" i="1">
                            <a:latin typeface="Cambria Math"/>
                            <a:ea typeface="Cambria Math"/>
                          </a:rPr>
                          <m:t>ℝ</m:t>
                        </m:r>
                      </m:e>
                      <m:sup>
                        <m:r>
                          <a:rPr lang="fr-FR" sz="1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705" y="2123564"/>
                <a:ext cx="3140278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1748" t="-4717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4711609" y="2446730"/>
            <a:ext cx="864096" cy="118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3217" y="1119179"/>
            <a:ext cx="395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 err="1"/>
              <a:t>Deep</a:t>
            </a:r>
            <a:r>
              <a:rPr lang="fr-FR" sz="1800" dirty="0"/>
              <a:t> </a:t>
            </a:r>
            <a:r>
              <a:rPr lang="fr-FR" sz="1800" dirty="0" err="1"/>
              <a:t>Reccurent</a:t>
            </a:r>
            <a:r>
              <a:rPr lang="fr-FR" sz="1800" dirty="0"/>
              <a:t> Attention </a:t>
            </a:r>
            <a:r>
              <a:rPr lang="fr-FR" sz="1800" dirty="0" err="1"/>
              <a:t>Writer</a:t>
            </a:r>
            <a:endParaRPr lang="fr-FR" sz="1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148" y="3046894"/>
            <a:ext cx="2192391" cy="13379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403497" y="5639743"/>
            <a:ext cx="610353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/>
              <a:t>http://distill.pub/2016/augmented-rnns/</a:t>
            </a:r>
          </a:p>
        </p:txBody>
      </p:sp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02922" y="85925"/>
            <a:ext cx="6858802" cy="767087"/>
          </a:xfrm>
        </p:spPr>
        <p:txBody>
          <a:bodyPr/>
          <a:lstStyle/>
          <a:p>
            <a:pPr eaLnBrk="1" hangingPunct="1"/>
            <a:r>
              <a:rPr lang="fr-FR" dirty="0" err="1"/>
              <a:t>Draw</a:t>
            </a:r>
            <a:r>
              <a:rPr lang="fr-FR" dirty="0"/>
              <a:t> : Fonctionnement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74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26" y="1694161"/>
            <a:ext cx="5718250" cy="313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337" y="3845461"/>
            <a:ext cx="3220913" cy="2175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39750" y="5185048"/>
            <a:ext cx="3412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Définit le niveau d’attention</a:t>
            </a:r>
          </a:p>
        </p:txBody>
      </p:sp>
      <p:cxnSp>
        <p:nvCxnSpPr>
          <p:cNvPr id="8" name="Straight Arrow Connector 7"/>
          <p:cNvCxnSpPr>
            <a:stCxn id="7" idx="3"/>
          </p:cNvCxnSpPr>
          <p:nvPr/>
        </p:nvCxnSpPr>
        <p:spPr>
          <a:xfrm flipV="1">
            <a:off x="3952416" y="4445540"/>
            <a:ext cx="2407860" cy="9241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7" idx="3"/>
          </p:cNvCxnSpPr>
          <p:nvPr/>
        </p:nvCxnSpPr>
        <p:spPr>
          <a:xfrm>
            <a:off x="3952416" y="5369714"/>
            <a:ext cx="3123767" cy="3793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028299" y="2388611"/>
                <a:ext cx="1613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/>
                  <a:t>Canevas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fr-FR" sz="1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299" y="2388611"/>
                <a:ext cx="161364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396" t="-8333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10" idx="1"/>
          </p:cNvCxnSpPr>
          <p:nvPr/>
        </p:nvCxnSpPr>
        <p:spPr>
          <a:xfrm flipH="1" flipV="1">
            <a:off x="4811549" y="1764627"/>
            <a:ext cx="2216750" cy="808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91595" y="1037277"/>
            <a:ext cx="4340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-----&gt; raffinement progressif -----&gt;</a:t>
            </a:r>
          </a:p>
        </p:txBody>
      </p:sp>
      <p:sp>
        <p:nvSpPr>
          <p:cNvPr id="13" name="Oval 12"/>
          <p:cNvSpPr/>
          <p:nvPr/>
        </p:nvSpPr>
        <p:spPr>
          <a:xfrm>
            <a:off x="1255723" y="1888318"/>
            <a:ext cx="3600400" cy="5612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4" name="Oval 13"/>
          <p:cNvSpPr/>
          <p:nvPr/>
        </p:nvSpPr>
        <p:spPr>
          <a:xfrm>
            <a:off x="1217622" y="3564827"/>
            <a:ext cx="3600400" cy="5612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19389" y="1976025"/>
                <a:ext cx="1150956" cy="37427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80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𝐿𝑆𝑇𝑀</m:t>
                          </m:r>
                        </m:e>
                        <m:sup>
                          <m:r>
                            <a:rPr lang="fr-FR" sz="1800" b="0" i="1" smtClean="0">
                              <a:latin typeface="Cambria Math"/>
                            </a:rPr>
                            <m:t>𝑑𝑒𝑐</m:t>
                          </m:r>
                        </m:sup>
                      </m:sSup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389" y="1976025"/>
                <a:ext cx="1150956" cy="3742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435697" y="3658326"/>
                <a:ext cx="1152560" cy="36933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80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sz="1800" b="0" i="1" smtClean="0">
                              <a:latin typeface="Cambria Math"/>
                            </a:rPr>
                            <m:t>𝐿𝑆𝑇𝑀</m:t>
                          </m:r>
                        </m:e>
                        <m:sup>
                          <m:r>
                            <a:rPr lang="fr-FR" sz="1800" b="0" i="1" smtClean="0">
                              <a:latin typeface="Cambria Math"/>
                            </a:rPr>
                            <m:t>𝑒𝑛𝑐</m:t>
                          </m:r>
                        </m:sup>
                      </m:sSup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697" y="3658326"/>
                <a:ext cx="1152560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9028" y="134724"/>
            <a:ext cx="7224515" cy="68412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Minimisation de DRAW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xfrm>
            <a:off x="978117" y="5604713"/>
            <a:ext cx="3313112" cy="360363"/>
          </a:xfrm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6317" y="5604713"/>
            <a:ext cx="288925" cy="360363"/>
          </a:xfrm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75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67744" y="1840179"/>
                <a:ext cx="58645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Perte de reconstruction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80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fr-FR" sz="1800" i="1">
                            <a:latin typeface="Cambria Math"/>
                            <a:ea typeface="Cambria Math"/>
                          </a:rPr>
                          <m:t>𝔏</m:t>
                        </m:r>
                        <m:r>
                          <m:rPr>
                            <m:nor/>
                          </m:rPr>
                          <a:rPr lang="fr-FR" sz="1800" dirty="0"/>
                          <m:t>  </m:t>
                        </m:r>
                      </m:e>
                      <m:sup>
                        <m:r>
                          <a:rPr lang="fr-FR" sz="18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sup>
                    </m:sSup>
                    <m:r>
                      <a:rPr lang="fr-FR" sz="1800" b="0" i="1" smtClean="0">
                        <a:latin typeface="Cambria Math"/>
                        <a:ea typeface="Cambria Math"/>
                      </a:rPr>
                      <m:t>=−</m:t>
                    </m:r>
                    <m:r>
                      <a:rPr lang="fr-FR" sz="1800" b="0" i="1" smtClean="0">
                        <a:latin typeface="Cambria Math"/>
                        <a:ea typeface="Cambria Math"/>
                      </a:rPr>
                      <m:t>𝐿𝑜𝑔</m:t>
                    </m:r>
                    <m:d>
                      <m:dPr>
                        <m:begChr m:val="["/>
                        <m:endChr m:val="]"/>
                        <m:ctrlPr>
                          <a:rPr lang="fr-FR" sz="1800" b="0" i="1" smtClean="0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/>
                            <a:ea typeface="Cambria Math"/>
                          </a:rPr>
                          <m:t>𝐷</m:t>
                        </m:r>
                        <m:d>
                          <m:dPr>
                            <m:ctrlPr>
                              <a:rPr lang="fr-FR" sz="18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18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fr-FR" sz="1800" b="0" i="1" smtClean="0">
                                <a:latin typeface="Cambria Math"/>
                                <a:ea typeface="Cambria Math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fr-FR" sz="1800" b="0" i="1" smtClean="0">
                                    <a:latin typeface="Cambria Math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800" b="0" i="1" smtClean="0">
                                    <a:latin typeface="Cambria Math"/>
                                    <a:ea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fr-FR" sz="1800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1840179"/>
                <a:ext cx="586457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20"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63502" y="3642217"/>
                <a:ext cx="6671362" cy="46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Perte latente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/>
                            <a:ea typeface="Cambria Math"/>
                          </a:rPr>
                          <m:t>𝔏</m:t>
                        </m:r>
                        <m:r>
                          <m:rPr>
                            <m:nor/>
                          </m:rPr>
                          <a:rPr lang="fr-FR" sz="1600" dirty="0"/>
                          <m:t>  </m:t>
                        </m:r>
                      </m:e>
                      <m:sup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𝑧</m:t>
                        </m:r>
                      </m:sup>
                    </m:sSup>
                    <m:r>
                      <a:rPr lang="fr-FR" sz="1600" b="0" i="1" smtClean="0">
                        <a:latin typeface="Cambria Math"/>
                        <a:ea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sz="1600" b="0" i="1" smtClean="0">
                            <a:latin typeface="Cambria Math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sup>
                      <m:e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𝐾𝐿</m:t>
                        </m:r>
                        <m:d>
                          <m:dPr>
                            <m:ctrlPr>
                              <a:rPr lang="fr-FR" sz="16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fr-FR" sz="1600" b="0" i="1" smtClean="0">
                                    <a:latin typeface="Cambria Math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charset="0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/>
                                        <a:ea typeface="Cambria Math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/>
                                        <a:ea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fr-FR" sz="1600" b="0" i="1" smtClean="0">
                                    <a:latin typeface="Cambria Math"/>
                                    <a:ea typeface="Cambria Math"/>
                                  </a:rPr>
                                  <m:t>|</m:t>
                                </m:r>
                                <m:sSup>
                                  <m:sSupPr>
                                    <m:ctrlPr>
                                      <a:rPr lang="fr-FR" sz="1600" b="0" i="1" smtClean="0">
                                        <a:latin typeface="Cambria Math" charset="0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1600" i="1">
                                            <a:latin typeface="Cambria Math" charset="0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600" i="1">
                                            <a:latin typeface="Cambria Math"/>
                                            <a:ea typeface="Cambria Math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fr-FR" sz="1600" i="1">
                                            <a:latin typeface="Cambria Math"/>
                                            <a:ea typeface="Cambria Math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fr-FR" sz="1600" b="0" i="1" smtClean="0">
                                        <a:latin typeface="Cambria Math"/>
                                        <a:ea typeface="Cambria Math"/>
                                      </a:rPr>
                                      <m:t>𝑒𝑛𝑐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||</m:t>
                            </m:r>
                            <m: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fr-FR" sz="1600" b="0" i="1" smtClean="0">
                                    <a:latin typeface="Cambria Math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charset="0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/>
                                        <a:ea typeface="Cambria Math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/>
                                        <a:ea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502" y="3642217"/>
                <a:ext cx="6671362" cy="460832"/>
              </a:xfrm>
              <a:prstGeom prst="rect">
                <a:avLst/>
              </a:prstGeom>
              <a:blipFill rotWithShape="1">
                <a:blip r:embed="rId3"/>
                <a:stretch>
                  <a:fillRect l="-457" t="-65789" b="-1118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27834" y="5621611"/>
                <a:ext cx="4112291" cy="386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Perte totale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/>
                            <a:ea typeface="Cambria Math"/>
                          </a:rPr>
                          <m:t>𝔏</m:t>
                        </m:r>
                        <m:r>
                          <m:rPr>
                            <m:nor/>
                          </m:rPr>
                          <a:rPr lang="fr-FR" sz="1600" dirty="0"/>
                          <m:t>  </m:t>
                        </m:r>
                      </m:e>
                      <m:sup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𝑇𝑜𝑡𝑎𝑙</m:t>
                        </m:r>
                      </m:sup>
                    </m:sSup>
                    <m:r>
                      <a:rPr lang="fr-FR" sz="16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/>
                            <a:ea typeface="Cambria Math"/>
                          </a:rPr>
                          <m:t>𝔼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𝑧</m:t>
                        </m:r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~</m:t>
                        </m:r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600" b="0" i="1" smtClean="0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sz="1600" i="1">
                                <a:latin typeface="Cambria Math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fr-FR" sz="1600" i="1">
                                <a:latin typeface="Cambria Math"/>
                                <a:ea typeface="Cambria Math"/>
                              </a:rPr>
                              <m:t>𝔏</m:t>
                            </m:r>
                            <m:r>
                              <m:rPr>
                                <m:nor/>
                              </m:rPr>
                              <a:rPr lang="fr-FR" sz="1600" dirty="0"/>
                              <m:t>  </m:t>
                            </m:r>
                          </m:e>
                          <m:sup>
                            <m:r>
                              <a:rPr lang="fr-FR" sz="16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fr-FR" sz="1600" i="1">
                                <a:latin typeface="Cambria Math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fr-FR" sz="1600" i="1">
                                <a:latin typeface="Cambria Math"/>
                                <a:ea typeface="Cambria Math"/>
                              </a:rPr>
                              <m:t>𝔏</m:t>
                            </m:r>
                            <m:r>
                              <m:rPr>
                                <m:nor/>
                              </m:rPr>
                              <a:rPr lang="fr-FR" sz="1600" dirty="0"/>
                              <m:t>  </m:t>
                            </m:r>
                          </m:e>
                          <m:sup>
                            <m:r>
                              <a:rPr lang="fr-FR" sz="1600" i="1">
                                <a:latin typeface="Cambria Math"/>
                                <a:ea typeface="Cambria Math"/>
                              </a:rPr>
                              <m:t>𝑧</m:t>
                            </m:r>
                          </m:sup>
                        </m:sSup>
                      </m:e>
                    </m:d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834" y="5621611"/>
                <a:ext cx="4112291" cy="386196"/>
              </a:xfrm>
              <a:prstGeom prst="rect">
                <a:avLst/>
              </a:prstGeom>
              <a:blipFill rotWithShape="1">
                <a:blip r:embed="rId4"/>
                <a:stretch>
                  <a:fillRect l="-890"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79433" y="4118981"/>
                <a:ext cx="6387474" cy="46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Dans le cas gaussien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/>
                            <a:ea typeface="Cambria Math"/>
                          </a:rPr>
                          <m:t>𝔏</m:t>
                        </m:r>
                        <m:r>
                          <m:rPr>
                            <m:nor/>
                          </m:rPr>
                          <a:rPr lang="fr-FR" sz="1600" dirty="0"/>
                          <m:t>  </m:t>
                        </m:r>
                      </m:e>
                      <m:sup>
                        <m:r>
                          <a:rPr lang="fr-FR" sz="1600" i="1">
                            <a:latin typeface="Cambria Math"/>
                            <a:ea typeface="Cambria Math"/>
                          </a:rPr>
                          <m:t>𝑧</m:t>
                        </m:r>
                      </m:sup>
                    </m:sSup>
                    <m:r>
                      <a:rPr lang="fr-FR" sz="1600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charset="0"/>
                            <a:ea typeface="Cambria Math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600" b="0" i="1" smtClean="0">
                            <a:latin typeface="Cambria Math" charset="0"/>
                            <a:ea typeface="Cambria Math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fr-FR" sz="16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  <m: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sup>
                          <m:e>
                            <m:d>
                              <m:dPr>
                                <m:ctrlPr>
                                  <a:rPr lang="fr-FR" sz="1600" b="0" i="1" smtClean="0">
                                    <a:latin typeface="Cambria Math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fr-FR" sz="1600" i="1">
                                        <a:latin typeface="Cambria Math" charset="0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1600" i="1">
                                            <a:latin typeface="Cambria Math" charset="0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600" i="1">
                                            <a:latin typeface="Cambria Math"/>
                                            <a:ea typeface="Cambria Math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fr-FR" sz="1600" i="1">
                                            <a:latin typeface="Cambria Math"/>
                                            <a:ea typeface="Cambria Math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fr-FR" sz="1600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fr-FR" sz="1600" i="1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sz="1600" i="1">
                                        <a:latin typeface="Cambria Math" charset="0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1600" i="1">
                                            <a:latin typeface="Cambria Math" charset="0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600" i="1">
                                            <a:latin typeface="Cambria Math"/>
                                            <a:ea typeface="Cambria Math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fr-FR" sz="1600" i="1">
                                            <a:latin typeface="Cambria Math"/>
                                            <a:ea typeface="Cambria Math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fr-FR" sz="1600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fr-FR" sz="1600" b="0" i="1" smtClean="0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  <m:r>
                                  <a:rPr lang="fr-FR" sz="1600" i="1">
                                    <a:latin typeface="Cambria Math"/>
                                    <a:ea typeface="Cambria Math"/>
                                  </a:rPr>
                                  <m:t>𝐿𝑜𝑔</m:t>
                                </m:r>
                                <m:d>
                                  <m:dPr>
                                    <m:ctrlPr>
                                      <a:rPr lang="fr-FR" sz="1600" i="1">
                                        <a:latin typeface="Cambria Math" charset="0"/>
                                        <a:ea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fr-FR" sz="1600" i="1">
                                            <a:latin typeface="Cambria Math" charset="0"/>
                                            <a:ea typeface="Cambria Math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1600" i="1">
                                                <a:latin typeface="Cambria Math" charset="0"/>
                                                <a:ea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6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sz="16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fr-FR" sz="1600" i="1">
                                            <a:latin typeface="Cambria Math"/>
                                            <a:ea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nary>
                        <m:r>
                          <a:rPr lang="fr-FR" sz="16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fr-FR" sz="16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16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433" y="4118981"/>
                <a:ext cx="6387474" cy="460832"/>
              </a:xfrm>
              <a:prstGeom prst="rect">
                <a:avLst/>
              </a:prstGeom>
              <a:blipFill rotWithShape="1">
                <a:blip r:embed="rId5"/>
                <a:stretch>
                  <a:fillRect l="-573" t="-66667" b="-114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267743" y="1840177"/>
            <a:ext cx="545257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0" name="Rectangle 9"/>
          <p:cNvSpPr/>
          <p:nvPr/>
        </p:nvSpPr>
        <p:spPr>
          <a:xfrm>
            <a:off x="1242904" y="3605788"/>
            <a:ext cx="7409125" cy="9852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1" name="Rectangle 10"/>
          <p:cNvSpPr/>
          <p:nvPr/>
        </p:nvSpPr>
        <p:spPr>
          <a:xfrm>
            <a:off x="2872580" y="5630909"/>
            <a:ext cx="4887944" cy="3768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TextBox 11"/>
          <p:cNvSpPr txBox="1"/>
          <p:nvPr/>
        </p:nvSpPr>
        <p:spPr>
          <a:xfrm>
            <a:off x="4122504" y="1141326"/>
            <a:ext cx="843619" cy="3385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1600" y="1111235"/>
            <a:ext cx="3472727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Canevas final</a:t>
            </a:r>
          </a:p>
          <a:p>
            <a:r>
              <a:rPr lang="fr-FR" sz="1600" dirty="0"/>
              <a:t>(dépends du LSTM de décodage</a:t>
            </a:r>
          </a:p>
        </p:txBody>
      </p:sp>
      <p:cxnSp>
        <p:nvCxnSpPr>
          <p:cNvPr id="14" name="Straight Arrow Connector 13"/>
          <p:cNvCxnSpPr>
            <a:stCxn id="12" idx="2"/>
          </p:cNvCxnSpPr>
          <p:nvPr/>
        </p:nvCxnSpPr>
        <p:spPr>
          <a:xfrm>
            <a:off x="4544314" y="1479880"/>
            <a:ext cx="2148316" cy="4369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3" idx="2"/>
          </p:cNvCxnSpPr>
          <p:nvPr/>
        </p:nvCxnSpPr>
        <p:spPr>
          <a:xfrm flipH="1">
            <a:off x="6935821" y="1696010"/>
            <a:ext cx="492143" cy="3288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92831" y="2531574"/>
            <a:ext cx="2254985" cy="584775"/>
          </a:xfrm>
          <a:prstGeom prst="rect">
            <a:avLst/>
          </a:prstGeom>
          <a:solidFill>
            <a:srgbClr val="E2FA6A"/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Modèle probabiliste</a:t>
            </a:r>
          </a:p>
          <a:p>
            <a:r>
              <a:rPr lang="fr-FR" sz="1600" dirty="0"/>
              <a:t>(</a:t>
            </a:r>
            <a:r>
              <a:rPr lang="fr-FR" sz="1600" dirty="0" err="1"/>
              <a:t>Bernouilli,Gauss</a:t>
            </a:r>
            <a:r>
              <a:rPr lang="fr-FR" sz="1600" dirty="0"/>
              <a:t>,..)</a:t>
            </a:r>
          </a:p>
        </p:txBody>
      </p:sp>
      <p:cxnSp>
        <p:nvCxnSpPr>
          <p:cNvPr id="17" name="Straight Arrow Connector 16"/>
          <p:cNvCxnSpPr>
            <a:stCxn id="16" idx="0"/>
          </p:cNvCxnSpPr>
          <p:nvPr/>
        </p:nvCxnSpPr>
        <p:spPr>
          <a:xfrm flipH="1" flipV="1">
            <a:off x="6372200" y="2130357"/>
            <a:ext cx="1348124" cy="4012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51520" y="2649211"/>
                <a:ext cx="5089429" cy="584775"/>
              </a:xfrm>
              <a:prstGeom prst="rect">
                <a:avLst/>
              </a:prstGeom>
              <a:solidFill>
                <a:srgbClr val="F87774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Nombre de </a:t>
                </a:r>
                <a:r>
                  <a:rPr lang="fr-FR" sz="1600" dirty="0" err="1"/>
                  <a:t>nats</a:t>
                </a:r>
                <a:r>
                  <a:rPr lang="fr-FR" sz="1600" dirty="0"/>
                  <a:t> </a:t>
                </a:r>
                <a:r>
                  <a:rPr lang="fr-FR" sz="1600" dirty="0" err="1"/>
                  <a:t>nécéssaire</a:t>
                </a:r>
                <a:r>
                  <a:rPr lang="fr-FR" sz="1600" dirty="0"/>
                  <a:t> pour </a:t>
                </a:r>
              </a:p>
              <a:p>
                <a:r>
                  <a:rPr lang="fr-FR" sz="1600" dirty="0"/>
                  <a:t>reconstruire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é</a:t>
                </a:r>
                <a:r>
                  <a:rPr lang="fr-FR" sz="1600" dirty="0"/>
                  <a:t>tant donnée la suite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sz="160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fr-FR" sz="16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fr-FR" sz="16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649211"/>
                <a:ext cx="5089429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599" t="-3125"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18" idx="2"/>
          </p:cNvCxnSpPr>
          <p:nvPr/>
        </p:nvCxnSpPr>
        <p:spPr>
          <a:xfrm>
            <a:off x="2796235" y="3233986"/>
            <a:ext cx="47573" cy="5550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30463" y="4813096"/>
            <a:ext cx="2643446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Produit du LSTM central</a:t>
            </a:r>
          </a:p>
        </p:txBody>
      </p:sp>
      <p:cxnSp>
        <p:nvCxnSpPr>
          <p:cNvPr id="21" name="Straight Arrow Connector 20"/>
          <p:cNvCxnSpPr>
            <a:stCxn id="20" idx="3"/>
          </p:cNvCxnSpPr>
          <p:nvPr/>
        </p:nvCxnSpPr>
        <p:spPr>
          <a:xfrm flipV="1">
            <a:off x="4973909" y="4537695"/>
            <a:ext cx="1095212" cy="44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20" idx="3"/>
          </p:cNvCxnSpPr>
          <p:nvPr/>
        </p:nvCxnSpPr>
        <p:spPr>
          <a:xfrm flipV="1">
            <a:off x="4973909" y="4537695"/>
            <a:ext cx="1618922" cy="44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15844" y="4816100"/>
            <a:ext cx="2048561" cy="3385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LSTM d’ encodage</a:t>
            </a:r>
          </a:p>
        </p:txBody>
      </p:sp>
      <p:cxnSp>
        <p:nvCxnSpPr>
          <p:cNvPr id="24" name="Straight Arrow Connector 23"/>
          <p:cNvCxnSpPr>
            <a:stCxn id="23" idx="0"/>
          </p:cNvCxnSpPr>
          <p:nvPr/>
        </p:nvCxnSpPr>
        <p:spPr>
          <a:xfrm flipH="1" flipV="1">
            <a:off x="4947466" y="3988340"/>
            <a:ext cx="2392659" cy="8277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9200" y="5252215"/>
            <a:ext cx="2406170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Minimum variationnel</a:t>
            </a:r>
          </a:p>
        </p:txBody>
      </p:sp>
      <p:cxnSp>
        <p:nvCxnSpPr>
          <p:cNvPr id="26" name="Straight Arrow Connector 25"/>
          <p:cNvCxnSpPr>
            <a:stCxn id="25" idx="2"/>
            <a:endCxn id="7" idx="1"/>
          </p:cNvCxnSpPr>
          <p:nvPr/>
        </p:nvCxnSpPr>
        <p:spPr>
          <a:xfrm>
            <a:off x="1462285" y="5590769"/>
            <a:ext cx="1765549" cy="223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4" y="457201"/>
            <a:ext cx="7033458" cy="943582"/>
          </a:xfrm>
        </p:spPr>
        <p:txBody>
          <a:bodyPr/>
          <a:lstStyle/>
          <a:p>
            <a:pPr eaLnBrk="1" hangingPunct="1"/>
            <a:r>
              <a:rPr lang="fr-FR" dirty="0"/>
              <a:t>DRAW-MNIST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76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434" y="1759076"/>
            <a:ext cx="5314618" cy="39899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457201"/>
            <a:ext cx="6663807" cy="885216"/>
          </a:xfrm>
        </p:spPr>
        <p:txBody>
          <a:bodyPr/>
          <a:lstStyle/>
          <a:p>
            <a:pPr eaLnBrk="1" hangingPunct="1"/>
            <a:r>
              <a:rPr lang="fr-FR" dirty="0"/>
              <a:t>DRAW-2digits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077" y="1571035"/>
            <a:ext cx="5642030" cy="42357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4" y="457201"/>
            <a:ext cx="6362196" cy="875488"/>
          </a:xfrm>
        </p:spPr>
        <p:txBody>
          <a:bodyPr/>
          <a:lstStyle/>
          <a:p>
            <a:pPr eaLnBrk="1" hangingPunct="1"/>
            <a:r>
              <a:rPr lang="fr-FR" dirty="0"/>
              <a:t>Vers les AGI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78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438" y="5059213"/>
            <a:ext cx="2690812" cy="1066800"/>
          </a:xfrm>
          <a:prstGeom prst="rect">
            <a:avLst/>
          </a:prstGeom>
        </p:spPr>
      </p:pic>
      <p:pic>
        <p:nvPicPr>
          <p:cNvPr id="6" name="Picture 2" descr="E:\DDisk\Personel\Projet X\Presentation_AI_new\from-narrow-ai-to-artificial-general-intelligence-agi-10-63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47" y="4104456"/>
            <a:ext cx="2692596" cy="202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772" y="476655"/>
            <a:ext cx="2376264" cy="144251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146103"/>
              </p:ext>
            </p:extLst>
          </p:nvPr>
        </p:nvGraphicFramePr>
        <p:xfrm>
          <a:off x="2296319" y="1470341"/>
          <a:ext cx="5544616" cy="4049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3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42377">
                <a:tc>
                  <a:txBody>
                    <a:bodyPr/>
                    <a:lstStyle/>
                    <a:p>
                      <a:r>
                        <a:rPr lang="fr-FR" dirty="0"/>
                        <a:t>Paradigme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48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Mécanisme d’attention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(DRAW)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Simplifier l’inférence par la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4851">
                <a:tc>
                  <a:txBody>
                    <a:bodyPr/>
                    <a:lstStyle/>
                    <a:p>
                      <a:r>
                        <a:rPr lang="fr-FR" sz="1400" dirty="0"/>
                        <a:t>LSTM</a:t>
                      </a:r>
                    </a:p>
                    <a:p>
                      <a:r>
                        <a:rPr lang="fr-FR" sz="1400" dirty="0"/>
                        <a:t>(RNN)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Structurer l’inférence par un raisonnement par étape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32251">
                <a:tc>
                  <a:txBody>
                    <a:bodyPr/>
                    <a:lstStyle/>
                    <a:p>
                      <a:r>
                        <a:rPr lang="fr-FR" sz="1400" dirty="0"/>
                        <a:t>Système génératif</a:t>
                      </a:r>
                    </a:p>
                    <a:p>
                      <a:r>
                        <a:rPr lang="fr-FR" sz="1400" dirty="0"/>
                        <a:t>(VAE)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Généraliser l’inférence grâce  aux capacités</a:t>
                      </a:r>
                      <a:r>
                        <a:rPr lang="fr-FR" sz="1400" baseline="0" dirty="0"/>
                        <a:t> </a:t>
                      </a:r>
                      <a:r>
                        <a:rPr lang="fr-FR" sz="1400" baseline="0" dirty="0" err="1"/>
                        <a:t>interpolatoires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32251">
                <a:tc>
                  <a:txBody>
                    <a:bodyPr/>
                    <a:lstStyle/>
                    <a:p>
                      <a:r>
                        <a:rPr lang="fr-FR" sz="1400" dirty="0"/>
                        <a:t>Algorithmique différentiable</a:t>
                      </a:r>
                    </a:p>
                    <a:p>
                      <a:r>
                        <a:rPr lang="fr-FR" sz="1400" dirty="0"/>
                        <a:t>(DNC)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Inférence hétérogène complexe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54851">
                <a:tc>
                  <a:txBody>
                    <a:bodyPr/>
                    <a:lstStyle/>
                    <a:p>
                      <a:r>
                        <a:rPr lang="fr-FR" sz="1400" dirty="0"/>
                        <a:t>Mémoires dynamiques</a:t>
                      </a:r>
                    </a:p>
                    <a:p>
                      <a:r>
                        <a:rPr lang="fr-FR" sz="1400" dirty="0"/>
                        <a:t>(GTMM)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Inférence </a:t>
                      </a:r>
                      <a:r>
                        <a:rPr lang="fr-FR" sz="1400" dirty="0" smtClean="0"/>
                        <a:t>avec mémoire long terme flexible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54851">
                <a:tc>
                  <a:txBody>
                    <a:bodyPr/>
                    <a:lstStyle/>
                    <a:p>
                      <a:r>
                        <a:rPr lang="fr-FR" sz="1400" dirty="0"/>
                        <a:t>Multi-Interfaces neuronaux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Inférence transférable, coopérative  et massive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DDisk\Personel\Projet X\Presentation_AI_new\dnc_figure1.width-1500_QxBMUD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58407"/>
            <a:ext cx="8273260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788021" y="35256"/>
            <a:ext cx="7052914" cy="90433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DNC: algorithmique différentiable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79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750" y="1361533"/>
            <a:ext cx="12796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Contrôleur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2221" y="1396698"/>
            <a:ext cx="12796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Têtes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2381" y="1396698"/>
            <a:ext cx="12796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3493" y="1396698"/>
            <a:ext cx="73322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Liens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5203" y="1396698"/>
            <a:ext cx="113765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1108733"/>
            <a:ext cx="68610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u="sng" dirty="0"/>
              <a:t>Architecture générale du réseau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6199" y="2057431"/>
            <a:ext cx="9517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Ecriture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5017" y="2864124"/>
            <a:ext cx="10873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Lecture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0521" y="3369724"/>
            <a:ext cx="112186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Lecture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083" y="5529964"/>
            <a:ext cx="44615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DNC : généralisation du mécanisme d’attention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03355" y="4437141"/>
            <a:ext cx="4396058" cy="235322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30547" y="4383316"/>
                <a:ext cx="5104667" cy="3077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fr-FR" sz="12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sz="12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200" i="1">
                            <a:latin typeface="Cambria Math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fr-FR" sz="1200" b="0" i="1" smtClean="0">
                                <a:latin typeface="Cambria Math"/>
                              </a:rPr>
                              <m:t>,1</m:t>
                            </m:r>
                          </m:sup>
                        </m:sSubSup>
                        <m:r>
                          <a:rPr lang="fr-FR" sz="1200" i="1">
                            <a:latin typeface="Cambria Math"/>
                          </a:rPr>
                          <m:t>;…;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fr-FR" sz="12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fr-FR" sz="1200" b="0" i="1" smtClean="0">
                                <a:latin typeface="Cambria Math"/>
                              </a:rPr>
                              <m:t>𝑅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/>
                          </a:rPr>
                          <m:t>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fr-FR" sz="1200" b="0" i="1" smtClean="0">
                                <a:latin typeface="Cambria Math"/>
                              </a:rPr>
                              <m:t>,1</m:t>
                            </m:r>
                          </m:sup>
                        </m:sSubSup>
                        <m:r>
                          <a:rPr lang="fr-FR" sz="1200" i="1">
                            <a:latin typeface="Cambria Math"/>
                          </a:rPr>
                          <m:t>;…;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fr-FR" sz="12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fr-FR" sz="1200" b="0" i="1" smtClean="0">
                                <a:latin typeface="Cambria Math"/>
                              </a:rPr>
                              <m:t>𝑅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/>
                          </a:rPr>
                          <m:t>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𝑤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/>
                          </a:rPr>
                          <m:t>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𝑤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fr-FR" sz="12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sz="1200" b="0" i="1" smtClean="0"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sz="1200" b="0" i="1" smtClean="0">
                            <a:latin typeface="Cambria Math"/>
                          </a:rPr>
                          <m:t>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b="0" i="1" smtClean="0">
                                <a:latin typeface="Cambria Math"/>
                                <a:ea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r>
                          <a:rPr lang="fr-FR" sz="1200" i="1">
                            <a:latin typeface="Cambria Math"/>
                          </a:rPr>
                          <m:t>;…;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b="0" i="1" smtClean="0">
                                <a:latin typeface="Cambria Math"/>
                                <a:ea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𝑅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/>
                          </a:rPr>
                          <m:t>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𝑎</m:t>
                            </m:r>
                          </m:sup>
                        </m:sSubSup>
                        <m:r>
                          <a:rPr lang="fr-FR" sz="1200" i="1">
                            <a:latin typeface="Cambria Math"/>
                          </a:rPr>
                          <m:t>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b="0" i="1" smtClean="0">
                                <a:latin typeface="Cambria Math"/>
                                <a:ea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𝑤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/>
                          </a:rPr>
                          <m:t>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r>
                          <a:rPr lang="fr-FR" sz="1200" i="1">
                            <a:latin typeface="Cambria Math"/>
                          </a:rPr>
                          <m:t>;…;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𝑅</m:t>
                            </m:r>
                          </m:sup>
                        </m:sSubSup>
                      </m:e>
                    </m:d>
                  </m:oMath>
                </a14:m>
                <a:r>
                  <a:rPr lang="fr-FR" sz="120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547" y="4383316"/>
                <a:ext cx="5104667" cy="30771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8576" y="134689"/>
            <a:ext cx="6626130" cy="732366"/>
          </a:xfrm>
        </p:spPr>
        <p:txBody>
          <a:bodyPr/>
          <a:lstStyle/>
          <a:p>
            <a:pPr eaLnBrk="1" hangingPunct="1"/>
            <a:r>
              <a:rPr lang="fr-FR" dirty="0"/>
              <a:t>DNC : Contrôleur , Fonctions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80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27731" y="1799118"/>
            <a:ext cx="2520280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Controleur</a:t>
            </a:r>
            <a:endParaRPr lang="fr-FR" dirty="0"/>
          </a:p>
        </p:txBody>
      </p:sp>
      <p:sp>
        <p:nvSpPr>
          <p:cNvPr id="7" name="Right Arrow 6"/>
          <p:cNvSpPr/>
          <p:nvPr/>
        </p:nvSpPr>
        <p:spPr>
          <a:xfrm>
            <a:off x="3613926" y="2375182"/>
            <a:ext cx="79208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Down Arrow 7"/>
          <p:cNvSpPr/>
          <p:nvPr/>
        </p:nvSpPr>
        <p:spPr>
          <a:xfrm>
            <a:off x="5687871" y="3095262"/>
            <a:ext cx="108012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7610046" y="3996643"/>
            <a:ext cx="756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</a:t>
            </a:r>
            <a:r>
              <a:rPr lang="fr-FR" sz="1000" dirty="0" err="1"/>
              <a:t>Gate</a:t>
            </a:r>
            <a:endParaRPr lang="fr-F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6424875" y="3999256"/>
            <a:ext cx="9829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Allocation </a:t>
            </a:r>
            <a:r>
              <a:rPr lang="fr-FR" sz="1000" dirty="0" err="1"/>
              <a:t>Gate</a:t>
            </a:r>
            <a:endParaRPr lang="fr-FR" sz="1000" dirty="0"/>
          </a:p>
        </p:txBody>
      </p:sp>
      <p:cxnSp>
        <p:nvCxnSpPr>
          <p:cNvPr id="12" name="Straight Arrow Connector 11"/>
          <p:cNvCxnSpPr>
            <a:stCxn id="11" idx="2"/>
          </p:cNvCxnSpPr>
          <p:nvPr/>
        </p:nvCxnSpPr>
        <p:spPr>
          <a:xfrm>
            <a:off x="6916356" y="4245477"/>
            <a:ext cx="491480" cy="2037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2"/>
          </p:cNvCxnSpPr>
          <p:nvPr/>
        </p:nvCxnSpPr>
        <p:spPr>
          <a:xfrm flipH="1">
            <a:off x="7610046" y="4242864"/>
            <a:ext cx="378469" cy="1958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08263" y="4940741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Read Modes</a:t>
            </a:r>
          </a:p>
        </p:txBody>
      </p:sp>
      <p:sp>
        <p:nvSpPr>
          <p:cNvPr id="15" name="Right Brace 14"/>
          <p:cNvSpPr/>
          <p:nvPr/>
        </p:nvSpPr>
        <p:spPr>
          <a:xfrm rot="5400000">
            <a:off x="8014471" y="4480297"/>
            <a:ext cx="143152" cy="5646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Arrow Connector 15"/>
          <p:cNvCxnSpPr>
            <a:endCxn id="15" idx="1"/>
          </p:cNvCxnSpPr>
          <p:nvPr/>
        </p:nvCxnSpPr>
        <p:spPr>
          <a:xfrm flipV="1">
            <a:off x="8024402" y="4834181"/>
            <a:ext cx="61645" cy="159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71423" y="4957595"/>
            <a:ext cx="744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Free Gates</a:t>
            </a:r>
          </a:p>
        </p:txBody>
      </p:sp>
      <p:sp>
        <p:nvSpPr>
          <p:cNvPr id="18" name="Right Brace 17"/>
          <p:cNvSpPr/>
          <p:nvPr/>
        </p:nvSpPr>
        <p:spPr>
          <a:xfrm rot="5400000">
            <a:off x="6829041" y="4471921"/>
            <a:ext cx="143152" cy="5646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Straight Arrow Connector 18"/>
          <p:cNvCxnSpPr>
            <a:stCxn id="17" idx="0"/>
            <a:endCxn id="18" idx="1"/>
          </p:cNvCxnSpPr>
          <p:nvPr/>
        </p:nvCxnSpPr>
        <p:spPr>
          <a:xfrm flipH="1" flipV="1">
            <a:off x="6900617" y="4825805"/>
            <a:ext cx="42863" cy="1317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44010" y="4941210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Read </a:t>
            </a:r>
            <a:r>
              <a:rPr lang="fr-FR" sz="1000" dirty="0" err="1"/>
              <a:t>Strength</a:t>
            </a:r>
            <a:endParaRPr lang="fr-FR" sz="1000" dirty="0"/>
          </a:p>
        </p:txBody>
      </p:sp>
      <p:sp>
        <p:nvSpPr>
          <p:cNvPr id="21" name="Right Brace 20"/>
          <p:cNvSpPr/>
          <p:nvPr/>
        </p:nvSpPr>
        <p:spPr>
          <a:xfrm rot="5400000">
            <a:off x="5105334" y="4442788"/>
            <a:ext cx="143152" cy="5646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Straight Arrow Connector 21"/>
          <p:cNvCxnSpPr>
            <a:stCxn id="20" idx="0"/>
            <a:endCxn id="21" idx="1"/>
          </p:cNvCxnSpPr>
          <p:nvPr/>
        </p:nvCxnSpPr>
        <p:spPr>
          <a:xfrm flipV="1">
            <a:off x="5106637" y="4796672"/>
            <a:ext cx="70273" cy="1445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07880" y="4941210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Read Keys</a:t>
            </a:r>
          </a:p>
        </p:txBody>
      </p:sp>
      <p:sp>
        <p:nvSpPr>
          <p:cNvPr id="24" name="Right Brace 23"/>
          <p:cNvSpPr/>
          <p:nvPr/>
        </p:nvSpPr>
        <p:spPr>
          <a:xfrm rot="5400000">
            <a:off x="4245941" y="4447222"/>
            <a:ext cx="143152" cy="5646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Straight Arrow Connector 24"/>
          <p:cNvCxnSpPr>
            <a:stCxn id="23" idx="0"/>
            <a:endCxn id="24" idx="1"/>
          </p:cNvCxnSpPr>
          <p:nvPr/>
        </p:nvCxnSpPr>
        <p:spPr>
          <a:xfrm flipV="1">
            <a:off x="4064709" y="4801106"/>
            <a:ext cx="252808" cy="140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82880" y="581508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Key</a:t>
            </a:r>
          </a:p>
        </p:txBody>
      </p:sp>
      <p:cxnSp>
        <p:nvCxnSpPr>
          <p:cNvPr id="27" name="Elbow Connector 26"/>
          <p:cNvCxnSpPr>
            <a:stCxn id="26" idx="1"/>
          </p:cNvCxnSpPr>
          <p:nvPr/>
        </p:nvCxnSpPr>
        <p:spPr>
          <a:xfrm rot="10800000">
            <a:off x="5724160" y="4653170"/>
            <a:ext cx="358720" cy="128502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57763" y="5590635"/>
            <a:ext cx="9589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</a:t>
            </a:r>
            <a:r>
              <a:rPr lang="fr-FR" sz="1000" dirty="0" err="1"/>
              <a:t>Strength</a:t>
            </a:r>
            <a:endParaRPr lang="fr-FR" sz="1000" dirty="0"/>
          </a:p>
        </p:txBody>
      </p:sp>
      <p:cxnSp>
        <p:nvCxnSpPr>
          <p:cNvPr id="29" name="Elbow Connector 28"/>
          <p:cNvCxnSpPr>
            <a:stCxn id="28" idx="1"/>
          </p:cNvCxnSpPr>
          <p:nvPr/>
        </p:nvCxnSpPr>
        <p:spPr>
          <a:xfrm rot="10800000">
            <a:off x="6012201" y="4653170"/>
            <a:ext cx="145563" cy="106057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95408" y="542144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/>
              <a:t>Erase</a:t>
            </a:r>
            <a:r>
              <a:rPr lang="fr-FR" sz="1000" dirty="0"/>
              <a:t> </a:t>
            </a:r>
            <a:r>
              <a:rPr lang="fr-FR" sz="1000" dirty="0" err="1"/>
              <a:t>Vector</a:t>
            </a:r>
            <a:endParaRPr lang="fr-FR" sz="1000" dirty="0"/>
          </a:p>
        </p:txBody>
      </p:sp>
      <p:cxnSp>
        <p:nvCxnSpPr>
          <p:cNvPr id="31" name="Elbow Connector 30"/>
          <p:cNvCxnSpPr>
            <a:stCxn id="30" idx="1"/>
          </p:cNvCxnSpPr>
          <p:nvPr/>
        </p:nvCxnSpPr>
        <p:spPr>
          <a:xfrm rot="10800000">
            <a:off x="6269066" y="4653521"/>
            <a:ext cx="226343" cy="89103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41268" y="5210780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</a:t>
            </a:r>
            <a:r>
              <a:rPr lang="fr-FR" sz="1000" dirty="0" err="1"/>
              <a:t>Vector</a:t>
            </a:r>
            <a:endParaRPr lang="fr-FR" sz="1000" dirty="0"/>
          </a:p>
        </p:txBody>
      </p:sp>
      <p:cxnSp>
        <p:nvCxnSpPr>
          <p:cNvPr id="33" name="Elbow Connector 32"/>
          <p:cNvCxnSpPr>
            <a:stCxn id="32" idx="1"/>
          </p:cNvCxnSpPr>
          <p:nvPr/>
        </p:nvCxnSpPr>
        <p:spPr>
          <a:xfrm rot="10800000">
            <a:off x="6431694" y="4669195"/>
            <a:ext cx="209575" cy="66469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545838" y="2234846"/>
                <a:ext cx="1448986" cy="297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𝑦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200" b="0" i="1" smtClean="0">
                              <a:latin typeface="Cambria Math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200" b="0" i="1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p>
                          </m:sSubSup>
                          <m:r>
                            <a:rPr lang="fr-FR" sz="1200" b="0" i="1" smtClean="0">
                              <a:latin typeface="Cambria Math"/>
                            </a:rPr>
                            <m:t>;…;</m:t>
                          </m:r>
                          <m:sSubSup>
                            <m:sSubSup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b="0" i="1" smtClean="0">
                                  <a:latin typeface="Cambria Math"/>
                                </a:rPr>
                                <m:t>𝐿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838" y="2234846"/>
                <a:ext cx="1448986" cy="29726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5054501" y="3615908"/>
                <a:ext cx="1440907" cy="2990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fr-FR" sz="12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sz="12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fr-FR" sz="1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/>
                          </a:rPr>
                          <m:t>𝑊</m:t>
                        </m:r>
                      </m:e>
                      <m:sub>
                        <m:r>
                          <a:rPr lang="fr-FR" sz="1200" i="1">
                            <a:latin typeface="Cambria Math"/>
                            <a:ea typeface="Cambria Math"/>
                          </a:rPr>
                          <m:t>𝜉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200" i="1">
                            <a:latin typeface="Cambria Math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r>
                          <a:rPr lang="fr-FR" sz="1200" i="1">
                            <a:latin typeface="Cambria Math"/>
                          </a:rPr>
                          <m:t>;…;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𝐿</m:t>
                            </m:r>
                          </m:sup>
                        </m:sSubSup>
                      </m:e>
                    </m:d>
                  </m:oMath>
                </a14:m>
                <a:r>
                  <a:rPr lang="fr-FR" sz="1200" dirty="0"/>
                  <a:t> </a:t>
                </a: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501" y="3615908"/>
                <a:ext cx="1440907" cy="299056"/>
              </a:xfrm>
              <a:prstGeom prst="rect">
                <a:avLst/>
              </a:prstGeom>
              <a:blipFill rotWithShape="1">
                <a:blip r:embed="rId4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/>
          <p:cNvSpPr/>
          <p:nvPr/>
        </p:nvSpPr>
        <p:spPr>
          <a:xfrm>
            <a:off x="6948011" y="2319764"/>
            <a:ext cx="532750" cy="1274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2807102" y="2319764"/>
                <a:ext cx="806824" cy="278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1</m:t>
                          </m:r>
                        </m:sup>
                      </m:sSubSup>
                      <m:r>
                        <a:rPr lang="fr-FR" sz="1200" i="1">
                          <a:latin typeface="Cambria Math"/>
                        </a:rPr>
                        <m:t>;…;</m:t>
                      </m:r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𝐿</m:t>
                          </m:r>
                        </m:sup>
                      </m:sSubSup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2" y="2319764"/>
                <a:ext cx="806824" cy="27841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7278072" y="2859288"/>
            <a:ext cx="933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Output </a:t>
            </a:r>
            <a:r>
              <a:rPr lang="fr-FR" sz="1000" dirty="0" err="1"/>
              <a:t>Vector</a:t>
            </a:r>
            <a:endParaRPr lang="fr-FR" sz="1000" dirty="0"/>
          </a:p>
        </p:txBody>
      </p:sp>
      <p:cxnSp>
        <p:nvCxnSpPr>
          <p:cNvPr id="39" name="Straight Arrow Connector 38"/>
          <p:cNvCxnSpPr>
            <a:stCxn id="38" idx="0"/>
          </p:cNvCxnSpPr>
          <p:nvPr/>
        </p:nvCxnSpPr>
        <p:spPr>
          <a:xfrm flipH="1" flipV="1">
            <a:off x="7723066" y="2469216"/>
            <a:ext cx="21641" cy="390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ight Brace 39"/>
          <p:cNvSpPr/>
          <p:nvPr/>
        </p:nvSpPr>
        <p:spPr>
          <a:xfrm rot="5400000">
            <a:off x="3115906" y="2404445"/>
            <a:ext cx="143152" cy="5646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1" name="Straight Arrow Connector 40"/>
          <p:cNvCxnSpPr>
            <a:endCxn id="40" idx="1"/>
          </p:cNvCxnSpPr>
          <p:nvPr/>
        </p:nvCxnSpPr>
        <p:spPr>
          <a:xfrm flipV="1">
            <a:off x="3145876" y="2758329"/>
            <a:ext cx="41606" cy="3471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46759" y="1968546"/>
            <a:ext cx="1334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L :Dimension du LSTM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3469790" y="2192436"/>
            <a:ext cx="0" cy="168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13926" y="3996643"/>
            <a:ext cx="1755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R: Nombre de têtes de lecture</a:t>
            </a:r>
          </a:p>
        </p:txBody>
      </p:sp>
      <p:cxnSp>
        <p:nvCxnSpPr>
          <p:cNvPr id="45" name="Straight Arrow Connector 44"/>
          <p:cNvCxnSpPr>
            <a:stCxn id="44" idx="2"/>
          </p:cNvCxnSpPr>
          <p:nvPr/>
        </p:nvCxnSpPr>
        <p:spPr>
          <a:xfrm>
            <a:off x="4491731" y="4242864"/>
            <a:ext cx="236917" cy="1958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89784" y="2192436"/>
            <a:ext cx="1903699" cy="7899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LSTM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293483" y="2411185"/>
            <a:ext cx="513619" cy="120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extBox 47"/>
          <p:cNvSpPr txBox="1"/>
          <p:nvPr/>
        </p:nvSpPr>
        <p:spPr>
          <a:xfrm>
            <a:off x="2699371" y="3111416"/>
            <a:ext cx="10358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Output du LSTM</a:t>
            </a:r>
          </a:p>
        </p:txBody>
      </p:sp>
      <p:sp>
        <p:nvSpPr>
          <p:cNvPr id="49" name="Bent-Up Arrow 48"/>
          <p:cNvSpPr/>
          <p:nvPr/>
        </p:nvSpPr>
        <p:spPr>
          <a:xfrm rot="16200000">
            <a:off x="4458799" y="494773"/>
            <a:ext cx="559511" cy="2006645"/>
          </a:xfrm>
          <a:prstGeom prst="bentUpArrow">
            <a:avLst>
              <a:gd name="adj1" fmla="val 11926"/>
              <a:gd name="adj2" fmla="val 14541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2928408" y="1146334"/>
                <a:ext cx="806824" cy="278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1</m:t>
                          </m:r>
                        </m:sup>
                      </m:sSubSup>
                      <m:r>
                        <a:rPr lang="fr-FR" sz="1200" i="1">
                          <a:latin typeface="Cambria Math"/>
                        </a:rPr>
                        <m:t>;…;</m:t>
                      </m:r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𝑅</m:t>
                          </m:r>
                        </m:sup>
                      </m:sSubSup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408" y="1146334"/>
                <a:ext cx="806824" cy="27841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/>
          <p:cNvSpPr txBox="1"/>
          <p:nvPr/>
        </p:nvSpPr>
        <p:spPr>
          <a:xfrm>
            <a:off x="3642952" y="1462070"/>
            <a:ext cx="17267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R:Nombre de têtes de lecture</a:t>
            </a:r>
          </a:p>
        </p:txBody>
      </p:sp>
      <p:cxnSp>
        <p:nvCxnSpPr>
          <p:cNvPr id="52" name="Straight Arrow Connector 51"/>
          <p:cNvCxnSpPr>
            <a:stCxn id="51" idx="1"/>
          </p:cNvCxnSpPr>
          <p:nvPr/>
        </p:nvCxnSpPr>
        <p:spPr>
          <a:xfrm flipH="1" flipV="1">
            <a:off x="3563860" y="1268700"/>
            <a:ext cx="79092" cy="3164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701189" y="900113"/>
            <a:ext cx="1483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Vecteurs lus en mémoire</a:t>
            </a:r>
          </a:p>
        </p:txBody>
      </p:sp>
      <p:sp>
        <p:nvSpPr>
          <p:cNvPr id="54" name="Bent-Up Arrow 53"/>
          <p:cNvSpPr/>
          <p:nvPr/>
        </p:nvSpPr>
        <p:spPr>
          <a:xfrm rot="10800000">
            <a:off x="1239846" y="1218337"/>
            <a:ext cx="1688561" cy="532881"/>
          </a:xfrm>
          <a:prstGeom prst="bentUpArrow">
            <a:avLst>
              <a:gd name="adj1" fmla="val 11926"/>
              <a:gd name="adj2" fmla="val 14541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677816" y="1813247"/>
                <a:ext cx="1513684" cy="278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1200" b="0" i="1" smtClean="0">
                              <a:latin typeface="Cambria Math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fr-FR" sz="120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/>
                                </a:rPr>
                                <m:t>;</m:t>
                              </m:r>
                              <m:r>
                                <a:rPr lang="fr-FR" sz="1200" i="1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i="1">
                                  <a:latin typeface="Cambria Math"/>
                                </a:rPr>
                                <m:t>1</m:t>
                              </m:r>
                            </m:sup>
                          </m:sSubSup>
                          <m:r>
                            <a:rPr lang="fr-FR" sz="1200" i="1">
                              <a:latin typeface="Cambria Math"/>
                            </a:rPr>
                            <m:t>;…;</m:t>
                          </m:r>
                          <m:sSubSup>
                            <m:sSubSup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i="1">
                                  <a:latin typeface="Cambria Math"/>
                                </a:rPr>
                                <m:t>𝑅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fr-FR" sz="1200" dirty="0"/>
                            <m:t> </m:t>
                          </m:r>
                        </m:e>
                      </m:d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16" y="1813247"/>
                <a:ext cx="1513684" cy="27841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1910284" y="1426940"/>
            <a:ext cx="936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Input du LSTM</a:t>
            </a:r>
          </a:p>
        </p:txBody>
      </p:sp>
      <p:cxnSp>
        <p:nvCxnSpPr>
          <p:cNvPr id="57" name="Elbow Connector 56"/>
          <p:cNvCxnSpPr>
            <a:stCxn id="56" idx="1"/>
            <a:endCxn id="73" idx="1"/>
          </p:cNvCxnSpPr>
          <p:nvPr/>
        </p:nvCxnSpPr>
        <p:spPr>
          <a:xfrm rot="10800000" flipV="1">
            <a:off x="1570896" y="1550051"/>
            <a:ext cx="339388" cy="139142"/>
          </a:xfrm>
          <a:prstGeom prst="bentConnector4">
            <a:avLst>
              <a:gd name="adj1" fmla="val 40862"/>
              <a:gd name="adj2" fmla="val 444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59271" y="1158651"/>
            <a:ext cx="837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Input </a:t>
            </a:r>
            <a:r>
              <a:rPr lang="fr-FR" sz="1000" dirty="0" err="1"/>
              <a:t>Vector</a:t>
            </a:r>
            <a:endParaRPr lang="fr-FR" sz="1000" dirty="0"/>
          </a:p>
        </p:txBody>
      </p:sp>
      <p:cxnSp>
        <p:nvCxnSpPr>
          <p:cNvPr id="59" name="Straight Arrow Connector 58"/>
          <p:cNvCxnSpPr>
            <a:stCxn id="58" idx="2"/>
          </p:cNvCxnSpPr>
          <p:nvPr/>
        </p:nvCxnSpPr>
        <p:spPr>
          <a:xfrm>
            <a:off x="677816" y="1404872"/>
            <a:ext cx="562030" cy="5249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07887" y="4422973"/>
            <a:ext cx="1515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Signaux de contrôle émis </a:t>
            </a:r>
          </a:p>
        </p:txBody>
      </p:sp>
      <p:cxnSp>
        <p:nvCxnSpPr>
          <p:cNvPr id="61" name="Straight Arrow Connector 60"/>
          <p:cNvCxnSpPr>
            <a:stCxn id="60" idx="3"/>
            <a:endCxn id="9" idx="1"/>
          </p:cNvCxnSpPr>
          <p:nvPr/>
        </p:nvCxnSpPr>
        <p:spPr>
          <a:xfrm flipV="1">
            <a:off x="2523045" y="4537173"/>
            <a:ext cx="1007502" cy="89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ight Brace 72"/>
          <p:cNvSpPr/>
          <p:nvPr/>
        </p:nvSpPr>
        <p:spPr>
          <a:xfrm rot="16200000" flipV="1">
            <a:off x="1508869" y="1381173"/>
            <a:ext cx="124054" cy="7400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52950" y="158782"/>
            <a:ext cx="7072369" cy="122738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Adressage par contenu de la mémoire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81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94272" y="4437112"/>
                <a:ext cx="1480149" cy="490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latin typeface="Cambria Math"/>
                          <a:ea typeface="Cambria Math"/>
                        </a:rPr>
                        <m:t>𝒟</m:t>
                      </m:r>
                      <m:d>
                        <m:dPr>
                          <m:ctrlPr>
                            <a:rPr lang="fr-FR" sz="1400" i="1" smtClean="0"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𝑢</m:t>
                          </m:r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𝑣</m:t>
                          </m:r>
                        </m:e>
                      </m:d>
                      <m:r>
                        <a:rPr lang="fr-FR" sz="14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𝑢</m:t>
                          </m:r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𝑣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fr-FR" sz="1400" i="1"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400" i="1">
                                  <a:latin typeface="Cambria Math"/>
                                  <a:ea typeface="Cambria Math"/>
                                </a:rPr>
                                <m:t>𝑢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fr-FR" sz="1400" i="1"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𝑣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272" y="4437112"/>
                <a:ext cx="1480149" cy="4905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19872" y="2780928"/>
                <a:ext cx="3205365" cy="5847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latin typeface="Cambria Math"/>
                          <a:ea typeface="Cambria Math"/>
                        </a:rPr>
                        <m:t>𝒞</m:t>
                      </m:r>
                      <m:d>
                        <m:dPr>
                          <m:ctrlPr>
                            <a:rPr lang="fr-FR" sz="1400" i="1" smtClean="0"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/>
                              <a:ea typeface="Cambria Math"/>
                            </a:rPr>
                            <m:t>𝑀</m:t>
                          </m:r>
                          <m:r>
                            <a:rPr lang="fr-FR" sz="1400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fr-FR" sz="1400" i="1">
                              <a:latin typeface="Cambria Math"/>
                              <a:ea typeface="Cambria Math"/>
                            </a:rPr>
                            <m:t>𝑘</m:t>
                          </m:r>
                          <m:r>
                            <a:rPr lang="fr-FR" sz="1400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fr-FR" sz="1400" dirty="0"/>
                            <m:t> </m:t>
                          </m:r>
                          <m:r>
                            <a:rPr lang="fr-FR" sz="1400" i="1" dirty="0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sz="1400" i="1" smtClean="0"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</m:e>
                      </m:d>
                      <m:r>
                        <a:rPr lang="fr-FR" sz="14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𝑒𝑥𝑝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sz="14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400" i="1">
                                  <a:latin typeface="Cambria Math"/>
                                  <a:ea typeface="Cambria Math"/>
                                </a:rPr>
                                <m:t>𝒟</m:t>
                              </m:r>
                              <m:d>
                                <m:dPr>
                                  <m:ctrlPr>
                                    <a:rPr lang="fr-FR" sz="1400" i="1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𝑘</m:t>
                                  </m:r>
                                  <m:r>
                                    <a:rPr lang="fr-FR" sz="1400" i="1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𝑀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fr-FR" sz="1400" b="0" i="1" smtClean="0">
                                          <a:latin typeface="Cambria Math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400" b="0" i="1" smtClean="0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/>
                                          <a:ea typeface="Cambria Math"/>
                                        </a:rPr>
                                        <m:t>,.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fr-FR" sz="1400" i="1" smtClean="0">
                                  <a:latin typeface="Cambria Math"/>
                                  <a:ea typeface="Cambria Math"/>
                                </a:rPr>
                                <m:t>𝛽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fr-FR" sz="14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fr-FR" sz="1400" i="1">
                                  <a:latin typeface="Cambria Math"/>
                                  <a:ea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fr-FR" sz="1400" i="1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i="1">
                                      <a:latin typeface="Cambria Math"/>
                                      <a:ea typeface="Cambria Math"/>
                                    </a:rPr>
                                    <m:t>𝒟</m:t>
                                  </m:r>
                                  <m:d>
                                    <m:dPr>
                                      <m:ctrlPr>
                                        <a:rPr lang="fr-FR" sz="1400" i="1">
                                          <a:latin typeface="Cambria Math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400" i="1">
                                          <a:latin typeface="Cambria Math"/>
                                          <a:ea typeface="Cambria Math"/>
                                        </a:rPr>
                                        <m:t>𝑘</m:t>
                                      </m:r>
                                      <m:r>
                                        <a:rPr lang="fr-FR" sz="1400" i="1">
                                          <a:latin typeface="Cambria Math"/>
                                          <a:ea typeface="Cambria Math"/>
                                        </a:rPr>
                                        <m:t>,</m:t>
                                      </m:r>
                                      <m:r>
                                        <a:rPr lang="fr-FR" sz="1400" i="1">
                                          <a:latin typeface="Cambria Math"/>
                                          <a:ea typeface="Cambria Math"/>
                                        </a:rPr>
                                        <m:t>𝑀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fr-FR" sz="1400" i="1">
                                              <a:latin typeface="Cambria Math" charset="0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fr-FR" sz="14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𝑗</m:t>
                                          </m:r>
                                          <m:r>
                                            <a:rPr lang="fr-FR" sz="1400" i="1">
                                              <a:latin typeface="Cambria Math"/>
                                              <a:ea typeface="Cambria Math"/>
                                            </a:rPr>
                                            <m:t>,.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fr-FR" sz="1400" i="1">
                                      <a:latin typeface="Cambria Math"/>
                                      <a:ea typeface="Cambria Math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2780928"/>
                <a:ext cx="3205365" cy="584712"/>
              </a:xfrm>
              <a:prstGeom prst="rect">
                <a:avLst/>
              </a:prstGeom>
              <a:blipFill rotWithShape="1">
                <a:blip r:embed="rId3"/>
                <a:stretch>
                  <a:fillRect t="-12500" b="-78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3720597" y="1979292"/>
            <a:ext cx="1800309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131840" y="1760723"/>
            <a:ext cx="1141390" cy="2160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clé</a:t>
            </a:r>
          </a:p>
        </p:txBody>
      </p:sp>
      <p:sp>
        <p:nvSpPr>
          <p:cNvPr id="9" name="Rectangle 8"/>
          <p:cNvSpPr/>
          <p:nvPr/>
        </p:nvSpPr>
        <p:spPr>
          <a:xfrm>
            <a:off x="5137326" y="1766611"/>
            <a:ext cx="1141390" cy="2160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Mémoire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76232" y="1768543"/>
            <a:ext cx="1296144" cy="5812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Facteur de focalisation</a:t>
            </a:r>
          </a:p>
        </p:txBody>
      </p:sp>
      <p:cxnSp>
        <p:nvCxnSpPr>
          <p:cNvPr id="11" name="Straight Arrow Connector 10"/>
          <p:cNvCxnSpPr>
            <a:stCxn id="9" idx="2"/>
          </p:cNvCxnSpPr>
          <p:nvPr/>
        </p:nvCxnSpPr>
        <p:spPr>
          <a:xfrm>
            <a:off x="5708021" y="1982635"/>
            <a:ext cx="0" cy="8607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2"/>
          </p:cNvCxnSpPr>
          <p:nvPr/>
        </p:nvCxnSpPr>
        <p:spPr>
          <a:xfrm flipH="1">
            <a:off x="6278716" y="2349797"/>
            <a:ext cx="1445588" cy="4935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76256" y="3038146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Softmax</a:t>
            </a:r>
            <a:endParaRPr lang="fr-FR" sz="1400" dirty="0"/>
          </a:p>
        </p:txBody>
      </p:sp>
      <p:sp>
        <p:nvSpPr>
          <p:cNvPr id="14" name="Oval 13"/>
          <p:cNvSpPr/>
          <p:nvPr/>
        </p:nvSpPr>
        <p:spPr>
          <a:xfrm>
            <a:off x="4584773" y="2653092"/>
            <a:ext cx="2040464" cy="770108"/>
          </a:xfrm>
          <a:prstGeom prst="ellipse">
            <a:avLst/>
          </a:prstGeom>
          <a:solidFill>
            <a:schemeClr val="accent5">
              <a:lumMod val="40000"/>
              <a:lumOff val="60000"/>
              <a:alpha val="12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cxnSp>
        <p:nvCxnSpPr>
          <p:cNvPr id="15" name="Straight Arrow Connector 14"/>
          <p:cNvCxnSpPr>
            <a:stCxn id="13" idx="1"/>
            <a:endCxn id="6" idx="3"/>
          </p:cNvCxnSpPr>
          <p:nvPr/>
        </p:nvCxnSpPr>
        <p:spPr>
          <a:xfrm flipH="1" flipV="1">
            <a:off x="6625237" y="3073284"/>
            <a:ext cx="251019" cy="1187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10945" y="3813974"/>
            <a:ext cx="1572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Produit scalaire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7664" y="4481792"/>
            <a:ext cx="245843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sz="1400" dirty="0">
                <a:solidFill>
                  <a:schemeClr val="tx1"/>
                </a:solidFill>
              </a:rPr>
              <a:t>« Cosinus de similarité 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03648" y="3717032"/>
            <a:ext cx="5076602" cy="1584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20" name="TextBox 19"/>
          <p:cNvSpPr txBox="1"/>
          <p:nvPr/>
        </p:nvSpPr>
        <p:spPr>
          <a:xfrm>
            <a:off x="1357662" y="2206834"/>
            <a:ext cx="28889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Distribution de probabilité </a:t>
            </a:r>
          </a:p>
          <a:p>
            <a:r>
              <a:rPr lang="fr-FR" sz="1400" dirty="0"/>
              <a:t>Sur l’ensemble de la mémoire</a:t>
            </a:r>
          </a:p>
        </p:txBody>
      </p:sp>
      <p:cxnSp>
        <p:nvCxnSpPr>
          <p:cNvPr id="21" name="Straight Arrow Connector 20"/>
          <p:cNvCxnSpPr>
            <a:stCxn id="20" idx="2"/>
          </p:cNvCxnSpPr>
          <p:nvPr/>
        </p:nvCxnSpPr>
        <p:spPr>
          <a:xfrm>
            <a:off x="2802128" y="2730054"/>
            <a:ext cx="761760" cy="292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2"/>
          </p:cNvCxnSpPr>
          <p:nvPr/>
        </p:nvCxnSpPr>
        <p:spPr bwMode="auto">
          <a:xfrm>
            <a:off x="5097378" y="4121751"/>
            <a:ext cx="337264" cy="3600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847944" y="-116986"/>
            <a:ext cx="7032242" cy="111957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DNC : Contrôleur : Ecriture mémoire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82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17193" y="5117092"/>
            <a:ext cx="288032" cy="18057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4687340" y="4571538"/>
            <a:ext cx="288032" cy="18057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5217246" y="3363425"/>
            <a:ext cx="288032" cy="1959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4666602" y="5054097"/>
            <a:ext cx="340936" cy="2682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4193597" y="4514963"/>
            <a:ext cx="340936" cy="2682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3283109" y="4514963"/>
            <a:ext cx="340936" cy="2682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414411" y="5080552"/>
            <a:ext cx="201083" cy="241777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4335603" y="2160692"/>
            <a:ext cx="225112" cy="21361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4125013" y="2165549"/>
            <a:ext cx="166154" cy="189818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3273030" y="2184486"/>
            <a:ext cx="166154" cy="189818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3016482" y="2160692"/>
            <a:ext cx="166154" cy="189818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6201310" y="3369549"/>
            <a:ext cx="240072" cy="211928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6481400" y="3363423"/>
            <a:ext cx="222668" cy="210573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2595682" y="2125905"/>
            <a:ext cx="226580" cy="2619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2499791" y="1204123"/>
            <a:ext cx="2513224" cy="475748"/>
          </a:xfrm>
          <a:prstGeom prst="rect">
            <a:avLst/>
          </a:prstGeom>
          <a:solidFill>
            <a:srgbClr val="5F82CF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3853470" y="1308487"/>
            <a:ext cx="226580" cy="2619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4450297" y="1316341"/>
            <a:ext cx="226580" cy="2619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3439184" y="2184486"/>
            <a:ext cx="198235" cy="1898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70076" y="2110489"/>
                <a:ext cx="23079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𝑤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𝑔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𝑤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i="1">
                                  <a:latin typeface="Cambria Math"/>
                                  <a:ea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b="0" i="1" smtClean="0">
                                  <a:latin typeface="Cambria Math"/>
                                </a:rPr>
                                <m:t>𝑎</m:t>
                              </m:r>
                            </m:sup>
                          </m:sSubSup>
                          <m:r>
                            <a:rPr lang="fr-FR" sz="12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fr-FR" sz="120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fr-FR" sz="12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fr-FR" sz="1200" i="1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200" i="1">
                                      <a:latin typeface="Cambria Math"/>
                                      <a:ea typeface="Cambria Math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fr-FR" sz="1200" i="1">
                                      <a:latin typeface="Cambria Math"/>
                                    </a:rPr>
                                    <m:t>𝑎</m:t>
                                  </m:r>
                                </m:sup>
                              </m:sSubSup>
                            </m:e>
                          </m:d>
                          <m:sSubSup>
                            <m:sSubSup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fr-FR" sz="12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i="1">
                                  <a:latin typeface="Cambria Math"/>
                                </a:rPr>
                                <m:t>𝑤</m:t>
                              </m:r>
                            </m:sup>
                          </m:sSubSup>
                          <m:r>
                            <a:rPr lang="fr-FR" sz="1200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076" y="2110489"/>
                <a:ext cx="2307939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3682891" y="3340288"/>
            <a:ext cx="170579" cy="2411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/>
          <p:cNvSpPr/>
          <p:nvPr/>
        </p:nvSpPr>
        <p:spPr>
          <a:xfrm>
            <a:off x="2731915" y="3321607"/>
            <a:ext cx="180695" cy="237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/>
          <p:cNvSpPr/>
          <p:nvPr/>
        </p:nvSpPr>
        <p:spPr>
          <a:xfrm>
            <a:off x="1634634" y="3340288"/>
            <a:ext cx="198235" cy="1898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562124" y="3103090"/>
                <a:ext cx="2801941" cy="618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/>
                                  <a:ea typeface="Cambria Math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fr-FR" sz="120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</m:e>
                      </m:d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/>
                                      <a:ea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sz="12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i="1">
                                      <a:latin typeface="Cambria Math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</m:e>
                      </m:d>
                      <m:nary>
                        <m:naryPr>
                          <m:chr m:val="∏"/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/>
                            </a:rPr>
                            <m:t>𝑖</m:t>
                          </m:r>
                          <m:r>
                            <a:rPr lang="fr-FR" sz="12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/>
                                      <a:ea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sz="12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24" y="3103090"/>
                <a:ext cx="2801941" cy="6180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2839601" y="4542006"/>
            <a:ext cx="282953" cy="2411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2392310" y="4540455"/>
            <a:ext cx="241611" cy="2427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331730" y="4506196"/>
                <a:ext cx="26920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fr-FR" sz="12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sz="12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fr-FR" sz="1200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  <m:r>
                              <a:rPr lang="fr-FR" sz="1200" i="1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sz="1200" b="0" i="1" smtClean="0">
                            <a:latin typeface="Cambria Math"/>
                          </a:rPr>
                          <m:t>+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  <m:r>
                              <a:rPr lang="fr-FR" sz="1200" b="0" i="1" smtClean="0">
                                <a:latin typeface="Cambria Math"/>
                              </a:rPr>
                              <m:t>−1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𝑤</m:t>
                            </m:r>
                          </m:sup>
                        </m:sSubSup>
                        <m:r>
                          <a:rPr lang="fr-FR" sz="12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  <m:r>
                              <a:rPr lang="fr-FR" sz="1200" i="1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sz="1200" i="1">
                            <a:latin typeface="Cambria Math"/>
                            <a:ea typeface="Cambria Math"/>
                          </a:rPr>
                          <m:t>∘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  <m:r>
                              <a:rPr lang="fr-FR" sz="1200" b="0" i="1" smtClean="0">
                                <a:latin typeface="Cambria Math"/>
                              </a:rPr>
                              <m:t>−1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𝑤</m:t>
                            </m:r>
                          </m:sup>
                        </m:sSubSup>
                      </m:e>
                    </m:d>
                  </m:oMath>
                </a14:m>
                <a:r>
                  <a:rPr lang="fr-FR" sz="12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/>
                        <a:ea typeface="Cambria Math"/>
                      </a:rPr>
                      <m:t>∘</m:t>
                    </m:r>
                    <m:sSub>
                      <m:sSubPr>
                        <m:ctrlPr>
                          <a:rPr lang="fr-FR" sz="1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  <m:sub>
                        <m:r>
                          <a:rPr lang="fr-FR" sz="12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30" y="4506196"/>
                <a:ext cx="2692019" cy="276999"/>
              </a:xfrm>
              <a:prstGeom prst="rect">
                <a:avLst/>
              </a:prstGeom>
              <a:blipFill rotWithShape="1"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633921" y="5557048"/>
                <a:ext cx="17328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fr-FR" sz="1200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1200" b="0" i="0" smtClean="0">
                          <a:latin typeface="Cambria Math"/>
                        </a:rPr>
                        <m:t>ClassifyIndex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921" y="5557048"/>
                <a:ext cx="1732846" cy="276999"/>
              </a:xfrm>
              <a:prstGeom prst="rect">
                <a:avLst/>
              </a:prstGeom>
              <a:blipFill rotWithShape="1"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106870" y="1749834"/>
            <a:ext cx="756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</a:t>
            </a:r>
            <a:r>
              <a:rPr lang="fr-FR" sz="1000" dirty="0" err="1"/>
              <a:t>Gate</a:t>
            </a:r>
            <a:endParaRPr lang="fr-FR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4208090" y="1789321"/>
            <a:ext cx="9829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Allocation </a:t>
            </a:r>
            <a:r>
              <a:rPr lang="fr-FR" sz="1000" dirty="0" err="1"/>
              <a:t>Gate</a:t>
            </a:r>
            <a:endParaRPr lang="fr-FR" sz="1000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3345038" y="1914573"/>
            <a:ext cx="890174" cy="2373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49362" y="5365061"/>
            <a:ext cx="744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Free Gates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6748" y="311720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6845" y="3499363"/>
            <a:ext cx="9589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</a:t>
            </a:r>
            <a:r>
              <a:rPr lang="fr-FR" sz="1000" dirty="0" err="1"/>
              <a:t>Strength</a:t>
            </a:r>
            <a:endParaRPr lang="fr-FR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5772714" y="1872944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/>
              <a:t>Erase</a:t>
            </a:r>
            <a:r>
              <a:rPr lang="fr-FR" sz="1000" dirty="0"/>
              <a:t> </a:t>
            </a:r>
            <a:r>
              <a:rPr lang="fr-FR" sz="1000" dirty="0" err="1"/>
              <a:t>Vector</a:t>
            </a:r>
            <a:endParaRPr lang="fr-FR" sz="1000" dirty="0"/>
          </a:p>
        </p:txBody>
      </p:sp>
      <p:sp>
        <p:nvSpPr>
          <p:cNvPr id="39" name="TextBox 38"/>
          <p:cNvSpPr txBox="1"/>
          <p:nvPr/>
        </p:nvSpPr>
        <p:spPr>
          <a:xfrm>
            <a:off x="5925114" y="1666211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</a:t>
            </a:r>
            <a:r>
              <a:rPr lang="fr-FR" sz="1000" dirty="0" err="1"/>
              <a:t>Vector</a:t>
            </a:r>
            <a:endParaRPr lang="fr-FR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1040186" y="2151950"/>
            <a:ext cx="1043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</a:t>
            </a:r>
            <a:r>
              <a:rPr lang="fr-FR" sz="1000" dirty="0" err="1"/>
              <a:t>Weighting</a:t>
            </a:r>
            <a:endParaRPr lang="fr-FR" sz="1000" dirty="0"/>
          </a:p>
        </p:txBody>
      </p:sp>
      <p:cxnSp>
        <p:nvCxnSpPr>
          <p:cNvPr id="41" name="Straight Arrow Connector 40"/>
          <p:cNvCxnSpPr>
            <a:stCxn id="40" idx="3"/>
          </p:cNvCxnSpPr>
          <p:nvPr/>
        </p:nvCxnSpPr>
        <p:spPr>
          <a:xfrm>
            <a:off x="2084062" y="2275061"/>
            <a:ext cx="54985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6" idx="1"/>
          </p:cNvCxnSpPr>
          <p:nvPr/>
        </p:nvCxnSpPr>
        <p:spPr>
          <a:xfrm flipH="1">
            <a:off x="6348453" y="3240315"/>
            <a:ext cx="968295" cy="123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 flipV="1">
            <a:off x="6564477" y="3499363"/>
            <a:ext cx="792368" cy="123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8" idx="1"/>
          </p:cNvCxnSpPr>
          <p:nvPr/>
        </p:nvCxnSpPr>
        <p:spPr>
          <a:xfrm flipH="1" flipV="1">
            <a:off x="4137126" y="1570418"/>
            <a:ext cx="1635588" cy="4256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9" idx="1"/>
          </p:cNvCxnSpPr>
          <p:nvPr/>
        </p:nvCxnSpPr>
        <p:spPr>
          <a:xfrm flipH="1" flipV="1">
            <a:off x="4758292" y="1570418"/>
            <a:ext cx="1166822" cy="2189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12098" y="866727"/>
            <a:ext cx="13438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Write </a:t>
            </a:r>
            <a:r>
              <a:rPr lang="fr-FR" sz="1000" dirty="0" err="1"/>
              <a:t>Weighting</a:t>
            </a:r>
            <a:endParaRPr lang="fr-FR" sz="1000" dirty="0"/>
          </a:p>
        </p:txBody>
      </p:sp>
      <p:cxnSp>
        <p:nvCxnSpPr>
          <p:cNvPr id="47" name="Straight Arrow Connector 46"/>
          <p:cNvCxnSpPr>
            <a:stCxn id="46" idx="2"/>
          </p:cNvCxnSpPr>
          <p:nvPr/>
        </p:nvCxnSpPr>
        <p:spPr>
          <a:xfrm flipH="1">
            <a:off x="4512098" y="1112948"/>
            <a:ext cx="671917" cy="3071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42564" y="2785255"/>
            <a:ext cx="1494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Write Content </a:t>
            </a:r>
            <a:r>
              <a:rPr lang="fr-FR" sz="1000" dirty="0" err="1"/>
              <a:t>Weighting</a:t>
            </a:r>
            <a:endParaRPr lang="fr-FR" sz="1000" dirty="0"/>
          </a:p>
        </p:txBody>
      </p:sp>
      <p:sp>
        <p:nvSpPr>
          <p:cNvPr id="49" name="TextBox 48"/>
          <p:cNvSpPr txBox="1"/>
          <p:nvPr/>
        </p:nvSpPr>
        <p:spPr>
          <a:xfrm>
            <a:off x="3332089" y="4188896"/>
            <a:ext cx="14959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Utilisation de la mémoire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29910" y="2778117"/>
            <a:ext cx="12698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Allocation </a:t>
            </a:r>
            <a:r>
              <a:rPr lang="fr-FR" sz="1000" dirty="0" err="1"/>
              <a:t>Weighting</a:t>
            </a:r>
            <a:endParaRPr lang="fr-FR" sz="1000" dirty="0"/>
          </a:p>
        </p:txBody>
      </p:sp>
      <p:cxnSp>
        <p:nvCxnSpPr>
          <p:cNvPr id="51" name="Straight Arrow Connector 50"/>
          <p:cNvCxnSpPr>
            <a:stCxn id="32" idx="3"/>
          </p:cNvCxnSpPr>
          <p:nvPr/>
        </p:nvCxnSpPr>
        <p:spPr>
          <a:xfrm>
            <a:off x="2863808" y="1872945"/>
            <a:ext cx="193198" cy="279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247996" y="2770980"/>
            <a:ext cx="3231623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/>
          <p:cNvSpPr/>
          <p:nvPr/>
        </p:nvSpPr>
        <p:spPr>
          <a:xfrm>
            <a:off x="5066689" y="2778117"/>
            <a:ext cx="3231623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Straight Arrow Connector 53"/>
          <p:cNvCxnSpPr>
            <a:stCxn id="50" idx="0"/>
          </p:cNvCxnSpPr>
          <p:nvPr/>
        </p:nvCxnSpPr>
        <p:spPr>
          <a:xfrm flipV="1">
            <a:off x="2764860" y="2319225"/>
            <a:ext cx="715389" cy="4588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8" idx="0"/>
          </p:cNvCxnSpPr>
          <p:nvPr/>
        </p:nvCxnSpPr>
        <p:spPr>
          <a:xfrm flipH="1" flipV="1">
            <a:off x="4364065" y="2319225"/>
            <a:ext cx="2325659" cy="4660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35" idx="1"/>
          </p:cNvCxnSpPr>
          <p:nvPr/>
        </p:nvCxnSpPr>
        <p:spPr>
          <a:xfrm flipH="1" flipV="1">
            <a:off x="4512098" y="5269016"/>
            <a:ext cx="537264" cy="2191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997891" y="4188896"/>
            <a:ext cx="3992752" cy="17677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8" name="Straight Arrow Connector 57"/>
          <p:cNvCxnSpPr>
            <a:stCxn id="57" idx="0"/>
          </p:cNvCxnSpPr>
          <p:nvPr/>
        </p:nvCxnSpPr>
        <p:spPr>
          <a:xfrm flipH="1" flipV="1">
            <a:off x="2791805" y="3560918"/>
            <a:ext cx="1202462" cy="6279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7" idx="0"/>
          </p:cNvCxnSpPr>
          <p:nvPr/>
        </p:nvCxnSpPr>
        <p:spPr>
          <a:xfrm flipH="1" flipV="1">
            <a:off x="3790125" y="3560918"/>
            <a:ext cx="204142" cy="6279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997891" y="5382544"/>
            <a:ext cx="10038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Vecteur d’index</a:t>
            </a:r>
          </a:p>
        </p:txBody>
      </p:sp>
      <p:cxnSp>
        <p:nvCxnSpPr>
          <p:cNvPr id="61" name="Straight Arrow Connector 60"/>
          <p:cNvCxnSpPr>
            <a:stCxn id="60" idx="2"/>
          </p:cNvCxnSpPr>
          <p:nvPr/>
        </p:nvCxnSpPr>
        <p:spPr>
          <a:xfrm>
            <a:off x="2499792" y="5628765"/>
            <a:ext cx="265067" cy="667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042775" y="4876530"/>
            <a:ext cx="18453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Vecteur de rétention mémoire</a:t>
            </a:r>
          </a:p>
        </p:txBody>
      </p:sp>
      <p:cxnSp>
        <p:nvCxnSpPr>
          <p:cNvPr id="63" name="Straight Arrow Connector 62"/>
          <p:cNvCxnSpPr>
            <a:stCxn id="62" idx="2"/>
            <a:endCxn id="66" idx="1"/>
          </p:cNvCxnSpPr>
          <p:nvPr/>
        </p:nvCxnSpPr>
        <p:spPr>
          <a:xfrm>
            <a:off x="2965464" y="5122751"/>
            <a:ext cx="434345" cy="527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912610" y="866726"/>
            <a:ext cx="13438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Vecteur de 1s</a:t>
            </a:r>
          </a:p>
        </p:txBody>
      </p:sp>
      <p:cxnSp>
        <p:nvCxnSpPr>
          <p:cNvPr id="65" name="Straight Arrow Connector 64"/>
          <p:cNvCxnSpPr>
            <a:stCxn id="64" idx="2"/>
          </p:cNvCxnSpPr>
          <p:nvPr/>
        </p:nvCxnSpPr>
        <p:spPr>
          <a:xfrm>
            <a:off x="3584527" y="1112947"/>
            <a:ext cx="9879" cy="3071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399809" y="4869641"/>
                <a:ext cx="1750799" cy="6116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sz="12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𝑅</m:t>
                          </m:r>
                        </m:sup>
                        <m:e>
                          <m:d>
                            <m:dPr>
                              <m:ctrlPr>
                                <a:rPr lang="fr-FR" sz="12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fr-FR" sz="1200" i="1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200" i="1">
                                      <a:latin typeface="Cambria Math"/>
                                      <a:ea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𝑖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fr-FR" sz="1200" i="1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  </m:t>
                                  </m:r>
                                  <m:r>
                                    <a:rPr lang="fr-FR" sz="12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fr-FR" sz="1200" b="0" i="1" smtClean="0">
                                      <a:latin typeface="Cambria Math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fr-FR" sz="1200" i="1">
                                      <a:latin typeface="Cambria Math"/>
                                    </a:rPr>
                                    <m:t>𝑟</m:t>
                                  </m:r>
                                  <m:r>
                                    <a:rPr lang="fr-FR" sz="12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fr-FR" sz="1200" i="1">
                                      <a:latin typeface="Cambria Math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809" y="4869641"/>
                <a:ext cx="1750799" cy="61164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/>
          <p:cNvSpPr/>
          <p:nvPr/>
        </p:nvSpPr>
        <p:spPr>
          <a:xfrm>
            <a:off x="4692388" y="1306285"/>
            <a:ext cx="212141" cy="277978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5177674" y="3304478"/>
                <a:ext cx="17025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𝑤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r>
                        <a:rPr lang="fr-FR" sz="1200" i="1">
                          <a:latin typeface="Cambria Math"/>
                          <a:ea typeface="Cambria Math"/>
                        </a:rPr>
                        <m:t>𝒞</m:t>
                      </m:r>
                      <m:d>
                        <m:dPr>
                          <m:ctrlPr>
                            <a:rPr lang="fr-FR" sz="1200" i="1"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i="1">
                                  <a:latin typeface="Cambria Math"/>
                                </a:rPr>
                                <m:t>𝑤</m:t>
                              </m:r>
                            </m:sup>
                          </m:sSubSup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fr-FR" sz="1200" i="1">
                                  <a:latin typeface="Cambria Math"/>
                                  <a:ea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i="1">
                                  <a:latin typeface="Cambria Math"/>
                                </a:rPr>
                                <m:t>𝑤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674" y="3304478"/>
                <a:ext cx="1702517" cy="276999"/>
              </a:xfrm>
              <a:prstGeom prst="rect">
                <a:avLst/>
              </a:prstGeom>
              <a:blipFill rotWithShape="1"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2470076" y="1308487"/>
                <a:ext cx="2542939" cy="277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fr-FR" sz="1200" b="0" i="1" smtClean="0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fr-FR" sz="1200" b="0" i="1" smtClean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𝑡</m:t>
                          </m:r>
                          <m:r>
                            <a:rPr lang="fr-FR" sz="1200" b="0" i="1" smtClean="0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fr-FR" sz="1200" i="1" smtClean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/>
                          <a:ea typeface="Cambria Math"/>
                        </a:rPr>
                        <m:t>∘</m:t>
                      </m:r>
                      <m:d>
                        <m:dPr>
                          <m:ctrlPr>
                            <a:rPr lang="fr-FR" sz="1200" i="1" smtClean="0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𝐸</m:t>
                          </m:r>
                          <m:r>
                            <a:rPr lang="fr-FR" sz="1200" b="0" i="1" smtClean="0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200" i="1"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i="1"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200" i="1"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b="0" i="1" smtClean="0"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  <a:latin typeface="Cambria Math"/>
                                </a:rPr>
                                <m:t>𝑤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fr-FR" sz="1200" i="1"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b="0" i="1" smtClean="0"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sz="1200" i="1"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i="1"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  <a:latin typeface="Cambria Math"/>
                                  <a:ea typeface="Cambria Math"/>
                                </a:rPr>
                                <m:t>⊺</m:t>
                              </m:r>
                            </m:sup>
                          </m:sSubSup>
                        </m:e>
                      </m:d>
                      <m:r>
                        <a:rPr lang="fr-FR" sz="1200" b="0" i="1" smtClean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/>
                          <a:ea typeface="Cambria Math"/>
                        </a:rPr>
                        <m:t>+</m:t>
                      </m:r>
                      <m:sSubSup>
                        <m:sSubSupPr>
                          <m:ctrlP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𝑤</m:t>
                          </m:r>
                        </m:sup>
                      </m:sSubSup>
                      <m:sSubSup>
                        <m:sSubSupPr>
                          <m:ctrlP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⊺</m:t>
                          </m:r>
                        </m:sup>
                      </m:sSubSup>
                    </m:oMath>
                  </m:oMathPara>
                </a14:m>
                <a:endParaRPr lang="fr-FR" sz="1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076" y="1308487"/>
                <a:ext cx="2542939" cy="277640"/>
              </a:xfrm>
              <a:prstGeom prst="rect">
                <a:avLst/>
              </a:prstGeom>
              <a:blipFill rotWithShape="1"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" name="Picture 69"/>
          <p:cNvPicPr>
            <a:picLocks noChangeAspect="1"/>
          </p:cNvPicPr>
          <p:nvPr/>
        </p:nvPicPr>
        <p:blipFill>
          <a:blip r:embed="rId9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691533" y="27946"/>
            <a:ext cx="7602694" cy="1004310"/>
          </a:xfrm>
        </p:spPr>
        <p:txBody>
          <a:bodyPr/>
          <a:lstStyle/>
          <a:p>
            <a:pPr eaLnBrk="1" hangingPunct="1"/>
            <a:r>
              <a:rPr lang="fr-FR" sz="2800" dirty="0"/>
              <a:t>DNC : Contrôleur: lecture mémoire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83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09670" y="4058664"/>
            <a:ext cx="360040" cy="2889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5676517" y="5587793"/>
            <a:ext cx="255192" cy="2937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4786100" y="5601187"/>
            <a:ext cx="255192" cy="2937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535513" y="5240046"/>
            <a:ext cx="255192" cy="2937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5368973" y="5254119"/>
            <a:ext cx="255192" cy="2563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792405" y="5270115"/>
            <a:ext cx="255192" cy="26365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7942282" y="3940083"/>
            <a:ext cx="343915" cy="2619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4709328" y="3903798"/>
            <a:ext cx="166154" cy="189818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4913696" y="3915012"/>
            <a:ext cx="166154" cy="189818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3636528" y="2395757"/>
            <a:ext cx="190405" cy="219079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3170769" y="2361837"/>
            <a:ext cx="343915" cy="2619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4123624" y="926440"/>
            <a:ext cx="1928435" cy="475748"/>
          </a:xfrm>
          <a:prstGeom prst="rect">
            <a:avLst/>
          </a:prstGeom>
          <a:solidFill>
            <a:srgbClr val="DA7952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5172178" y="1042058"/>
            <a:ext cx="313355" cy="2619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6922238" y="5305230"/>
            <a:ext cx="288032" cy="180573"/>
          </a:xfrm>
          <a:prstGeom prst="rect">
            <a:avLst/>
          </a:prstGeom>
          <a:solidFill>
            <a:srgbClr val="C1B6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3067324" y="5677086"/>
            <a:ext cx="288032" cy="180573"/>
          </a:xfrm>
          <a:prstGeom prst="rect">
            <a:avLst/>
          </a:prstGeom>
          <a:solidFill>
            <a:srgbClr val="C1B6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3826933" y="5662862"/>
            <a:ext cx="288032" cy="172851"/>
          </a:xfrm>
          <a:prstGeom prst="rect">
            <a:avLst/>
          </a:prstGeom>
          <a:solidFill>
            <a:srgbClr val="C1B6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5220090" y="5661310"/>
            <a:ext cx="337724" cy="182125"/>
          </a:xfrm>
          <a:prstGeom prst="rect">
            <a:avLst/>
          </a:prstGeom>
          <a:solidFill>
            <a:srgbClr val="C1B6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5848866" y="5282010"/>
            <a:ext cx="281284" cy="203793"/>
          </a:xfrm>
          <a:prstGeom prst="rect">
            <a:avLst/>
          </a:prstGeom>
          <a:solidFill>
            <a:srgbClr val="FBE0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3834788" y="5281981"/>
            <a:ext cx="203193" cy="203793"/>
          </a:xfrm>
          <a:prstGeom prst="rect">
            <a:avLst/>
          </a:prstGeom>
          <a:solidFill>
            <a:srgbClr val="FBE0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/>
          <p:cNvSpPr/>
          <p:nvPr/>
        </p:nvSpPr>
        <p:spPr>
          <a:xfrm>
            <a:off x="2812924" y="5281982"/>
            <a:ext cx="203193" cy="203793"/>
          </a:xfrm>
          <a:prstGeom prst="rect">
            <a:avLst/>
          </a:prstGeom>
          <a:solidFill>
            <a:srgbClr val="FBE0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/>
          <p:cNvSpPr/>
          <p:nvPr/>
        </p:nvSpPr>
        <p:spPr>
          <a:xfrm>
            <a:off x="1706106" y="5270115"/>
            <a:ext cx="203193" cy="203793"/>
          </a:xfrm>
          <a:prstGeom prst="rect">
            <a:avLst/>
          </a:prstGeom>
          <a:solidFill>
            <a:srgbClr val="FBE0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/>
          <p:cNvSpPr/>
          <p:nvPr/>
        </p:nvSpPr>
        <p:spPr>
          <a:xfrm>
            <a:off x="7739089" y="3984339"/>
            <a:ext cx="203193" cy="203793"/>
          </a:xfrm>
          <a:prstGeom prst="rect">
            <a:avLst/>
          </a:prstGeom>
          <a:solidFill>
            <a:srgbClr val="FBE0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/>
          <p:cNvSpPr/>
          <p:nvPr/>
        </p:nvSpPr>
        <p:spPr>
          <a:xfrm>
            <a:off x="1606477" y="4093616"/>
            <a:ext cx="203193" cy="203793"/>
          </a:xfrm>
          <a:prstGeom prst="rect">
            <a:avLst/>
          </a:prstGeom>
          <a:solidFill>
            <a:srgbClr val="FBE0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>
            <a:off x="7426294" y="3952908"/>
            <a:ext cx="193208" cy="2009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5603590" y="2393551"/>
            <a:ext cx="193208" cy="2009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4792405" y="2404761"/>
            <a:ext cx="261727" cy="1959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3753886" y="3897685"/>
            <a:ext cx="261727" cy="1959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4081449" y="2409902"/>
            <a:ext cx="216024" cy="190790"/>
          </a:xfrm>
          <a:prstGeom prst="rect">
            <a:avLst/>
          </a:prstGeom>
          <a:solidFill>
            <a:srgbClr val="AED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1233606" y="4106619"/>
            <a:ext cx="216024" cy="190790"/>
          </a:xfrm>
          <a:prstGeom prst="rect">
            <a:avLst/>
          </a:prstGeom>
          <a:solidFill>
            <a:srgbClr val="AED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487696" y="997045"/>
                <a:ext cx="1065163" cy="3069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𝑖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 smtClean="0">
                              <a:latin typeface="Cambria Math"/>
                              <a:ea typeface="Cambria Math"/>
                            </a:rPr>
                            <m:t>⊺</m:t>
                          </m:r>
                        </m:sup>
                      </m:sSubSup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  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𝑟</m:t>
                          </m:r>
                          <m:r>
                            <a:rPr lang="fr-FR" sz="1200" i="1">
                              <a:latin typeface="Cambria Math"/>
                            </a:rPr>
                            <m:t>,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696" y="997045"/>
                <a:ext cx="1065163" cy="30694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702815" y="3837120"/>
                <a:ext cx="15669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𝑟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r>
                        <a:rPr lang="fr-FR" sz="1200" i="1">
                          <a:latin typeface="Cambria Math"/>
                          <a:ea typeface="Cambria Math"/>
                        </a:rPr>
                        <m:t>𝒞</m:t>
                      </m:r>
                      <m:d>
                        <m:dPr>
                          <m:ctrlPr>
                            <a:rPr lang="fr-FR" sz="1200" i="1"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b="0" i="1" smtClean="0">
                                  <a:latin typeface="Cambria Math"/>
                                </a:rPr>
                                <m:t>𝑟</m:t>
                              </m:r>
                            </m:sup>
                          </m:sSubSup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fr-FR" sz="1200" i="1">
                                  <a:latin typeface="Cambria Math"/>
                                  <a:ea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fr-FR" sz="1200" b="0" i="1" smtClean="0">
                                  <a:latin typeface="Cambria Math"/>
                                </a:rPr>
                                <m:t>𝑟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815" y="3837120"/>
                <a:ext cx="1566967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4157084" y="2012051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Read Modes</a:t>
            </a:r>
          </a:p>
        </p:txBody>
      </p:sp>
      <p:cxnSp>
        <p:nvCxnSpPr>
          <p:cNvPr id="40" name="Straight Arrow Connector 39"/>
          <p:cNvCxnSpPr>
            <a:stCxn id="39" idx="2"/>
          </p:cNvCxnSpPr>
          <p:nvPr/>
        </p:nvCxnSpPr>
        <p:spPr>
          <a:xfrm flipH="1">
            <a:off x="4474866" y="2258272"/>
            <a:ext cx="98358" cy="1621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037981" y="4247536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Read Keys</a:t>
            </a:r>
          </a:p>
        </p:txBody>
      </p:sp>
      <p:cxnSp>
        <p:nvCxnSpPr>
          <p:cNvPr id="42" name="Straight Arrow Connector 41"/>
          <p:cNvCxnSpPr>
            <a:stCxn id="41" idx="0"/>
          </p:cNvCxnSpPr>
          <p:nvPr/>
        </p:nvCxnSpPr>
        <p:spPr>
          <a:xfrm flipV="1">
            <a:off x="4394810" y="4093616"/>
            <a:ext cx="356828" cy="153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13056" y="1785713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Read </a:t>
            </a:r>
            <a:r>
              <a:rPr lang="fr-FR" sz="1000" dirty="0" err="1"/>
              <a:t>Weighting</a:t>
            </a:r>
            <a:endParaRPr lang="fr-FR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4934656" y="4243990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Read </a:t>
            </a:r>
            <a:r>
              <a:rPr lang="fr-FR" sz="1000" dirty="0" err="1"/>
              <a:t>Strength</a:t>
            </a:r>
            <a:endParaRPr lang="fr-FR" sz="1000" dirty="0"/>
          </a:p>
        </p:txBody>
      </p:sp>
      <p:cxnSp>
        <p:nvCxnSpPr>
          <p:cNvPr id="47" name="Straight Arrow Connector 46"/>
          <p:cNvCxnSpPr>
            <a:stCxn id="46" idx="0"/>
          </p:cNvCxnSpPr>
          <p:nvPr/>
        </p:nvCxnSpPr>
        <p:spPr>
          <a:xfrm flipH="1" flipV="1">
            <a:off x="4986614" y="4106619"/>
            <a:ext cx="410669" cy="1373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025590" y="3455712"/>
            <a:ext cx="1199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Content </a:t>
            </a:r>
            <a:r>
              <a:rPr lang="fr-FR" sz="1000" dirty="0" err="1"/>
              <a:t>Weighting</a:t>
            </a:r>
            <a:endParaRPr lang="fr-FR" sz="1000" dirty="0"/>
          </a:p>
        </p:txBody>
      </p:sp>
      <p:cxnSp>
        <p:nvCxnSpPr>
          <p:cNvPr id="49" name="Straight Arrow Connector 48"/>
          <p:cNvCxnSpPr>
            <a:stCxn id="48" idx="0"/>
          </p:cNvCxnSpPr>
          <p:nvPr/>
        </p:nvCxnSpPr>
        <p:spPr>
          <a:xfrm flipV="1">
            <a:off x="4625274" y="2569217"/>
            <a:ext cx="126364" cy="886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248216" y="3412848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Forward </a:t>
            </a:r>
            <a:r>
              <a:rPr lang="fr-FR" sz="1000" dirty="0" err="1"/>
              <a:t>Weighting</a:t>
            </a:r>
            <a:endParaRPr lang="fr-FR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977940" y="3590899"/>
            <a:ext cx="12570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Backward </a:t>
            </a:r>
            <a:r>
              <a:rPr lang="fr-FR" sz="1000" dirty="0" err="1"/>
              <a:t>Weighting</a:t>
            </a:r>
            <a:endParaRPr lang="fr-FR" sz="1000" dirty="0"/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1672755" y="2569217"/>
            <a:ext cx="2405426" cy="1009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820436" y="1782934"/>
            <a:ext cx="3231623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Straight Arrow Connector 53"/>
          <p:cNvCxnSpPr>
            <a:stCxn id="53" idx="0"/>
          </p:cNvCxnSpPr>
          <p:nvPr/>
        </p:nvCxnSpPr>
        <p:spPr>
          <a:xfrm flipV="1">
            <a:off x="4436248" y="1287424"/>
            <a:ext cx="734226" cy="495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562198" y="3412848"/>
            <a:ext cx="2376885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/>
          <p:cNvSpPr/>
          <p:nvPr/>
        </p:nvSpPr>
        <p:spPr>
          <a:xfrm>
            <a:off x="2997845" y="3455712"/>
            <a:ext cx="3231623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/>
          <p:cNvSpPr/>
          <p:nvPr/>
        </p:nvSpPr>
        <p:spPr>
          <a:xfrm>
            <a:off x="471136" y="3567380"/>
            <a:ext cx="2270685" cy="968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8" name="Straight Arrow Connector 57"/>
          <p:cNvCxnSpPr>
            <a:stCxn id="50" idx="0"/>
          </p:cNvCxnSpPr>
          <p:nvPr/>
        </p:nvCxnSpPr>
        <p:spPr>
          <a:xfrm flipH="1" flipV="1">
            <a:off x="5485533" y="2569217"/>
            <a:ext cx="2355153" cy="843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520015" y="5059009"/>
            <a:ext cx="6320671" cy="9665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0" name="Straight Arrow Connector 59"/>
          <p:cNvCxnSpPr>
            <a:stCxn id="59" idx="0"/>
            <a:endCxn id="38" idx="2"/>
          </p:cNvCxnSpPr>
          <p:nvPr/>
        </p:nvCxnSpPr>
        <p:spPr>
          <a:xfrm flipH="1" flipV="1">
            <a:off x="1661187" y="4347655"/>
            <a:ext cx="3019164" cy="7113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9" idx="0"/>
            <a:endCxn id="35" idx="2"/>
          </p:cNvCxnSpPr>
          <p:nvPr/>
        </p:nvCxnSpPr>
        <p:spPr>
          <a:xfrm flipV="1">
            <a:off x="4680351" y="4205526"/>
            <a:ext cx="3172358" cy="8534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905939" y="5059009"/>
            <a:ext cx="15488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Temporal memory linkage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64834" y="5603279"/>
            <a:ext cx="1337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/>
              <a:t>Precedence</a:t>
            </a:r>
            <a:r>
              <a:rPr lang="fr-FR" sz="1000" dirty="0"/>
              <a:t> </a:t>
            </a:r>
            <a:r>
              <a:rPr lang="fr-FR" sz="1000" dirty="0" err="1"/>
              <a:t>weighting</a:t>
            </a:r>
            <a:endParaRPr lang="fr-FR" sz="1000" dirty="0"/>
          </a:p>
        </p:txBody>
      </p:sp>
      <p:cxnSp>
        <p:nvCxnSpPr>
          <p:cNvPr id="64" name="Straight Arrow Connector 63"/>
          <p:cNvCxnSpPr>
            <a:stCxn id="39" idx="2"/>
          </p:cNvCxnSpPr>
          <p:nvPr/>
        </p:nvCxnSpPr>
        <p:spPr>
          <a:xfrm flipH="1">
            <a:off x="3702815" y="2258272"/>
            <a:ext cx="870409" cy="1621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9" idx="2"/>
          </p:cNvCxnSpPr>
          <p:nvPr/>
        </p:nvCxnSpPr>
        <p:spPr>
          <a:xfrm>
            <a:off x="4573224" y="2258272"/>
            <a:ext cx="651733" cy="1621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436248" y="2410874"/>
            <a:ext cx="166154" cy="189818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5205219" y="2411062"/>
            <a:ext cx="166154" cy="189818"/>
          </a:xfrm>
          <a:prstGeom prst="rect">
            <a:avLst/>
          </a:prstGeom>
          <a:solidFill>
            <a:srgbClr val="AD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3080504" y="5587793"/>
                <a:ext cx="2967736" cy="2771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fr-FR" sz="12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fr-FR" sz="12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fr-FR" sz="1200" dirty="0"/>
                  <a:t>  </a:t>
                </a:r>
                <a:r>
                  <a:rPr lang="fr-FR" sz="1000" dirty="0"/>
                  <a:t>et</a:t>
                </a:r>
                <a:r>
                  <a:rPr lang="fr-FR" sz="12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fr-FR" sz="12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sz="12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fr-FR" sz="12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/>
                          </a:rPr>
                          <m:t>1−</m:t>
                        </m:r>
                        <m:nary>
                          <m:naryPr>
                            <m:chr m:val="∑"/>
                            <m:ctrlPr>
                              <a:rPr lang="fr-FR" sz="1200" b="0" i="1" smtClean="0"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1200" b="0" i="1" smtClean="0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fr-FR" sz="1200" b="0" i="1" smtClean="0">
                                <a:latin typeface="Cambria Math"/>
                              </a:rPr>
                              <m:t> 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fr-FR" sz="1200" i="1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200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200" i="1">
                                    <a:latin typeface="Cambria Math"/>
                                  </a:rPr>
                                  <m:t>𝑤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fr-FR" sz="120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e>
                        </m:nary>
                      </m:e>
                    </m:d>
                    <m:sSub>
                      <m:sSubPr>
                        <m:ctrlPr>
                          <a:rPr lang="fr-FR" sz="12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fr-FR" sz="1200" b="0" i="1" smtClean="0">
                            <a:latin typeface="Cambria Math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fr-FR" sz="1200" b="0" i="1" smtClean="0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fr-FR" sz="12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fr-FR" sz="12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fr-FR" sz="1200" i="1">
                            <a:latin typeface="Cambria Math"/>
                          </a:rPr>
                          <m:t>𝑡</m:t>
                        </m:r>
                      </m:sub>
                      <m:sup>
                        <m:r>
                          <a:rPr lang="fr-FR" sz="1200" i="1">
                            <a:latin typeface="Cambria Math"/>
                          </a:rPr>
                          <m:t>𝑤</m:t>
                        </m:r>
                      </m:sup>
                    </m:sSubSup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504" y="5587793"/>
                <a:ext cx="2967736" cy="277192"/>
              </a:xfrm>
              <a:prstGeom prst="rect">
                <a:avLst/>
              </a:prstGeom>
              <a:blipFill rotWithShape="1">
                <a:blip r:embed="rId4"/>
                <a:stretch>
                  <a:fillRect t="-97778" b="-16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332150" y="3897685"/>
                <a:ext cx="1041118" cy="3078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𝑖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  <m:r>
                            <a:rPr lang="fr-FR" sz="1200" i="1">
                              <a:latin typeface="Cambria Math"/>
                            </a:rPr>
                            <m:t>−1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𝑟</m:t>
                          </m:r>
                          <m:r>
                            <a:rPr lang="fr-FR" sz="1200" i="1">
                              <a:latin typeface="Cambria Math"/>
                            </a:rPr>
                            <m:t>,</m:t>
                          </m:r>
                          <m:r>
                            <a:rPr lang="fr-FR" sz="1200" i="1">
                              <a:latin typeface="Cambria Math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150" y="3897685"/>
                <a:ext cx="1041118" cy="307841"/>
              </a:xfrm>
              <a:prstGeom prst="rect">
                <a:avLst/>
              </a:prstGeom>
              <a:blipFill rotWithShape="1"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644356" y="5233513"/>
                <a:ext cx="59241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fr-FR" sz="12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20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/>
                          </a:rPr>
                          <m:t>𝑖</m:t>
                        </m:r>
                        <m:r>
                          <a:rPr lang="fr-FR" sz="1200" b="0" i="1" smtClean="0">
                            <a:latin typeface="Cambria Math"/>
                          </a:rPr>
                          <m:t>,</m:t>
                        </m:r>
                        <m:r>
                          <a:rPr lang="fr-FR" sz="1200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fr-FR" sz="1200" b="0" i="1" smtClean="0">
                        <a:latin typeface="Cambria Math"/>
                      </a:rPr>
                      <m:t>=0 </m:t>
                    </m:r>
                    <m:r>
                      <a:rPr lang="fr-FR" sz="1200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fr-FR" sz="12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fr-FR" sz="12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fr-FR" sz="1200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fr-FR" sz="1200" b="0" i="1" smtClean="0">
                        <a:latin typeface="Cambria Math"/>
                        <a:ea typeface="Cambria Math"/>
                      </a:rPr>
                      <m:t>    </m:t>
                    </m:r>
                    <m:sSub>
                      <m:sSubPr>
                        <m:ctrlPr>
                          <a:rPr lang="fr-FR" sz="1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fr-FR" sz="12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2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/>
                          </a:rPr>
                          <m:t>𝑖</m:t>
                        </m:r>
                        <m:r>
                          <a:rPr lang="fr-FR" sz="1200" i="1">
                            <a:latin typeface="Cambria Math"/>
                          </a:rPr>
                          <m:t>,</m:t>
                        </m:r>
                        <m:r>
                          <a:rPr lang="fr-FR" sz="12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fr-FR" sz="1200" i="1">
                        <a:latin typeface="Cambria Math"/>
                      </a:rPr>
                      <m:t>=0 </m:t>
                    </m:r>
                    <m:r>
                      <a:rPr lang="fr-FR" sz="1200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fr-FR" sz="1200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fr-FR" sz="1200" b="0" i="1" smtClean="0">
                        <a:latin typeface="Cambria Math"/>
                        <a:ea typeface="Cambria Math"/>
                      </a:rPr>
                      <m:t>    </m:t>
                    </m:r>
                    <m:sSub>
                      <m:sSubPr>
                        <m:ctrlPr>
                          <a:rPr lang="fr-FR" sz="1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fr-FR" sz="1200" i="1">
                            <a:latin typeface="Cambria Math"/>
                          </a:rPr>
                          <m:t>𝑡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2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/>
                          </a:rPr>
                          <m:t>𝑖</m:t>
                        </m:r>
                        <m:r>
                          <a:rPr lang="fr-FR" sz="1200" i="1">
                            <a:latin typeface="Cambria Math"/>
                          </a:rPr>
                          <m:t>,</m:t>
                        </m:r>
                        <m:r>
                          <a:rPr lang="fr-FR" sz="1200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fr-FR" sz="12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fr-FR" sz="12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/>
                          </a:rPr>
                          <m:t>1−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𝑤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fr-FR" sz="120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fr-FR" sz="1200" b="0" i="1" smtClean="0">
                            <a:latin typeface="Cambria Math"/>
                          </a:rPr>
                          <m:t>−</m:t>
                        </m:r>
                        <m:sSubSup>
                          <m:sSubSupPr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sz="1200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200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fr-FR" sz="1200" i="1">
                                <a:latin typeface="Cambria Math"/>
                              </a:rPr>
                              <m:t>𝑤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fr-FR" sz="12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12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fr-FR" sz="1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fr-FR" sz="1200" i="1">
                            <a:latin typeface="Cambria Math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2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/>
                          </a:rPr>
                          <m:t>𝑖</m:t>
                        </m:r>
                        <m:r>
                          <a:rPr lang="fr-FR" sz="1200" i="1">
                            <a:latin typeface="Cambria Math"/>
                          </a:rPr>
                          <m:t>,</m:t>
                        </m:r>
                        <m:r>
                          <a:rPr lang="fr-FR" sz="1200" i="1"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r>
                  <a:rPr lang="fr-FR" sz="1200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2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fr-FR" sz="12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fr-FR" sz="1200" i="1">
                            <a:latin typeface="Cambria Math"/>
                          </a:rPr>
                          <m:t>𝑡</m:t>
                        </m:r>
                      </m:sub>
                      <m:sup>
                        <m:r>
                          <a:rPr lang="fr-FR" sz="1200" i="1">
                            <a:latin typeface="Cambria Math"/>
                          </a:rPr>
                          <m:t>𝑤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fr-FR" sz="12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/>
                          </a:rPr>
                          <m:t>𝑖</m:t>
                        </m:r>
                      </m:e>
                    </m:d>
                    <m:sSub>
                      <m:sSubPr>
                        <m:ctrlPr>
                          <a:rPr lang="fr-FR" sz="1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/>
                          </a:rPr>
                          <m:t> </m:t>
                        </m:r>
                        <m:r>
                          <a:rPr lang="fr-FR" sz="12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fr-FR" sz="1200" i="1">
                            <a:latin typeface="Cambria Math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sz="120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356" y="5233513"/>
                <a:ext cx="5924186" cy="276999"/>
              </a:xfrm>
              <a:prstGeom prst="rect">
                <a:avLst/>
              </a:prstGeom>
              <a:blipFill rotWithShape="1">
                <a:blip r:embed="rId6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3093010" y="2339331"/>
                <a:ext cx="2799741" cy="3069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,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𝑖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𝑖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fr-FR" sz="1200" b="0" i="1" smtClean="0">
                          <a:latin typeface="Cambria Math"/>
                        </a:rPr>
                        <m:t> </m:t>
                      </m:r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𝑖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 +</m:t>
                      </m:r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 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𝑖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2</m:t>
                          </m:r>
                        </m:e>
                      </m:d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fr-FR" sz="1200" b="0" i="1" smtClean="0">
                              <a:latin typeface="Cambria Math"/>
                            </a:rPr>
                            <m:t>,</m:t>
                          </m:r>
                          <m:r>
                            <a:rPr lang="fr-FR" sz="1200" i="1">
                              <a:latin typeface="Cambria Math"/>
                            </a:rPr>
                            <m:t>𝑖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/>
                            </a:rPr>
                            <m:t>𝑖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fr-FR" sz="1200" b="0" i="1" smtClean="0">
                          <a:latin typeface="Cambria Math"/>
                        </a:rPr>
                        <m:t> </m:t>
                      </m:r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010" y="2339331"/>
                <a:ext cx="2799741" cy="306944"/>
              </a:xfrm>
              <a:prstGeom prst="rect">
                <a:avLst/>
              </a:prstGeom>
              <a:blipFill rotWithShape="1"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084106" y="4039814"/>
                <a:ext cx="1154162" cy="3078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</a:rPr>
                            <m:t>   </m:t>
                          </m:r>
                          <m:r>
                            <a:rPr lang="fr-FR" sz="12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𝑖</m:t>
                          </m:r>
                        </m:sup>
                      </m:sSubSup>
                      <m:r>
                        <a:rPr lang="fr-FR" sz="1200" b="0" i="1" smtClean="0">
                          <a:latin typeface="Cambria Math"/>
                        </a:rPr>
                        <m:t> </m:t>
                      </m:r>
                      <m:r>
                        <a:rPr lang="fr-FR" sz="12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fr-FR" sz="1200" i="1" smtClean="0">
                              <a:latin typeface="Cambria Math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  <m:sup>
                          <m:r>
                            <a:rPr lang="fr-FR" sz="1200" i="1" smtClean="0">
                              <a:latin typeface="Cambria Math"/>
                              <a:ea typeface="Cambria Math"/>
                            </a:rPr>
                            <m:t>⊺</m:t>
                          </m:r>
                        </m:sup>
                      </m:sSup>
                      <m:sSubSup>
                        <m:sSubSupPr>
                          <m:ctrlPr>
                            <a:rPr lang="fr-FR" sz="12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fr-FR" sz="12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fr-FR" sz="1200" i="1">
                              <a:latin typeface="Cambria Math"/>
                            </a:rPr>
                            <m:t>𝑡</m:t>
                          </m:r>
                          <m:r>
                            <a:rPr lang="fr-FR" sz="1200" i="1">
                              <a:latin typeface="Cambria Math"/>
                            </a:rPr>
                            <m:t>−1</m:t>
                          </m:r>
                        </m:sub>
                        <m:sup>
                          <m:r>
                            <a:rPr lang="fr-FR" sz="1200" i="1">
                              <a:latin typeface="Cambria Math"/>
                            </a:rPr>
                            <m:t>𝑟</m:t>
                          </m:r>
                          <m:r>
                            <a:rPr lang="fr-FR" sz="1200" i="1">
                              <a:latin typeface="Cambria Math"/>
                            </a:rPr>
                            <m:t>,</m:t>
                          </m:r>
                          <m:r>
                            <a:rPr lang="fr-FR" sz="1200" i="1">
                              <a:latin typeface="Cambria Math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106" y="4039814"/>
                <a:ext cx="1154162" cy="30784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" name="Picture 69"/>
          <p:cNvPicPr>
            <a:picLocks noChangeAspect="1"/>
          </p:cNvPicPr>
          <p:nvPr/>
        </p:nvPicPr>
        <p:blipFill>
          <a:blip r:embed="rId9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9018" y="0"/>
            <a:ext cx="7704667" cy="9435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/>
              <a:t>Problème du voyageur de commerce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84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956" y="1181075"/>
            <a:ext cx="7388293" cy="4822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4" y="457201"/>
            <a:ext cx="6858802" cy="742756"/>
          </a:xfrm>
        </p:spPr>
        <p:txBody>
          <a:bodyPr/>
          <a:lstStyle/>
          <a:p>
            <a:pPr eaLnBrk="1" hangingPunct="1"/>
            <a:r>
              <a:rPr lang="fr-FR" dirty="0"/>
              <a:t>Supériorité du DNC</a:t>
            </a:r>
            <a:endParaRPr lang="fr-FR" altLang="fr-FR" dirty="0"/>
          </a:p>
        </p:txBody>
      </p:sp>
      <p:sp>
        <p:nvSpPr>
          <p:cNvPr id="819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3A458E2-9770-403C-817D-381C51DFE87E}" type="datetime4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28 septembre 2017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23900" eaLnBrk="0" hangingPunct="0">
              <a:spcBef>
                <a:spcPct val="20000"/>
              </a:spcBef>
              <a:defRPr sz="20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7239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b="1">
                <a:solidFill>
                  <a:schemeClr val="accent1"/>
                </a:solidFill>
                <a:latin typeface="Verdana" pitchFamily="34" charset="0"/>
              </a:defRPr>
            </a:lvl2pPr>
            <a:lvl3pPr marL="1143000" indent="-228600" defTabSz="723900" eaLnBrk="0" hangingPunct="0">
              <a:spcBef>
                <a:spcPct val="20000"/>
              </a:spcBef>
              <a:buClr>
                <a:schemeClr val="tx2"/>
              </a:buClr>
              <a:buSzPct val="120000"/>
              <a:buFont typeface="Verdana" pitchFamily="34" charset="0"/>
              <a:buChar char="–"/>
              <a:defRPr sz="16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defTabSz="723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defRPr sz="12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9C9F47C5-2393-4934-A2F6-9A276DDAD62F}" type="slidenum">
              <a:rPr lang="fr-FR" altLang="fr-FR" sz="800" b="0" smtClean="0">
                <a:solidFill>
                  <a:schemeClr val="bg1"/>
                </a:solidFill>
                <a:cs typeface="Arial" charset="0"/>
              </a:rPr>
              <a:pPr>
                <a:spcBef>
                  <a:spcPct val="0"/>
                </a:spcBef>
              </a:pPr>
              <a:t>85</a:t>
            </a:fld>
            <a:endParaRPr lang="fr-FR" altLang="fr-FR" sz="800" b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01" y="1552384"/>
            <a:ext cx="7271442" cy="42246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35" y="170472"/>
            <a:ext cx="865217" cy="6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Natixis_PPT_light_MARRON_visuel">
  <a:themeElements>
    <a:clrScheme name="Natixis_PPT_light_MARRON_visuel 1">
      <a:dk1>
        <a:srgbClr val="571E74"/>
      </a:dk1>
      <a:lt1>
        <a:srgbClr val="FFFFFF"/>
      </a:lt1>
      <a:dk2>
        <a:srgbClr val="000000"/>
      </a:dk2>
      <a:lt2>
        <a:srgbClr val="A678AD"/>
      </a:lt2>
      <a:accent1>
        <a:srgbClr val="956F60"/>
      </a:accent1>
      <a:accent2>
        <a:srgbClr val="E2006A"/>
      </a:accent2>
      <a:accent3>
        <a:srgbClr val="FFFFFF"/>
      </a:accent3>
      <a:accent4>
        <a:srgbClr val="491862"/>
      </a:accent4>
      <a:accent5>
        <a:srgbClr val="C8BBB6"/>
      </a:accent5>
      <a:accent6>
        <a:srgbClr val="CD005F"/>
      </a:accent6>
      <a:hlink>
        <a:srgbClr val="7B7C7E"/>
      </a:hlink>
      <a:folHlink>
        <a:srgbClr val="CCCCCC"/>
      </a:folHlink>
    </a:clrScheme>
    <a:fontScheme name="Natixis_PPT_light_MARRON_visue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Natixis_PPT_light_MARRON_visuel 1">
        <a:dk1>
          <a:srgbClr val="571E74"/>
        </a:dk1>
        <a:lt1>
          <a:srgbClr val="FFFFFF"/>
        </a:lt1>
        <a:dk2>
          <a:srgbClr val="000000"/>
        </a:dk2>
        <a:lt2>
          <a:srgbClr val="A678AD"/>
        </a:lt2>
        <a:accent1>
          <a:srgbClr val="956F60"/>
        </a:accent1>
        <a:accent2>
          <a:srgbClr val="E2006A"/>
        </a:accent2>
        <a:accent3>
          <a:srgbClr val="FFFFFF"/>
        </a:accent3>
        <a:accent4>
          <a:srgbClr val="491862"/>
        </a:accent4>
        <a:accent5>
          <a:srgbClr val="C8BBB6"/>
        </a:accent5>
        <a:accent6>
          <a:srgbClr val="CD005F"/>
        </a:accent6>
        <a:hlink>
          <a:srgbClr val="7B7C7E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ommaire">
  <a:themeElements>
    <a:clrScheme name="Sommaire 1">
      <a:dk1>
        <a:srgbClr val="571E74"/>
      </a:dk1>
      <a:lt1>
        <a:srgbClr val="FFFFFF"/>
      </a:lt1>
      <a:dk2>
        <a:srgbClr val="000000"/>
      </a:dk2>
      <a:lt2>
        <a:srgbClr val="A678AD"/>
      </a:lt2>
      <a:accent1>
        <a:srgbClr val="956F60"/>
      </a:accent1>
      <a:accent2>
        <a:srgbClr val="E2006A"/>
      </a:accent2>
      <a:accent3>
        <a:srgbClr val="FFFFFF"/>
      </a:accent3>
      <a:accent4>
        <a:srgbClr val="491862"/>
      </a:accent4>
      <a:accent5>
        <a:srgbClr val="C8BBB6"/>
      </a:accent5>
      <a:accent6>
        <a:srgbClr val="CD005F"/>
      </a:accent6>
      <a:hlink>
        <a:srgbClr val="7B7C7E"/>
      </a:hlink>
      <a:folHlink>
        <a:srgbClr val="CCCCCC"/>
      </a:folHlink>
    </a:clrScheme>
    <a:fontScheme name="Sommair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Sommaire 1">
        <a:dk1>
          <a:srgbClr val="571E74"/>
        </a:dk1>
        <a:lt1>
          <a:srgbClr val="FFFFFF"/>
        </a:lt1>
        <a:dk2>
          <a:srgbClr val="000000"/>
        </a:dk2>
        <a:lt2>
          <a:srgbClr val="A678AD"/>
        </a:lt2>
        <a:accent1>
          <a:srgbClr val="956F60"/>
        </a:accent1>
        <a:accent2>
          <a:srgbClr val="E2006A"/>
        </a:accent2>
        <a:accent3>
          <a:srgbClr val="FFFFFF"/>
        </a:accent3>
        <a:accent4>
          <a:srgbClr val="491862"/>
        </a:accent4>
        <a:accent5>
          <a:srgbClr val="C8BBB6"/>
        </a:accent5>
        <a:accent6>
          <a:srgbClr val="CD005F"/>
        </a:accent6>
        <a:hlink>
          <a:srgbClr val="7B7C7E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Natixis_PPT_light_MARRON_visuel">
  <a:themeElements>
    <a:clrScheme name="Natixis_PPT_light_MARRON_visuel 1">
      <a:dk1>
        <a:srgbClr val="571E74"/>
      </a:dk1>
      <a:lt1>
        <a:srgbClr val="FFFFFF"/>
      </a:lt1>
      <a:dk2>
        <a:srgbClr val="000000"/>
      </a:dk2>
      <a:lt2>
        <a:srgbClr val="A678AD"/>
      </a:lt2>
      <a:accent1>
        <a:srgbClr val="956F60"/>
      </a:accent1>
      <a:accent2>
        <a:srgbClr val="E2006A"/>
      </a:accent2>
      <a:accent3>
        <a:srgbClr val="FFFFFF"/>
      </a:accent3>
      <a:accent4>
        <a:srgbClr val="491862"/>
      </a:accent4>
      <a:accent5>
        <a:srgbClr val="C8BBB6"/>
      </a:accent5>
      <a:accent6>
        <a:srgbClr val="CD005F"/>
      </a:accent6>
      <a:hlink>
        <a:srgbClr val="7B7C7E"/>
      </a:hlink>
      <a:folHlink>
        <a:srgbClr val="CCCCCC"/>
      </a:folHlink>
    </a:clrScheme>
    <a:fontScheme name="Natixis_PPT_light_MARRON_visue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Natixis_PPT_light_MARRON_visuel 1">
        <a:dk1>
          <a:srgbClr val="571E74"/>
        </a:dk1>
        <a:lt1>
          <a:srgbClr val="FFFFFF"/>
        </a:lt1>
        <a:dk2>
          <a:srgbClr val="000000"/>
        </a:dk2>
        <a:lt2>
          <a:srgbClr val="A678AD"/>
        </a:lt2>
        <a:accent1>
          <a:srgbClr val="956F60"/>
        </a:accent1>
        <a:accent2>
          <a:srgbClr val="E2006A"/>
        </a:accent2>
        <a:accent3>
          <a:srgbClr val="FFFFFF"/>
        </a:accent3>
        <a:accent4>
          <a:srgbClr val="491862"/>
        </a:accent4>
        <a:accent5>
          <a:srgbClr val="C8BBB6"/>
        </a:accent5>
        <a:accent6>
          <a:srgbClr val="CD005F"/>
        </a:accent6>
        <a:hlink>
          <a:srgbClr val="7B7C7E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Parallaxe">
  <a:themeElements>
    <a:clrScheme name="Parallaxe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22024</TotalTime>
  <Words>5679</Words>
  <Application>Microsoft Macintosh PowerPoint</Application>
  <PresentationFormat>Présentation à l'écran (4:3)</PresentationFormat>
  <Paragraphs>911</Paragraphs>
  <Slides>85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85</vt:i4>
      </vt:variant>
    </vt:vector>
  </HeadingPairs>
  <TitlesOfParts>
    <vt:vector size="96" baseType="lpstr">
      <vt:lpstr>Calibri</vt:lpstr>
      <vt:lpstr>Cambria Math</vt:lpstr>
      <vt:lpstr>Corbel</vt:lpstr>
      <vt:lpstr>Times New Roman</vt:lpstr>
      <vt:lpstr>Verdana</vt:lpstr>
      <vt:lpstr>Wingdings</vt:lpstr>
      <vt:lpstr>Arial</vt:lpstr>
      <vt:lpstr>Natixis_PPT_light_MARRON_visuel</vt:lpstr>
      <vt:lpstr>Sommaire</vt:lpstr>
      <vt:lpstr>1_Natixis_PPT_light_MARRON_visuel</vt:lpstr>
      <vt:lpstr>Parallaxe</vt:lpstr>
      <vt:lpstr>AGI et Finance : l’opportunité des réseaux neuronaux avancés</vt:lpstr>
      <vt:lpstr>Plan</vt:lpstr>
      <vt:lpstr>Concepts de base</vt:lpstr>
      <vt:lpstr>Présentation PowerPoint</vt:lpstr>
      <vt:lpstr>Modèle Probabiliste Graphique</vt:lpstr>
      <vt:lpstr>La backpropagation dans un réseau</vt:lpstr>
      <vt:lpstr>Une classification des réseaux neuronaux</vt:lpstr>
      <vt:lpstr>Génératif/Discriminatif</vt:lpstr>
      <vt:lpstr>2006 l’année miracle pour le deep learning</vt:lpstr>
      <vt:lpstr>Deepmind</vt:lpstr>
      <vt:lpstr>Reconnaissance de la parole</vt:lpstr>
      <vt:lpstr>Etat de l’art en reconnaissance de la parole</vt:lpstr>
      <vt:lpstr>Alphago (5 avril 2017) </vt:lpstr>
      <vt:lpstr>L’IA dans les jeu pour arcade</vt:lpstr>
      <vt:lpstr>L’IA dans le diagnostique du cancer</vt:lpstr>
      <vt:lpstr>Lecture des panneaux routiers</vt:lpstr>
      <vt:lpstr>Les « monocouches »</vt:lpstr>
      <vt:lpstr>Plusieurs types de réseaux profonds</vt:lpstr>
      <vt:lpstr>Les différentes représentation d’un RNN</vt:lpstr>
      <vt:lpstr>Labélisation des images</vt:lpstr>
      <vt:lpstr>Traduction automatique</vt:lpstr>
      <vt:lpstr>Générateur de texte (à la Shakespeare)</vt:lpstr>
      <vt:lpstr>Générateur de texte (à la Wikipedia)</vt:lpstr>
      <vt:lpstr>Générateur de texte (à la XML)</vt:lpstr>
      <vt:lpstr>Générateur de texte (type Math)</vt:lpstr>
      <vt:lpstr>Générateur de texte (type C-Code)</vt:lpstr>
      <vt:lpstr>Générateur de texte:  Progression de l’apprentissage</vt:lpstr>
      <vt:lpstr>Génération de musique jazzy</vt:lpstr>
      <vt:lpstr>Structures profondes</vt:lpstr>
      <vt:lpstr>Maximisation du loglikelihood</vt:lpstr>
      <vt:lpstr>Calcul du gradient du loglikelihood</vt:lpstr>
      <vt:lpstr>Expectation-Maximization</vt:lpstr>
      <vt:lpstr>Inférence variationnelle : 3 piliers</vt:lpstr>
      <vt:lpstr>Divergence de Kullback-Leibler</vt:lpstr>
      <vt:lpstr>KL-Divergence et Entropie Croisée..</vt:lpstr>
      <vt:lpstr>Inegalité de Jensen</vt:lpstr>
      <vt:lpstr>Inférence Variationnelle (la borne)</vt:lpstr>
      <vt:lpstr>Relation avec la KL divergence</vt:lpstr>
      <vt:lpstr>Inférence variationnelle (mécanique)</vt:lpstr>
      <vt:lpstr>HMM : Hidden Markov Model</vt:lpstr>
      <vt:lpstr>RBM : Restricted Boltzmann Machine</vt:lpstr>
      <vt:lpstr>HMM vs RBM</vt:lpstr>
      <vt:lpstr>Autoencodeur</vt:lpstr>
      <vt:lpstr>Autoencodeur variationnel</vt:lpstr>
      <vt:lpstr>Autoencodeur variationnel: fonctionnement</vt:lpstr>
      <vt:lpstr>Autoencodeur vs Autoencodeur variationnel</vt:lpstr>
      <vt:lpstr>Autoencodeur variationnel : exemple</vt:lpstr>
      <vt:lpstr>Routage sémantique de texte</vt:lpstr>
      <vt:lpstr>Représentation du langage naturel en IA</vt:lpstr>
      <vt:lpstr>Représentation de la dimension du temps</vt:lpstr>
      <vt:lpstr>LSTM</vt:lpstr>
      <vt:lpstr>RNN  -&gt;   LSTM</vt:lpstr>
      <vt:lpstr>LSTM : fonctionnement (1)</vt:lpstr>
      <vt:lpstr>LSTM fonctionnement (2)</vt:lpstr>
      <vt:lpstr>LSTM : fonctionnement (3)</vt:lpstr>
      <vt:lpstr>LSTM Fonctionnement (4)</vt:lpstr>
      <vt:lpstr>LSTM fonctionnement (5)</vt:lpstr>
      <vt:lpstr>Réseaux convolutionnels</vt:lpstr>
      <vt:lpstr>Classification par convolutions</vt:lpstr>
      <vt:lpstr>Comparaison CNN  et RNN</vt:lpstr>
      <vt:lpstr>Comment lire l’écriture extraterrestre ?</vt:lpstr>
      <vt:lpstr>L’écriture extraterrestre : analyse</vt:lpstr>
      <vt:lpstr>Avec un LSTM bidirectionnel bien sur !</vt:lpstr>
      <vt:lpstr>La neuvième porte : la lecture des oracles</vt:lpstr>
      <vt:lpstr>Le destin même écrit , s’accomplit</vt:lpstr>
      <vt:lpstr>Le LSTM Bidirectionnel </vt:lpstr>
      <vt:lpstr>Graphes conceptuels</vt:lpstr>
      <vt:lpstr>RNN avec neurones cachés</vt:lpstr>
      <vt:lpstr>Système génératif</vt:lpstr>
      <vt:lpstr>Dessine moi une maison !</vt:lpstr>
      <vt:lpstr>Raffinement progressif</vt:lpstr>
      <vt:lpstr>Mécanisme d’attention spatiale</vt:lpstr>
      <vt:lpstr>Mécanisme d’attention : DRAW</vt:lpstr>
      <vt:lpstr>Draw : Fonctionnement</vt:lpstr>
      <vt:lpstr>Minimisation de DRAW</vt:lpstr>
      <vt:lpstr>DRAW-MNIST</vt:lpstr>
      <vt:lpstr>DRAW-2digits</vt:lpstr>
      <vt:lpstr>Vers les AGI</vt:lpstr>
      <vt:lpstr>DNC: algorithmique différentiable</vt:lpstr>
      <vt:lpstr>DNC : Contrôleur , Fonctions</vt:lpstr>
      <vt:lpstr>Adressage par contenu de la mémoire</vt:lpstr>
      <vt:lpstr>DNC : Contrôleur : Ecriture mémoire</vt:lpstr>
      <vt:lpstr>DNC : Contrôleur: lecture mémoire</vt:lpstr>
      <vt:lpstr>Problème du voyageur de commerce</vt:lpstr>
      <vt:lpstr>Supériorité du DNC</vt:lpstr>
    </vt:vector>
  </TitlesOfParts>
  <Company>NXBP</Company>
  <LinksUpToDate>false</LinksUpToDate>
  <SharedDoc>false</SharedDoc>
  <HyperlinkBase/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PRESENTATION POWERPOINT</dc:title>
  <dc:creator>Gwenaëlle FREMYET</dc:creator>
  <cp:lastModifiedBy>olivier croissant</cp:lastModifiedBy>
  <cp:revision>485</cp:revision>
  <cp:lastPrinted>2017-04-25T12:24:09Z</cp:lastPrinted>
  <dcterms:created xsi:type="dcterms:W3CDTF">2009-12-23T10:59:11Z</dcterms:created>
  <dcterms:modified xsi:type="dcterms:W3CDTF">2017-09-28T12:58:24Z</dcterms:modified>
</cp:coreProperties>
</file>